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85" r:id="rId18"/>
    <p:sldId id="286" r:id="rId19"/>
    <p:sldId id="287"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B2715"/>
    <a:srgbClr val="E85D4A"/>
    <a:srgbClr val="BF7A09"/>
    <a:srgbClr val="F5A623"/>
    <a:srgbClr val="F0F4F8"/>
    <a:srgbClr val="01735B"/>
    <a:srgbClr val="02C39A"/>
    <a:srgbClr val="005C51"/>
    <a:srgbClr val="00A896"/>
    <a:srgbClr val="0150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938598-3B67-440D-A9DD-B0A45AF17EFD}" v="4" dt="2026-03-22T19:23:58.8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6967" autoAdjust="0"/>
  </p:normalViewPr>
  <p:slideViewPr>
    <p:cSldViewPr snapToGrid="0" snapToObjects="1">
      <p:cViewPr varScale="1">
        <p:scale>
          <a:sx n="134" d="100"/>
          <a:sy n="134" d="100"/>
        </p:scale>
        <p:origin x="556" y="3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riq Shaban" userId="0baca71a-2029-4602-a4b3-4e7acdc5a3ab" providerId="ADAL" clId="{0CE5B5D7-7860-418D-991F-CC23F70AF73E}"/>
    <pc:docChg chg="addSld delSld modSld">
      <pc:chgData name="Tariq Shaban" userId="0baca71a-2029-4602-a4b3-4e7acdc5a3ab" providerId="ADAL" clId="{0CE5B5D7-7860-418D-991F-CC23F70AF73E}" dt="2026-03-22T19:31:53.153" v="57" actId="2696"/>
      <pc:docMkLst>
        <pc:docMk/>
      </pc:docMkLst>
      <pc:sldChg chg="addSp modSp mod">
        <pc:chgData name="Tariq Shaban" userId="0baca71a-2029-4602-a4b3-4e7acdc5a3ab" providerId="ADAL" clId="{0CE5B5D7-7860-418D-991F-CC23F70AF73E}" dt="2026-03-22T19:23:48.990" v="54"/>
        <pc:sldMkLst>
          <pc:docMk/>
          <pc:sldMk cId="0" sldId="256"/>
        </pc:sldMkLst>
        <pc:picChg chg="add mod">
          <ac:chgData name="Tariq Shaban" userId="0baca71a-2029-4602-a4b3-4e7acdc5a3ab" providerId="ADAL" clId="{0CE5B5D7-7860-418D-991F-CC23F70AF73E}" dt="2026-03-22T19:23:48.990" v="54"/>
          <ac:picMkLst>
            <pc:docMk/>
            <pc:sldMk cId="0" sldId="256"/>
            <ac:picMk id="2" creationId="{7066D47E-2D0F-7919-0DDC-46ABDD3A6DF6}"/>
          </ac:picMkLst>
        </pc:picChg>
      </pc:sldChg>
      <pc:sldChg chg="modSp mod">
        <pc:chgData name="Tariq Shaban" userId="0baca71a-2029-4602-a4b3-4e7acdc5a3ab" providerId="ADAL" clId="{0CE5B5D7-7860-418D-991F-CC23F70AF73E}" dt="2026-03-22T18:29:38.740" v="1" actId="207"/>
        <pc:sldMkLst>
          <pc:docMk/>
          <pc:sldMk cId="0" sldId="261"/>
        </pc:sldMkLst>
        <pc:spChg chg="mod">
          <ac:chgData name="Tariq Shaban" userId="0baca71a-2029-4602-a4b3-4e7acdc5a3ab" providerId="ADAL" clId="{0CE5B5D7-7860-418D-991F-CC23F70AF73E}" dt="2026-03-22T18:29:38.740" v="1" actId="207"/>
          <ac:spMkLst>
            <pc:docMk/>
            <pc:sldMk cId="0" sldId="261"/>
            <ac:spMk id="9" creationId="{00000000-0000-0000-0000-000000000000}"/>
          </ac:spMkLst>
        </pc:spChg>
        <pc:spChg chg="mod">
          <ac:chgData name="Tariq Shaban" userId="0baca71a-2029-4602-a4b3-4e7acdc5a3ab" providerId="ADAL" clId="{0CE5B5D7-7860-418D-991F-CC23F70AF73E}" dt="2026-03-22T18:29:38.740" v="1" actId="207"/>
          <ac:spMkLst>
            <pc:docMk/>
            <pc:sldMk cId="0" sldId="261"/>
            <ac:spMk id="14" creationId="{00000000-0000-0000-0000-000000000000}"/>
          </ac:spMkLst>
        </pc:spChg>
        <pc:spChg chg="mod">
          <ac:chgData name="Tariq Shaban" userId="0baca71a-2029-4602-a4b3-4e7acdc5a3ab" providerId="ADAL" clId="{0CE5B5D7-7860-418D-991F-CC23F70AF73E}" dt="2026-03-22T18:29:38.740" v="1" actId="207"/>
          <ac:spMkLst>
            <pc:docMk/>
            <pc:sldMk cId="0" sldId="261"/>
            <ac:spMk id="19" creationId="{00000000-0000-0000-0000-000000000000}"/>
          </ac:spMkLst>
        </pc:spChg>
        <pc:spChg chg="mod">
          <ac:chgData name="Tariq Shaban" userId="0baca71a-2029-4602-a4b3-4e7acdc5a3ab" providerId="ADAL" clId="{0CE5B5D7-7860-418D-991F-CC23F70AF73E}" dt="2026-03-22T18:29:38.740" v="1" actId="207"/>
          <ac:spMkLst>
            <pc:docMk/>
            <pc:sldMk cId="0" sldId="261"/>
            <ac:spMk id="24" creationId="{00000000-0000-0000-0000-000000000000}"/>
          </ac:spMkLst>
        </pc:spChg>
        <pc:spChg chg="mod">
          <ac:chgData name="Tariq Shaban" userId="0baca71a-2029-4602-a4b3-4e7acdc5a3ab" providerId="ADAL" clId="{0CE5B5D7-7860-418D-991F-CC23F70AF73E}" dt="2026-03-22T18:29:38.740" v="1" actId="207"/>
          <ac:spMkLst>
            <pc:docMk/>
            <pc:sldMk cId="0" sldId="261"/>
            <ac:spMk id="29" creationId="{00000000-0000-0000-0000-000000000000}"/>
          </ac:spMkLst>
        </pc:spChg>
      </pc:sldChg>
      <pc:sldChg chg="modSp mod">
        <pc:chgData name="Tariq Shaban" userId="0baca71a-2029-4602-a4b3-4e7acdc5a3ab" providerId="ADAL" clId="{0CE5B5D7-7860-418D-991F-CC23F70AF73E}" dt="2026-03-22T18:31:17.958" v="12" actId="207"/>
        <pc:sldMkLst>
          <pc:docMk/>
          <pc:sldMk cId="0" sldId="265"/>
        </pc:sldMkLst>
        <pc:spChg chg="mod">
          <ac:chgData name="Tariq Shaban" userId="0baca71a-2029-4602-a4b3-4e7acdc5a3ab" providerId="ADAL" clId="{0CE5B5D7-7860-418D-991F-CC23F70AF73E}" dt="2026-03-22T18:30:11.932" v="3" actId="207"/>
          <ac:spMkLst>
            <pc:docMk/>
            <pc:sldMk cId="0" sldId="265"/>
            <ac:spMk id="7" creationId="{00000000-0000-0000-0000-000000000000}"/>
          </ac:spMkLst>
        </pc:spChg>
        <pc:spChg chg="mod">
          <ac:chgData name="Tariq Shaban" userId="0baca71a-2029-4602-a4b3-4e7acdc5a3ab" providerId="ADAL" clId="{0CE5B5D7-7860-418D-991F-CC23F70AF73E}" dt="2026-03-22T18:30:25.192" v="5" actId="207"/>
          <ac:spMkLst>
            <pc:docMk/>
            <pc:sldMk cId="0" sldId="265"/>
            <ac:spMk id="12" creationId="{00000000-0000-0000-0000-000000000000}"/>
          </ac:spMkLst>
        </pc:spChg>
        <pc:spChg chg="mod">
          <ac:chgData name="Tariq Shaban" userId="0baca71a-2029-4602-a4b3-4e7acdc5a3ab" providerId="ADAL" clId="{0CE5B5D7-7860-418D-991F-CC23F70AF73E}" dt="2026-03-22T18:30:38.484" v="7" actId="207"/>
          <ac:spMkLst>
            <pc:docMk/>
            <pc:sldMk cId="0" sldId="265"/>
            <ac:spMk id="17" creationId="{00000000-0000-0000-0000-000000000000}"/>
          </ac:spMkLst>
        </pc:spChg>
        <pc:spChg chg="mod">
          <ac:chgData name="Tariq Shaban" userId="0baca71a-2029-4602-a4b3-4e7acdc5a3ab" providerId="ADAL" clId="{0CE5B5D7-7860-418D-991F-CC23F70AF73E}" dt="2026-03-22T18:31:01.772" v="10" actId="207"/>
          <ac:spMkLst>
            <pc:docMk/>
            <pc:sldMk cId="0" sldId="265"/>
            <ac:spMk id="22" creationId="{00000000-0000-0000-0000-000000000000}"/>
          </ac:spMkLst>
        </pc:spChg>
        <pc:spChg chg="mod">
          <ac:chgData name="Tariq Shaban" userId="0baca71a-2029-4602-a4b3-4e7acdc5a3ab" providerId="ADAL" clId="{0CE5B5D7-7860-418D-991F-CC23F70AF73E}" dt="2026-03-22T18:31:17.958" v="12" actId="207"/>
          <ac:spMkLst>
            <pc:docMk/>
            <pc:sldMk cId="0" sldId="265"/>
            <ac:spMk id="27" creationId="{00000000-0000-0000-0000-000000000000}"/>
          </ac:spMkLst>
        </pc:spChg>
      </pc:sldChg>
      <pc:sldChg chg="del">
        <pc:chgData name="Tariq Shaban" userId="0baca71a-2029-4602-a4b3-4e7acdc5a3ab" providerId="ADAL" clId="{0CE5B5D7-7860-418D-991F-CC23F70AF73E}" dt="2026-03-22T19:20:02.428" v="14" actId="47"/>
        <pc:sldMkLst>
          <pc:docMk/>
          <pc:sldMk cId="0" sldId="272"/>
        </pc:sldMkLst>
      </pc:sldChg>
      <pc:sldChg chg="modSp mod">
        <pc:chgData name="Tariq Shaban" userId="0baca71a-2029-4602-a4b3-4e7acdc5a3ab" providerId="ADAL" clId="{0CE5B5D7-7860-418D-991F-CC23F70AF73E}" dt="2026-03-22T19:20:27.379" v="33" actId="1036"/>
        <pc:sldMkLst>
          <pc:docMk/>
          <pc:sldMk cId="0" sldId="283"/>
        </pc:sldMkLst>
        <pc:spChg chg="mod">
          <ac:chgData name="Tariq Shaban" userId="0baca71a-2029-4602-a4b3-4e7acdc5a3ab" providerId="ADAL" clId="{0CE5B5D7-7860-418D-991F-CC23F70AF73E}" dt="2026-03-22T19:20:27.379" v="33" actId="1036"/>
          <ac:spMkLst>
            <pc:docMk/>
            <pc:sldMk cId="0" sldId="283"/>
            <ac:spMk id="4" creationId="{00000000-0000-0000-0000-000000000000}"/>
          </ac:spMkLst>
        </pc:spChg>
      </pc:sldChg>
      <pc:sldChg chg="addSp modSp mod">
        <pc:chgData name="Tariq Shaban" userId="0baca71a-2029-4602-a4b3-4e7acdc5a3ab" providerId="ADAL" clId="{0CE5B5D7-7860-418D-991F-CC23F70AF73E}" dt="2026-03-22T19:23:58.866" v="55"/>
        <pc:sldMkLst>
          <pc:docMk/>
          <pc:sldMk cId="0" sldId="284"/>
        </pc:sldMkLst>
        <pc:spChg chg="mod">
          <ac:chgData name="Tariq Shaban" userId="0baca71a-2029-4602-a4b3-4e7acdc5a3ab" providerId="ADAL" clId="{0CE5B5D7-7860-418D-991F-CC23F70AF73E}" dt="2026-03-22T19:23:00.262" v="34" actId="20577"/>
          <ac:spMkLst>
            <pc:docMk/>
            <pc:sldMk cId="0" sldId="284"/>
            <ac:spMk id="5" creationId="{00000000-0000-0000-0000-000000000000}"/>
          </ac:spMkLst>
        </pc:spChg>
        <pc:picChg chg="add mod">
          <ac:chgData name="Tariq Shaban" userId="0baca71a-2029-4602-a4b3-4e7acdc5a3ab" providerId="ADAL" clId="{0CE5B5D7-7860-418D-991F-CC23F70AF73E}" dt="2026-03-22T19:23:58.866" v="55"/>
          <ac:picMkLst>
            <pc:docMk/>
            <pc:sldMk cId="0" sldId="284"/>
            <ac:picMk id="23" creationId="{5AC14ADF-0A89-A1AC-2F35-3298753B6D6D}"/>
          </ac:picMkLst>
        </pc:picChg>
      </pc:sldChg>
      <pc:sldChg chg="add setBg">
        <pc:chgData name="Tariq Shaban" userId="0baca71a-2029-4602-a4b3-4e7acdc5a3ab" providerId="ADAL" clId="{0CE5B5D7-7860-418D-991F-CC23F70AF73E}" dt="2026-03-22T19:19:47.829" v="13"/>
        <pc:sldMkLst>
          <pc:docMk/>
          <pc:sldMk cId="0" sldId="285"/>
        </pc:sldMkLst>
      </pc:sldChg>
      <pc:sldChg chg="add setBg">
        <pc:chgData name="Tariq Shaban" userId="0baca71a-2029-4602-a4b3-4e7acdc5a3ab" providerId="ADAL" clId="{0CE5B5D7-7860-418D-991F-CC23F70AF73E}" dt="2026-03-22T19:19:47.829" v="13"/>
        <pc:sldMkLst>
          <pc:docMk/>
          <pc:sldMk cId="0" sldId="286"/>
        </pc:sldMkLst>
      </pc:sldChg>
      <pc:sldChg chg="add setBg">
        <pc:chgData name="Tariq Shaban" userId="0baca71a-2029-4602-a4b3-4e7acdc5a3ab" providerId="ADAL" clId="{0CE5B5D7-7860-418D-991F-CC23F70AF73E}" dt="2026-03-22T19:19:47.829" v="13"/>
        <pc:sldMkLst>
          <pc:docMk/>
          <pc:sldMk cId="0" sldId="287"/>
        </pc:sldMkLst>
      </pc:sldChg>
      <pc:sldChg chg="new del">
        <pc:chgData name="Tariq Shaban" userId="0baca71a-2029-4602-a4b3-4e7acdc5a3ab" providerId="ADAL" clId="{0CE5B5D7-7860-418D-991F-CC23F70AF73E}" dt="2026-03-22T19:31:53.153" v="57" actId="2696"/>
        <pc:sldMkLst>
          <pc:docMk/>
          <pc:sldMk cId="2344562287" sldId="28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3937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[TARIQ] Good morning everyone. Before we begin, I want to share the pipeline we'll be walking through today. This QR code takes you to a public GitHub repository with the full open-source notebook, settings files, and documentation. Feel free to scan it now — you'll be able to follow along and try it yourself after the session.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[TARIQ] Welcome. I'm Tariq Shaban from Inubilum, and I'm joined today by Dr. Philseok Lee from George Mason University. Over the next 80 minutes, we'll show you a complete, working pipeline that automates the early stages of psychometric scale development — from construct definitions all the way to a human-review-ready item pool. I'll walk you through the how — the engineering, the code, the workflow. Dr. Lee will connect each step back to the research — the why, the theoretical foundations, and the psychometric standards that justify each design decision.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[TARIQ] Let's start with the problem. Traditional scale development is slow, expensive, and doesn't scale. A single assessment project — define constructs, write items, run SME reviews, pilot, analyze, revise — can take 3 to 6 months and cost tens of thousands of dollars. That's before any real data collection. Most of that time is spent on the generative and screening stages — writing hundreds of items, reviewing each one, running early psychometric checks. These are exactly the stages where LLMs and NLP can help.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 LEE] Thank you, Tariq. The theoretical foundation for everything you'll see today rests on what Guenole and colleagues call the 'substitutability assumption.' The key insight is this: when we encode a personality item using a sentence transformer, that embedding vector is — in a meaningful sense — an aggregate encoding of that statement's meaning across the entire training corpus. When we collect human response data, we also get an aggregate encoding — this time of each person's interpretation of how self-descriptive that statement is. Both are aggregated representations of the same personality statements. The question is: are they similar enough that we can use one as a proxy for the other during early development? The answer, based on growing evidence from Guenole et al., Milano et al., Hommel and Arslan, and Varrasi et al., is yes — well enough for item screening purposes, though not as a replacement for empirical validation.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 LEE] The evidence base is growing rapidly. Guenole et al. showed that pseudo-factor structures closely match established empirical structures for both the NEO and HEXACO frameworks. Milano et al. independently confirmed that LLM embeddings predict a-priori factorial structure across four personality tests with moderate to high accuracy. Hommel and Arslan demonstrated that fine-tuned language models predict inter-item correlations with r = .59 and scale correlations with r = .84. Varrasi et al. extended PFA to clinical measures and Italian-language tests, finding excellent recovery in English with more variability cross-linguistically. And Suárez-Álvarez et al. provided the first independent practical guide for implementing these techniques, confirming PFA's utility while noting boundary conditions. Together, these form a compelling case that embedding-based screening is viable for early-stage item selection.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[TARIQ] Here's the full pipeline architecture. Five phases, one Jupyter notebook, each phase reading the previous phase's Excel output and writing a richer one. The input is a scales.json file with your construct definitions. The output is a human-review-ready item pool with quality scores, statistical fit estimates, readability grades, and bias flags. I'll walk you through each phase in sequence.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[TARIQ] A critical design principle: human experts have veto power at every stage. Every phase writes two columns to its output Excel — human_review_pass and human_comments. The next phase always reads human_review_pass as its filter. So after any phase, you can open the Excel, set any item to False, add a note, save, and run the next phase — your overrides are respected automatically. This means the pipeline augments expert judgment, it never replaces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[TARIQ] Let's dive into Phase 1. This is where construct definitions become behavioral examples.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[TARIQ] Phase 1 reads scales.json — that's your construct definitions, high and low anchors, discriminant descriptions, target population. The LLM generates observable behavioral examples — not abstract definitions, but concrete descriptions of what someone high or low on the trait actually does. Each example gets an occurrence_likelihood tag — high, moderate, or low — reflecting how common the behavior is in the target environment. Then a second LLM pass validates each example against three criteria: construct validity, face validity, and discriminant validity. Failed examples are flagged and excluded. The discriminant_description field is the single most important field in your scales.json — it tells the LLM what the construct is NOT, and prevents cross-contamination.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 LEE] What Tariq just showed you in Phase 1 — using multiple LLM passes for generation and validation — aligns directly with the multi-agent framework we proposed in Lee, Son, and Jia (2025). In our LM-AIG system, different AI agents handle different stages: generation, content review, linguistic evaluation, bias assessment, and revision. The pipeline implements this principle by using separate LLM calls for generation versus validation, and later in Phases 3-4, separate models for bias screening and readability checking. The key insight is that a single LLM prompt doing everything at once is fragile. Multi-agent decomposition — or in the pipeline's case, multi-phase decomposition with dedicated prompts — is more reliable and auditable. Each phase's output is inspectable and overridable.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[TARIQ] Phase 2 is where behavioral examples become survey items.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[TARIQ] Phase 2 is the item writing engine. Each validated behavioral example from Phase 1 gets turned into first-person I-statements. The prompt enforces strict Goldberg item-writing principles: maximum 9 words, present tense, plain vocabulary, single idea, no negations. But the most important constraint is domain specificity. The prompt includes a concrete example showing the difference between a domain-specific item and a generic one. Items that could apply to any domain of the construct are explicitly rejected. This prevents the generic cross-domain duplication that plagues LLM-generated items. Near-duplicates are flagged by TF-IDF cosine similarity but not removed — the human reviewer decides which to keep.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[TARIQ] Phase 3: every item gets six readability metrics and bias screening.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[TARIQ] Phase 3 computes six readability metrics per item — Flesch-Kincaid grade, Flesch reading ease, Gunning Fog, Coleman-Liau, SMOG, and ARI. Items above the hard cap — default grade 12 — are sent to the LLM for simplification, up to three attempts. The original wording is always preserved. Bias detection uses regex patterns for gender, age, cultural, and socioeconomic language. Items are flagged, not excluded — most flags on short I-statements are false positives. The human reviewer makes the call.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 LEE] Why do these automated checks matter from a standards perspective? The AERA/APA/NCME Standards require that test content be relevant, representative, and free from construct-irrelevant variance. Readability screening directly addresses construct-irrelevant difficulty — if an item is hard to read rather than hard to endorse, you're measuring reading ability, not personality. Bias detection targets construct-irrelevant demographic associations. These aren't just nice-to-have — they're requirements of Standard 3.2 on construct-irrelevant variance and Standard 3.0 on item development procedures. The automated approach lets you screen hundreds of items in minutes rather than days, but the human review loop ensures expert judgment remains the final arbiter — exactly as the Standards intend.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[TARIQ] Phase 4: five LLM models act as independent subject-matter experts.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[TARIQ] Phase 4: five LLM models act as independent subject-matter experts, rating every item against every scale.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[TARIQ] Phase 4 now uses the correspondence and distinctiveness framework from Hinkin and Tracey, as operationalized by Colquitt et al. and implemented in Lee, Son, and Jia's LM-AIG system. Each of the five SME models rates every item against EVERY scale in your assessment on a 1–7 Likert scale — not just the target. From those multi-scale ratings we compute two indices. The c-value — correspondence — is the average target scale rating normalized to 0–1. It tells you how well the item measures what it's supposed to measure. The d-value — distinctiveness — is the average difference between the target rating and all orbiting construct ratings, normalized by the scale range. It tells you how clearly the item separates from things it shouldn't be measuring. An item passes only if c-value is at least 0.88 AND d-value is at least 0.35. These thresholds come directly from Colquitt et al. 2019. We also retain scale mapping agreement as a diagnostic — which scale did each SME rate highest?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 LEE] I want to connect this pipeline to a broader assessment design consideration: forced-choice formats. In our 80-year review of forced-choice measurement, we documented how FC formats require carefully matched item blocks — statements from different constructs, balanced for social desirability. This pipeline produces items with rich metadata: c-values, d-values, cross-loadings, discriminant validity scores. That metadata is exactly what you need to construct well-matched FC blocks. Items with similar social desirability but confirmed distinctiveness — high d-values — can be paired into blocks. The occurrence_likelihood field provides additional matching dimensions. So while this pipeline targets Likert-format item pools today, its output is directly useful for FC test design — which about 56% of HR professionals now report using.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[TARIQ] Phase 5: the statistical core — Pseudo-Factor Analysis.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[TARIQ] Here's how PFA works mechanically. Each item is encoded using sentence transformers. The pipeline supports one or more transformer models — if you configure two, like all-MiniLM-L6-v2 and all-mpnet-base-v2, the cosine similarity matrices are averaged before factor analysis. Guenole et al. found that multi-model averaging consistently outperforms any single model. Both atomic encoding — where each item is encoded individually — and macro encoding — where all items in a scale are concatenated — are computed. Tucker's congruence coefficient compares the two solutions per scale. Then standard factor analysis is applied to the averaged similarity matrix. Six configurable pass/fail rules evaluate each item.</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 LEE] Let me explain why this works from a psychometric perspective. Traditional factor analysis requires a correlation matrix derived from hundreds or thousands of human responses. PFA substitutes that with a cosine similarity matrix derived from sentence transformer embeddings. The key finding from Guenole et al. is that these pseudo-factor structures are strongly related to their empirical counterparts — the factor solutions you would get from actual human data. Across two studies with NEO and HEXACO, using multiple sentence transformers and three encoding approaches, PFA consistently recovered the expected structures. Suárez-Álvarez et al. independently confirmed this, and Varrasi et al. extended it to clinical measures. Milano et al. showed convergent results with four different personality tests. The critical caveat: RMSR is the only valid fit metric in PFA. CFI, TLI, and RMSEA require a known sample size, which doesn't exist here. The pipeline correctly reports only RMSR.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[TARIQ] Two important outputs from Phase 5. DAAL — Dominant Average Absolute Loading — is how factors get labeled in the joint multi-scale analysis. For each extracted factor, the mean absolute loading of each scale's items is computed. The scale with the highest value gets assigned as that factor's label. If a scale's items load most strongly on their own factor, DAAL identity is confirmed. If two scales compete for the same factor, it's marked Unassigned. Second, discriminant validity: each item's loading on its target factor is compared to its maximum cross-loading. The ratio must exceed 1.5, and an absolute ceiling of 0.45 on cross-loadings can be enabled. These are flags for review, not hard gates.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[TARIQ] A practical detail that matters a lot: negative item handling. Items like 'I avoid planning ahead' are semantically low-pole — they describe the absence of the construct. If you embed them as-is, they'll load in the wrong direction. The pipeline uses a two-stage detection: first a regex heuristic for avoidance language patterns, then an LLM call for borderline cases. Detected items are rewritten to their positive pole for embedding only — the original item_text is always preserved. This follows the atomic-reversed encoding approach from Guenole et al.</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[TARIQ] After PFA, Phase 5 automatically assembles the final review pool. Items that passed both content validity AND PFA go into Review_Pool. Rejected items are preserved in Rejected_Items for audit. Pool_Statistics gives you one row per scale with item counts, mean loadings, bias flags. Quality_Flags lists every item with at least one automated concern. Recommendations gives scale-level guidance — scales below target counts, high FK grade, DAAL failures. The reviewer opens one Excel file and works through it systematically.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[TARIQ] Let me quickly walk through the practical setup. You need Python with Anaconda, an OpenRouter API key for multi-model access, and the notebook. The cost for a full 6-scale HEXACO run is approximately 2-4 dollars on OpenRouter. GPU helps for Phase 5 but isn't required. The key practical insight: always run Section 0 first — it loads all libraries and settings. Each phase reloads settings, so you can tune thresholds between phases without restarting. And the most common Phase 5 failure — PyTorch DLL errors — is always a CUDA version mismatch.</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 LEE] I want to connect this pipeline to a broader assessment design consideration: forced-choice formats. In our 80-year review of forced-choice measurement, we documented how FC formats require carefully matched item blocks — statements from different constructs, balanced for social desirability. This pipeline produces items with rich metadata: target ratings, cross-loadings, discriminant validity scores. That metadata is exactly what you need to construct well-matched FC blocks. Items with similar social desirability ratings but confirmed discriminant validity can be paired into blocks. The occurrence_likelihood field provides additional matching dimensions. So while this pipeline targets Likert-format item pools today, its output is directly useful for FC test design — which about 56% of HR professionals now report using.</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 LEE] Let me be direct about limitations. First, PFA is a screening tool, not a replacement for empirical validation. No amount of embedding analysis substitutes for real human response data. Guenole et al. are explicit: empirical research on real data is always required. Second, the substitutability assumption holds better for some constructs than others — broad traits with clear semantic cores work best; experiential or context-dependent constructs may not. Third, cross-linguistic performance is variable — Varrasi et al. found excellent English results but more variability in Italian. Fourth, model choice matters — Hommel and Arslan showed that fine-tuned models outperform general-purpose ones, suggesting that fine-tuned transformers for psychometric embeddings are a high-value research direction. Future work should explore domain-adapted models, cross-cultural validation, integration with IRT frameworks, and automated FC block construction.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[TARIQ] Beyond psychometric scales, the same architecture — LLM generation, semantic embedding, factor analysis — has direct applications in adjacent domains. First, behavioral competency framework development: you can use the embedding similarity approach to validate whether competency definitions are semantically distinct, flag overlapping competencies, and generate behavioral indicators at multiple proficiency levels. Second, Situational Judgment Tests: the multi-agent approach applies naturally to SJT development — one agent generates scenarios, another generates response options, a third validates discriminant validity between options. The readability and bias screening phases transfer directly. The semantic similarity backbone can evaluate whether SJT response options actually discriminate between constructs.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[TARIQ] To wrap up — three key messages. First: the tooling exists today. This is a working, open-source pipeline you can download and run. Second: the science is solid and growing — converging evidence from multiple independent research groups supports PFA as a viable screening method. Third: humans remain in control — every decision is overridable, every output is auditable, and empirical validation is always required before operational use.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[TARIQ] Thank you for your attention. Here's the QR code one more time. If you're interested in related topics, I have three other sessions at SIOP this week — the details are on screen. Please reach out to either Dr. Lee or me if you want to discuss any of this further. Questions?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8.png"/><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838"/>
        </a:solidFill>
        <a:effectLst/>
      </p:bgPr>
    </p:bg>
    <p:spTree>
      <p:nvGrpSpPr>
        <p:cNvPr id="1" name=""/>
        <p:cNvGrpSpPr/>
        <p:nvPr/>
      </p:nvGrpSpPr>
      <p:grpSpPr>
        <a:xfrm>
          <a:off x="0" y="0"/>
          <a:ext cx="0" cy="0"/>
          <a:chOff x="0" y="0"/>
          <a:chExt cx="0" cy="0"/>
        </a:xfrm>
      </p:grpSpPr>
      <p:sp>
        <p:nvSpPr>
          <p:cNvPr id="3" name="Text 0"/>
          <p:cNvSpPr/>
          <p:nvPr/>
        </p:nvSpPr>
        <p:spPr>
          <a:xfrm>
            <a:off x="731520" y="457200"/>
            <a:ext cx="4572000" cy="64008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Scan to Access the Pipeline</a:t>
            </a:r>
            <a:endParaRPr lang="en-US" sz="2800" dirty="0"/>
          </a:p>
        </p:txBody>
      </p:sp>
      <p:sp>
        <p:nvSpPr>
          <p:cNvPr id="4" name="Text 1"/>
          <p:cNvSpPr/>
          <p:nvPr/>
        </p:nvSpPr>
        <p:spPr>
          <a:xfrm>
            <a:off x="731520" y="1005840"/>
            <a:ext cx="4572000" cy="365760"/>
          </a:xfrm>
          <a:prstGeom prst="rect">
            <a:avLst/>
          </a:prstGeom>
          <a:noFill/>
          <a:ln/>
        </p:spPr>
        <p:txBody>
          <a:bodyPr wrap="square" lIns="0" tIns="0" rIns="0" bIns="0" rtlCol="0" anchor="ctr"/>
          <a:lstStyle/>
          <a:p>
            <a:pPr marL="0" indent="0">
              <a:buNone/>
            </a:pPr>
            <a:r>
              <a:rPr lang="en-US" sz="1100" dirty="0">
                <a:solidFill>
                  <a:srgbClr val="00A896"/>
                </a:solidFill>
                <a:latin typeface="Calibri" pitchFamily="34" charset="0"/>
                <a:ea typeface="Calibri" pitchFamily="34" charset="-122"/>
                <a:cs typeface="Calibri" pitchFamily="34" charset="-120"/>
              </a:rPr>
              <a:t>github.com/tariq-shaban/Automated-Psychometric-Scale-Development-Pipeline</a:t>
            </a:r>
            <a:endParaRPr lang="en-US" sz="1100" dirty="0"/>
          </a:p>
        </p:txBody>
      </p:sp>
      <p:sp>
        <p:nvSpPr>
          <p:cNvPr id="5" name="Shape 2"/>
          <p:cNvSpPr/>
          <p:nvPr/>
        </p:nvSpPr>
        <p:spPr>
          <a:xfrm>
            <a:off x="5760720" y="731520"/>
            <a:ext cx="2743200" cy="2743200"/>
          </a:xfrm>
          <a:prstGeom prst="rect">
            <a:avLst/>
          </a:prstGeom>
          <a:solidFill>
            <a:srgbClr val="FFFFFF"/>
          </a:solidFill>
          <a:ln/>
        </p:spPr>
        <p:txBody>
          <a:bodyPr/>
          <a:lstStyle/>
          <a:p>
            <a:endParaRPr lang="en-US"/>
          </a:p>
        </p:txBody>
      </p:sp>
      <p:sp>
        <p:nvSpPr>
          <p:cNvPr id="6" name="Text 3"/>
          <p:cNvSpPr/>
          <p:nvPr/>
        </p:nvSpPr>
        <p:spPr>
          <a:xfrm>
            <a:off x="5760720" y="731520"/>
            <a:ext cx="2743200" cy="2743200"/>
          </a:xfrm>
          <a:prstGeom prst="rect">
            <a:avLst/>
          </a:prstGeom>
          <a:noFill/>
          <a:ln/>
        </p:spPr>
        <p:txBody>
          <a:bodyPr wrap="square" rtlCol="0" anchor="ctr"/>
          <a:lstStyle/>
          <a:p>
            <a:pPr marL="0" indent="0" algn="ctr">
              <a:buNone/>
            </a:pPr>
            <a:r>
              <a:rPr lang="en-US" sz="1600" dirty="0">
                <a:solidFill>
                  <a:srgbClr val="7B8794"/>
                </a:solidFill>
                <a:latin typeface="Calibri" pitchFamily="34" charset="0"/>
                <a:ea typeface="Calibri" pitchFamily="34" charset="-122"/>
                <a:cs typeface="Calibri" pitchFamily="34" charset="-120"/>
              </a:rPr>
              <a:t>[QR CODE</a:t>
            </a:r>
            <a:endParaRPr lang="en-US" sz="1600" dirty="0"/>
          </a:p>
          <a:p>
            <a:pPr marL="0" indent="0" algn="ctr">
              <a:buNone/>
            </a:pPr>
            <a:r>
              <a:rPr lang="en-US" sz="1600" dirty="0">
                <a:solidFill>
                  <a:srgbClr val="7B8794"/>
                </a:solidFill>
                <a:latin typeface="Calibri" pitchFamily="34" charset="0"/>
                <a:ea typeface="Calibri" pitchFamily="34" charset="-122"/>
                <a:cs typeface="Calibri" pitchFamily="34" charset="-120"/>
              </a:rPr>
              <a:t>Placeholder]</a:t>
            </a:r>
            <a:endParaRPr lang="en-US" sz="1600" dirty="0"/>
          </a:p>
        </p:txBody>
      </p:sp>
      <p:pic>
        <p:nvPicPr>
          <p:cNvPr id="7" name="Image 0" descr="preencoded.png"/>
          <p:cNvPicPr>
            <a:picLocks noChangeAspect="1"/>
          </p:cNvPicPr>
          <p:nvPr/>
        </p:nvPicPr>
        <p:blipFill>
          <a:blip r:embed="rId3"/>
          <a:stretch>
            <a:fillRect/>
          </a:stretch>
        </p:blipFill>
        <p:spPr>
          <a:xfrm>
            <a:off x="731520" y="1554480"/>
            <a:ext cx="365760" cy="365760"/>
          </a:xfrm>
          <a:prstGeom prst="rect">
            <a:avLst/>
          </a:prstGeom>
        </p:spPr>
      </p:pic>
      <p:sp>
        <p:nvSpPr>
          <p:cNvPr id="8" name="Text 4"/>
          <p:cNvSpPr/>
          <p:nvPr/>
        </p:nvSpPr>
        <p:spPr>
          <a:xfrm>
            <a:off x="1280160" y="1554480"/>
            <a:ext cx="3657600" cy="365760"/>
          </a:xfrm>
          <a:prstGeom prst="rect">
            <a:avLst/>
          </a:prstGeom>
          <a:noFill/>
          <a:ln/>
        </p:spPr>
        <p:txBody>
          <a:bodyPr wrap="square" lIns="0" tIns="0" rIns="0" bIns="0" rtlCol="0" anchor="ctr"/>
          <a:lstStyle/>
          <a:p>
            <a:pPr marL="0" indent="0">
              <a:buNone/>
            </a:pPr>
            <a:r>
              <a:rPr lang="en-US" sz="1200" dirty="0">
                <a:solidFill>
                  <a:srgbClr val="9AA5B1"/>
                </a:solidFill>
                <a:latin typeface="Calibri" pitchFamily="34" charset="0"/>
                <a:ea typeface="Calibri" pitchFamily="34" charset="-122"/>
                <a:cs typeface="Calibri" pitchFamily="34" charset="-120"/>
              </a:rPr>
              <a:t>Open-source  •  Jupyter Notebook  •  Full documentation</a:t>
            </a:r>
            <a:endParaRPr lang="en-US" sz="1200" dirty="0"/>
          </a:p>
        </p:txBody>
      </p:sp>
      <p:sp>
        <p:nvSpPr>
          <p:cNvPr id="9" name="Text 5"/>
          <p:cNvSpPr/>
          <p:nvPr/>
        </p:nvSpPr>
        <p:spPr>
          <a:xfrm>
            <a:off x="731520" y="2743200"/>
            <a:ext cx="4572000" cy="82296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AI-Driven Assessment Development:</a:t>
            </a:r>
            <a:endParaRPr lang="en-US" sz="1600" dirty="0"/>
          </a:p>
          <a:p>
            <a:pPr marL="0" indent="0">
              <a:buNone/>
            </a:pPr>
            <a:r>
              <a:rPr lang="en-US" sz="1600" b="1" dirty="0">
                <a:solidFill>
                  <a:srgbClr val="FFFFFF"/>
                </a:solidFill>
                <a:latin typeface="Trebuchet MS" pitchFamily="34" charset="0"/>
                <a:ea typeface="Trebuchet MS" pitchFamily="34" charset="-122"/>
                <a:cs typeface="Trebuchet MS" pitchFamily="34" charset="-120"/>
              </a:rPr>
              <a:t>Automating Item Generation, Fairness, &amp; Validation</a:t>
            </a:r>
            <a:endParaRPr lang="en-US" sz="1600" dirty="0"/>
          </a:p>
        </p:txBody>
      </p:sp>
      <p:sp>
        <p:nvSpPr>
          <p:cNvPr id="10" name="Text 6"/>
          <p:cNvSpPr/>
          <p:nvPr/>
        </p:nvSpPr>
        <p:spPr>
          <a:xfrm>
            <a:off x="731520" y="3566160"/>
            <a:ext cx="4572000" cy="320040"/>
          </a:xfrm>
          <a:prstGeom prst="rect">
            <a:avLst/>
          </a:prstGeom>
          <a:noFill/>
          <a:ln/>
        </p:spPr>
        <p:txBody>
          <a:bodyPr wrap="square" lIns="0" tIns="0" rIns="0" bIns="0" rtlCol="0" anchor="ctr"/>
          <a:lstStyle/>
          <a:p>
            <a:pPr marL="0" indent="0">
              <a:buNone/>
            </a:pPr>
            <a:r>
              <a:rPr lang="en-US" sz="1100" dirty="0">
                <a:solidFill>
                  <a:srgbClr val="9AA5B1"/>
                </a:solidFill>
                <a:latin typeface="Calibri" pitchFamily="34" charset="0"/>
                <a:ea typeface="Calibri" pitchFamily="34" charset="-122"/>
                <a:cs typeface="Calibri" pitchFamily="34" charset="-120"/>
              </a:rPr>
              <a:t>SIOP 2026  •  Session 970  •  April 30, 9:00–10:20 AM  •  Room R7</a:t>
            </a:r>
            <a:endParaRPr lang="en-US" sz="1100" dirty="0"/>
          </a:p>
        </p:txBody>
      </p:sp>
      <p:sp>
        <p:nvSpPr>
          <p:cNvPr id="11" name="Text 7"/>
          <p:cNvSpPr/>
          <p:nvPr/>
        </p:nvSpPr>
        <p:spPr>
          <a:xfrm>
            <a:off x="731520" y="4389120"/>
            <a:ext cx="7315200" cy="320040"/>
          </a:xfrm>
          <a:prstGeom prst="rect">
            <a:avLst/>
          </a:prstGeom>
          <a:noFill/>
          <a:ln/>
        </p:spPr>
        <p:txBody>
          <a:bodyPr wrap="square" lIns="0" tIns="0" rIns="0" bIns="0" rtlCol="0" anchor="ctr"/>
          <a:lstStyle/>
          <a:p>
            <a:pPr marL="0" indent="0">
              <a:buNone/>
            </a:pPr>
            <a:r>
              <a:rPr lang="en-US" sz="1200" dirty="0">
                <a:solidFill>
                  <a:srgbClr val="00A896"/>
                </a:solidFill>
                <a:latin typeface="Calibri" pitchFamily="34" charset="0"/>
                <a:ea typeface="Calibri" pitchFamily="34" charset="-122"/>
                <a:cs typeface="Calibri" pitchFamily="34" charset="-120"/>
              </a:rPr>
              <a:t>Tariq Shaban — Inubilum Ltd   •   Dr. Philseok Lee — George Mason University</a:t>
            </a:r>
            <a:endParaRPr lang="en-US" sz="1200" dirty="0"/>
          </a:p>
        </p:txBody>
      </p:sp>
      <p:pic>
        <p:nvPicPr>
          <p:cNvPr id="2" name="Picture 1">
            <a:extLst>
              <a:ext uri="{FF2B5EF4-FFF2-40B4-BE49-F238E27FC236}">
                <a16:creationId xmlns:a16="http://schemas.microsoft.com/office/drawing/2014/main" id="{7066D47E-2D0F-7919-0DDC-46ABDD3A6DF6}"/>
              </a:ext>
            </a:extLst>
          </p:cNvPr>
          <p:cNvPicPr>
            <a:picLocks noChangeAspect="1"/>
          </p:cNvPicPr>
          <p:nvPr/>
        </p:nvPicPr>
        <p:blipFill>
          <a:blip r:embed="rId4">
            <a:duotone>
              <a:schemeClr val="accent1">
                <a:shade val="45000"/>
                <a:satMod val="135000"/>
              </a:schemeClr>
              <a:prstClr val="white"/>
            </a:duotone>
          </a:blip>
          <a:stretch>
            <a:fillRect/>
          </a:stretch>
        </p:blipFill>
        <p:spPr>
          <a:xfrm>
            <a:off x="5808597" y="774485"/>
            <a:ext cx="2645137" cy="265451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2838"/>
        </a:solidFill>
        <a:effectLst/>
      </p:bgPr>
    </p:bg>
    <p:spTree>
      <p:nvGrpSpPr>
        <p:cNvPr id="1" name=""/>
        <p:cNvGrpSpPr/>
        <p:nvPr/>
      </p:nvGrpSpPr>
      <p:grpSpPr>
        <a:xfrm>
          <a:off x="0" y="0"/>
          <a:ext cx="0" cy="0"/>
          <a:chOff x="0" y="0"/>
          <a:chExt cx="0" cy="0"/>
        </a:xfrm>
      </p:grpSpPr>
      <p:sp>
        <p:nvSpPr>
          <p:cNvPr id="3" name="Text 0"/>
          <p:cNvSpPr/>
          <p:nvPr/>
        </p:nvSpPr>
        <p:spPr>
          <a:xfrm>
            <a:off x="731520" y="914400"/>
            <a:ext cx="7680960" cy="914400"/>
          </a:xfrm>
          <a:prstGeom prst="rect">
            <a:avLst/>
          </a:prstGeom>
          <a:noFill/>
          <a:ln/>
        </p:spPr>
        <p:txBody>
          <a:bodyPr wrap="square" lIns="0" tIns="0" rIns="0" bIns="0" rtlCol="0" anchor="ctr"/>
          <a:lstStyle/>
          <a:p>
            <a:pPr marL="0" indent="0">
              <a:buNone/>
            </a:pPr>
            <a:r>
              <a:rPr lang="en-US" sz="4200" b="1" dirty="0">
                <a:solidFill>
                  <a:srgbClr val="FFFFFF"/>
                </a:solidFill>
                <a:latin typeface="Trebuchet MS" pitchFamily="34" charset="0"/>
                <a:ea typeface="Trebuchet MS" pitchFamily="34" charset="-122"/>
                <a:cs typeface="Trebuchet MS" pitchFamily="34" charset="-120"/>
              </a:rPr>
              <a:t>AI-Driven Assessment Development</a:t>
            </a:r>
            <a:endParaRPr lang="en-US" sz="4200" dirty="0"/>
          </a:p>
        </p:txBody>
      </p:sp>
      <p:sp>
        <p:nvSpPr>
          <p:cNvPr id="4" name="Text 1"/>
          <p:cNvSpPr/>
          <p:nvPr/>
        </p:nvSpPr>
        <p:spPr>
          <a:xfrm>
            <a:off x="731520" y="1828800"/>
            <a:ext cx="7680960" cy="548640"/>
          </a:xfrm>
          <a:prstGeom prst="rect">
            <a:avLst/>
          </a:prstGeom>
          <a:noFill/>
          <a:ln/>
        </p:spPr>
        <p:txBody>
          <a:bodyPr wrap="square" lIns="0" tIns="0" rIns="0" bIns="0" rtlCol="0" anchor="ctr"/>
          <a:lstStyle/>
          <a:p>
            <a:pPr marL="0" indent="0">
              <a:buNone/>
            </a:pPr>
            <a:r>
              <a:rPr lang="en-US" sz="2200" dirty="0">
                <a:solidFill>
                  <a:srgbClr val="00A896"/>
                </a:solidFill>
                <a:latin typeface="Calibri" pitchFamily="34" charset="0"/>
                <a:ea typeface="Calibri" pitchFamily="34" charset="-122"/>
                <a:cs typeface="Calibri" pitchFamily="34" charset="-120"/>
              </a:rPr>
              <a:t>Automating Item Generation, Fairness, &amp; Validation</a:t>
            </a:r>
            <a:endParaRPr lang="en-US" sz="2200" dirty="0"/>
          </a:p>
        </p:txBody>
      </p:sp>
      <p:sp>
        <p:nvSpPr>
          <p:cNvPr id="5" name="Shape 2"/>
          <p:cNvSpPr/>
          <p:nvPr/>
        </p:nvSpPr>
        <p:spPr>
          <a:xfrm>
            <a:off x="731520" y="2651760"/>
            <a:ext cx="2743200" cy="36576"/>
          </a:xfrm>
          <a:prstGeom prst="rect">
            <a:avLst/>
          </a:prstGeom>
          <a:solidFill>
            <a:srgbClr val="028090"/>
          </a:solidFill>
          <a:ln/>
        </p:spPr>
        <p:txBody>
          <a:bodyPr/>
          <a:lstStyle/>
          <a:p>
            <a:endParaRPr lang="en-US"/>
          </a:p>
        </p:txBody>
      </p:sp>
      <p:sp>
        <p:nvSpPr>
          <p:cNvPr id="6" name="Text 3"/>
          <p:cNvSpPr/>
          <p:nvPr/>
        </p:nvSpPr>
        <p:spPr>
          <a:xfrm>
            <a:off x="731520" y="2926080"/>
            <a:ext cx="7315200" cy="4114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Tariq Shaban</a:t>
            </a:r>
            <a:r>
              <a:rPr lang="en-US" sz="1400" dirty="0">
                <a:solidFill>
                  <a:srgbClr val="9AA5B1"/>
                </a:solidFill>
                <a:latin typeface="Calibri" pitchFamily="34" charset="0"/>
                <a:ea typeface="Calibri" pitchFamily="34" charset="-122"/>
                <a:cs typeface="Calibri" pitchFamily="34" charset="-120"/>
              </a:rPr>
              <a:t>  —  Inubilum Ltd</a:t>
            </a:r>
            <a:endParaRPr lang="en-US" sz="1600" dirty="0"/>
          </a:p>
        </p:txBody>
      </p:sp>
      <p:sp>
        <p:nvSpPr>
          <p:cNvPr id="7" name="Text 4"/>
          <p:cNvSpPr/>
          <p:nvPr/>
        </p:nvSpPr>
        <p:spPr>
          <a:xfrm>
            <a:off x="731520" y="3337560"/>
            <a:ext cx="7315200" cy="4114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Dr. Philseok Lee</a:t>
            </a:r>
            <a:r>
              <a:rPr lang="en-US" sz="1400" dirty="0">
                <a:solidFill>
                  <a:srgbClr val="9AA5B1"/>
                </a:solidFill>
                <a:latin typeface="Calibri" pitchFamily="34" charset="0"/>
                <a:ea typeface="Calibri" pitchFamily="34" charset="-122"/>
                <a:cs typeface="Calibri" pitchFamily="34" charset="-120"/>
              </a:rPr>
              <a:t>  —  George Mason University</a:t>
            </a:r>
            <a:endParaRPr lang="en-US" sz="1600" dirty="0"/>
          </a:p>
        </p:txBody>
      </p:sp>
      <p:sp>
        <p:nvSpPr>
          <p:cNvPr id="8" name="Text 5"/>
          <p:cNvSpPr/>
          <p:nvPr/>
        </p:nvSpPr>
        <p:spPr>
          <a:xfrm>
            <a:off x="731520" y="4297680"/>
            <a:ext cx="7315200" cy="320040"/>
          </a:xfrm>
          <a:prstGeom prst="rect">
            <a:avLst/>
          </a:prstGeom>
          <a:noFill/>
          <a:ln/>
        </p:spPr>
        <p:txBody>
          <a:bodyPr wrap="square" lIns="0" tIns="0" rIns="0" bIns="0" rtlCol="0" anchor="ctr"/>
          <a:lstStyle/>
          <a:p>
            <a:pPr marL="0" indent="0">
              <a:buNone/>
            </a:pPr>
            <a:r>
              <a:rPr lang="en-US" sz="1200" dirty="0">
                <a:solidFill>
                  <a:srgbClr val="7B8794"/>
                </a:solidFill>
                <a:latin typeface="Calibri" pitchFamily="34" charset="0"/>
                <a:ea typeface="Calibri" pitchFamily="34" charset="-122"/>
                <a:cs typeface="Calibri" pitchFamily="34" charset="-120"/>
              </a:rPr>
              <a:t>SIOP 2026  •  Session 970  •  April 30  •  Room R7</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3" name="Text 0"/>
          <p:cNvSpPr/>
          <p:nvPr/>
        </p:nvSpPr>
        <p:spPr>
          <a:xfrm>
            <a:off x="548640" y="274320"/>
            <a:ext cx="8046720" cy="594360"/>
          </a:xfrm>
          <a:prstGeom prst="rect">
            <a:avLst/>
          </a:prstGeom>
          <a:noFill/>
          <a:ln/>
        </p:spPr>
        <p:txBody>
          <a:bodyPr wrap="square" lIns="0" tIns="0" rIns="0" bIns="0" rtlCol="0" anchor="ctr"/>
          <a:lstStyle/>
          <a:p>
            <a:pPr marL="0" indent="0">
              <a:buNone/>
            </a:pPr>
            <a:r>
              <a:rPr lang="en-US" sz="2400" b="1" dirty="0">
                <a:solidFill>
                  <a:srgbClr val="323F4B"/>
                </a:solidFill>
                <a:latin typeface="Trebuchet MS" pitchFamily="34" charset="0"/>
                <a:ea typeface="Trebuchet MS" pitchFamily="34" charset="-122"/>
                <a:cs typeface="Trebuchet MS" pitchFamily="34" charset="-120"/>
              </a:rPr>
              <a:t>The Problem: Scale Development Doesn't Scale</a:t>
            </a:r>
            <a:endParaRPr lang="en-US" sz="2400" dirty="0"/>
          </a:p>
        </p:txBody>
      </p:sp>
      <p:sp>
        <p:nvSpPr>
          <p:cNvPr id="4" name="Text 1"/>
          <p:cNvSpPr/>
          <p:nvPr/>
        </p:nvSpPr>
        <p:spPr>
          <a:xfrm>
            <a:off x="548640" y="822960"/>
            <a:ext cx="8046720" cy="32004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Tariq Shaban</a:t>
            </a:r>
            <a:endParaRPr lang="en-US" sz="1100" dirty="0"/>
          </a:p>
        </p:txBody>
      </p:sp>
      <p:sp>
        <p:nvSpPr>
          <p:cNvPr id="5" name="Shape 2"/>
          <p:cNvSpPr/>
          <p:nvPr/>
        </p:nvSpPr>
        <p:spPr>
          <a:xfrm>
            <a:off x="0" y="0"/>
            <a:ext cx="9144000" cy="73152"/>
          </a:xfrm>
          <a:prstGeom prst="rect">
            <a:avLst/>
          </a:prstGeom>
          <a:solidFill>
            <a:srgbClr val="028090"/>
          </a:solidFill>
          <a:ln/>
        </p:spPr>
        <p:txBody>
          <a:bodyPr/>
          <a:lstStyle/>
          <a:p>
            <a:endParaRPr lang="en-US"/>
          </a:p>
        </p:txBody>
      </p:sp>
      <p:sp>
        <p:nvSpPr>
          <p:cNvPr id="6" name="Shape 3"/>
          <p:cNvSpPr/>
          <p:nvPr/>
        </p:nvSpPr>
        <p:spPr>
          <a:xfrm>
            <a:off x="548640" y="1371600"/>
            <a:ext cx="246888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7" name="Text 4"/>
          <p:cNvSpPr/>
          <p:nvPr/>
        </p:nvSpPr>
        <p:spPr>
          <a:xfrm>
            <a:off x="548640" y="1463040"/>
            <a:ext cx="2468880" cy="822960"/>
          </a:xfrm>
          <a:prstGeom prst="rect">
            <a:avLst/>
          </a:prstGeom>
          <a:noFill/>
          <a:ln/>
        </p:spPr>
        <p:txBody>
          <a:bodyPr wrap="square" lIns="0" tIns="0" rIns="0" bIns="0" rtlCol="0" anchor="ctr"/>
          <a:lstStyle/>
          <a:p>
            <a:pPr marL="0" indent="0" algn="ctr">
              <a:buNone/>
            </a:pPr>
            <a:r>
              <a:rPr lang="en-US" sz="4800" b="1" dirty="0">
                <a:solidFill>
                  <a:srgbClr val="028090"/>
                </a:solidFill>
                <a:latin typeface="Trebuchet MS" pitchFamily="34" charset="0"/>
                <a:ea typeface="Trebuchet MS" pitchFamily="34" charset="-122"/>
                <a:cs typeface="Trebuchet MS" pitchFamily="34" charset="-120"/>
              </a:rPr>
              <a:t>3–6</a:t>
            </a:r>
            <a:endParaRPr lang="en-US" sz="4800" dirty="0"/>
          </a:p>
        </p:txBody>
      </p:sp>
      <p:sp>
        <p:nvSpPr>
          <p:cNvPr id="8" name="Text 5"/>
          <p:cNvSpPr/>
          <p:nvPr/>
        </p:nvSpPr>
        <p:spPr>
          <a:xfrm>
            <a:off x="548640" y="2286000"/>
            <a:ext cx="2468880" cy="457200"/>
          </a:xfrm>
          <a:prstGeom prst="rect">
            <a:avLst/>
          </a:prstGeom>
          <a:noFill/>
          <a:ln/>
        </p:spPr>
        <p:txBody>
          <a:bodyPr wrap="square" lIns="0" tIns="0" rIns="0" bIns="0" rtlCol="0" anchor="ctr"/>
          <a:lstStyle/>
          <a:p>
            <a:pPr marL="0" indent="0" algn="ctr">
              <a:buNone/>
            </a:pPr>
            <a:r>
              <a:rPr lang="en-US" sz="1300" dirty="0">
                <a:solidFill>
                  <a:srgbClr val="7B8794"/>
                </a:solidFill>
                <a:latin typeface="Calibri" pitchFamily="34" charset="0"/>
                <a:ea typeface="Calibri" pitchFamily="34" charset="-122"/>
                <a:cs typeface="Calibri" pitchFamily="34" charset="-120"/>
              </a:rPr>
              <a:t>months per assessment</a:t>
            </a:r>
            <a:endParaRPr lang="en-US" sz="1300" dirty="0"/>
          </a:p>
        </p:txBody>
      </p:sp>
      <p:sp>
        <p:nvSpPr>
          <p:cNvPr id="9" name="Shape 6"/>
          <p:cNvSpPr/>
          <p:nvPr/>
        </p:nvSpPr>
        <p:spPr>
          <a:xfrm>
            <a:off x="3337560" y="1371600"/>
            <a:ext cx="246888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0" name="Text 7"/>
          <p:cNvSpPr/>
          <p:nvPr/>
        </p:nvSpPr>
        <p:spPr>
          <a:xfrm>
            <a:off x="3337560" y="1463040"/>
            <a:ext cx="2468880" cy="822960"/>
          </a:xfrm>
          <a:prstGeom prst="rect">
            <a:avLst/>
          </a:prstGeom>
          <a:noFill/>
          <a:ln/>
        </p:spPr>
        <p:txBody>
          <a:bodyPr wrap="square" lIns="0" tIns="0" rIns="0" bIns="0" rtlCol="0" anchor="ctr"/>
          <a:lstStyle/>
          <a:p>
            <a:pPr marL="0" indent="0" algn="ctr">
              <a:buNone/>
            </a:pPr>
            <a:r>
              <a:rPr lang="en-US" sz="4800" b="1" dirty="0">
                <a:solidFill>
                  <a:srgbClr val="E85D4A"/>
                </a:solidFill>
                <a:latin typeface="Trebuchet MS" pitchFamily="34" charset="0"/>
                <a:ea typeface="Trebuchet MS" pitchFamily="34" charset="-122"/>
                <a:cs typeface="Trebuchet MS" pitchFamily="34" charset="-120"/>
              </a:rPr>
              <a:t>$50K+</a:t>
            </a:r>
            <a:endParaRPr lang="en-US" sz="4800" dirty="0"/>
          </a:p>
        </p:txBody>
      </p:sp>
      <p:sp>
        <p:nvSpPr>
          <p:cNvPr id="11" name="Text 8"/>
          <p:cNvSpPr/>
          <p:nvPr/>
        </p:nvSpPr>
        <p:spPr>
          <a:xfrm>
            <a:off x="3337560" y="2286000"/>
            <a:ext cx="2468880" cy="457200"/>
          </a:xfrm>
          <a:prstGeom prst="rect">
            <a:avLst/>
          </a:prstGeom>
          <a:noFill/>
          <a:ln/>
        </p:spPr>
        <p:txBody>
          <a:bodyPr wrap="square" lIns="0" tIns="0" rIns="0" bIns="0" rtlCol="0" anchor="ctr"/>
          <a:lstStyle/>
          <a:p>
            <a:pPr marL="0" indent="0" algn="ctr">
              <a:buNone/>
            </a:pPr>
            <a:r>
              <a:rPr lang="en-US" sz="1300" dirty="0">
                <a:solidFill>
                  <a:srgbClr val="7B8794"/>
                </a:solidFill>
                <a:latin typeface="Calibri" pitchFamily="34" charset="0"/>
                <a:ea typeface="Calibri" pitchFamily="34" charset="-122"/>
                <a:cs typeface="Calibri" pitchFamily="34" charset="-120"/>
              </a:rPr>
              <a:t>typical project cost</a:t>
            </a:r>
            <a:endParaRPr lang="en-US" sz="1300" dirty="0"/>
          </a:p>
        </p:txBody>
      </p:sp>
      <p:sp>
        <p:nvSpPr>
          <p:cNvPr id="12" name="Shape 9"/>
          <p:cNvSpPr/>
          <p:nvPr/>
        </p:nvSpPr>
        <p:spPr>
          <a:xfrm>
            <a:off x="6126480" y="1371600"/>
            <a:ext cx="246888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3" name="Text 10"/>
          <p:cNvSpPr/>
          <p:nvPr/>
        </p:nvSpPr>
        <p:spPr>
          <a:xfrm>
            <a:off x="6126480" y="1463040"/>
            <a:ext cx="2468880" cy="822960"/>
          </a:xfrm>
          <a:prstGeom prst="rect">
            <a:avLst/>
          </a:prstGeom>
          <a:noFill/>
          <a:ln/>
        </p:spPr>
        <p:txBody>
          <a:bodyPr wrap="square" lIns="0" tIns="0" rIns="0" bIns="0" rtlCol="0" anchor="ctr"/>
          <a:lstStyle/>
          <a:p>
            <a:pPr marL="0" indent="0" algn="ctr">
              <a:buNone/>
            </a:pPr>
            <a:r>
              <a:rPr lang="en-US" sz="4800" b="1" dirty="0">
                <a:solidFill>
                  <a:srgbClr val="F5A623"/>
                </a:solidFill>
                <a:latin typeface="Trebuchet MS" pitchFamily="34" charset="0"/>
                <a:ea typeface="Trebuchet MS" pitchFamily="34" charset="-122"/>
                <a:cs typeface="Trebuchet MS" pitchFamily="34" charset="-120"/>
              </a:rPr>
              <a:t>500+</a:t>
            </a:r>
            <a:endParaRPr lang="en-US" sz="4800" dirty="0"/>
          </a:p>
        </p:txBody>
      </p:sp>
      <p:sp>
        <p:nvSpPr>
          <p:cNvPr id="14" name="Text 11"/>
          <p:cNvSpPr/>
          <p:nvPr/>
        </p:nvSpPr>
        <p:spPr>
          <a:xfrm>
            <a:off x="6126480" y="2286000"/>
            <a:ext cx="2468880" cy="457200"/>
          </a:xfrm>
          <a:prstGeom prst="rect">
            <a:avLst/>
          </a:prstGeom>
          <a:noFill/>
          <a:ln/>
        </p:spPr>
        <p:txBody>
          <a:bodyPr wrap="square" lIns="0" tIns="0" rIns="0" bIns="0" rtlCol="0" anchor="ctr"/>
          <a:lstStyle/>
          <a:p>
            <a:pPr marL="0" indent="0" algn="ctr">
              <a:buNone/>
            </a:pPr>
            <a:r>
              <a:rPr lang="en-US" sz="1300" dirty="0">
                <a:solidFill>
                  <a:srgbClr val="7B8794"/>
                </a:solidFill>
                <a:latin typeface="Calibri" pitchFamily="34" charset="0"/>
                <a:ea typeface="Calibri" pitchFamily="34" charset="-122"/>
                <a:cs typeface="Calibri" pitchFamily="34" charset="-120"/>
              </a:rPr>
              <a:t>items reviewed manually</a:t>
            </a:r>
            <a:endParaRPr lang="en-US" sz="1300" dirty="0"/>
          </a:p>
        </p:txBody>
      </p:sp>
      <p:sp>
        <p:nvSpPr>
          <p:cNvPr id="15" name="Text 12"/>
          <p:cNvSpPr/>
          <p:nvPr/>
        </p:nvSpPr>
        <p:spPr>
          <a:xfrm>
            <a:off x="548640" y="3383280"/>
            <a:ext cx="8046720" cy="731520"/>
          </a:xfrm>
          <a:prstGeom prst="rect">
            <a:avLst/>
          </a:prstGeom>
          <a:noFill/>
          <a:ln/>
        </p:spPr>
        <p:txBody>
          <a:bodyPr wrap="square" lIns="0" tIns="0" rIns="0" bIns="0" rtlCol="0" anchor="ctr"/>
          <a:lstStyle/>
          <a:p>
            <a:pPr marL="0" indent="0">
              <a:buNone/>
            </a:pPr>
            <a:r>
              <a:rPr lang="en-US" sz="1400" dirty="0">
                <a:solidFill>
                  <a:srgbClr val="323F4B"/>
                </a:solidFill>
                <a:latin typeface="Calibri" pitchFamily="34" charset="0"/>
                <a:ea typeface="Calibri" pitchFamily="34" charset="-122"/>
                <a:cs typeface="Calibri" pitchFamily="34" charset="-120"/>
              </a:rPr>
              <a:t>Most time is spent on generative and screening stages — exactly where LLMs and NLP techniques can reduce effort without compromising rigor.</a:t>
            </a:r>
            <a:endParaRPr lang="en-US" sz="1400" dirty="0"/>
          </a:p>
        </p:txBody>
      </p:sp>
      <p:sp>
        <p:nvSpPr>
          <p:cNvPr id="16" name="Text 13"/>
          <p:cNvSpPr/>
          <p:nvPr/>
        </p:nvSpPr>
        <p:spPr>
          <a:xfrm>
            <a:off x="548640" y="4114800"/>
            <a:ext cx="8046720" cy="320040"/>
          </a:xfrm>
          <a:prstGeom prst="rect">
            <a:avLst/>
          </a:prstGeom>
          <a:noFill/>
          <a:ln/>
        </p:spPr>
        <p:txBody>
          <a:bodyPr wrap="square" lIns="0" tIns="0" rIns="0" bIns="0" rtlCol="0" anchor="ctr"/>
          <a:lstStyle/>
          <a:p>
            <a:pPr marL="0" indent="0">
              <a:buNone/>
            </a:pPr>
            <a:r>
              <a:rPr lang="en-US" sz="1000" i="1" dirty="0">
                <a:solidFill>
                  <a:srgbClr val="7B8794"/>
                </a:solidFill>
                <a:latin typeface="Calibri" pitchFamily="34" charset="0"/>
                <a:ea typeface="Calibri" pitchFamily="34" charset="-122"/>
                <a:cs typeface="Calibri" pitchFamily="34" charset="-120"/>
              </a:rPr>
              <a:t>(Guenole et al., 2025; Lee et al., 2025; Suárez-Álvarez et al.,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3" name="Text 0"/>
          <p:cNvSpPr/>
          <p:nvPr/>
        </p:nvSpPr>
        <p:spPr>
          <a:xfrm>
            <a:off x="548640" y="274320"/>
            <a:ext cx="8046720" cy="594360"/>
          </a:xfrm>
          <a:prstGeom prst="rect">
            <a:avLst/>
          </a:prstGeom>
          <a:noFill/>
          <a:ln/>
        </p:spPr>
        <p:txBody>
          <a:bodyPr wrap="square" lIns="0" tIns="0" rIns="0" bIns="0" rtlCol="0" anchor="ctr"/>
          <a:lstStyle/>
          <a:p>
            <a:pPr marL="0" indent="0">
              <a:buNone/>
            </a:pPr>
            <a:r>
              <a:rPr lang="en-US" sz="2400" b="1" dirty="0">
                <a:solidFill>
                  <a:srgbClr val="323F4B"/>
                </a:solidFill>
                <a:latin typeface="Trebuchet MS" pitchFamily="34" charset="0"/>
                <a:ea typeface="Trebuchet MS" pitchFamily="34" charset="-122"/>
                <a:cs typeface="Trebuchet MS" pitchFamily="34" charset="-120"/>
              </a:rPr>
              <a:t>The Substitutability Assumption</a:t>
            </a:r>
            <a:endParaRPr lang="en-US" sz="2400" dirty="0"/>
          </a:p>
        </p:txBody>
      </p:sp>
      <p:sp>
        <p:nvSpPr>
          <p:cNvPr id="4" name="Text 1"/>
          <p:cNvSpPr/>
          <p:nvPr/>
        </p:nvSpPr>
        <p:spPr>
          <a:xfrm>
            <a:off x="548640" y="822960"/>
            <a:ext cx="8046720" cy="32004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Dr. Philseok Lee</a:t>
            </a:r>
            <a:endParaRPr lang="en-US" sz="1100" dirty="0"/>
          </a:p>
        </p:txBody>
      </p:sp>
      <p:sp>
        <p:nvSpPr>
          <p:cNvPr id="5" name="Shape 2"/>
          <p:cNvSpPr/>
          <p:nvPr/>
        </p:nvSpPr>
        <p:spPr>
          <a:xfrm>
            <a:off x="0" y="0"/>
            <a:ext cx="9144000" cy="73152"/>
          </a:xfrm>
          <a:prstGeom prst="rect">
            <a:avLst/>
          </a:prstGeom>
          <a:solidFill>
            <a:srgbClr val="028090"/>
          </a:solidFill>
          <a:ln/>
        </p:spPr>
        <p:txBody>
          <a:bodyPr/>
          <a:lstStyle/>
          <a:p>
            <a:endParaRPr lang="en-US"/>
          </a:p>
        </p:txBody>
      </p:sp>
      <p:sp>
        <p:nvSpPr>
          <p:cNvPr id="6" name="Shape 3"/>
          <p:cNvSpPr/>
          <p:nvPr/>
        </p:nvSpPr>
        <p:spPr>
          <a:xfrm>
            <a:off x="548640" y="1280160"/>
            <a:ext cx="3840480" cy="2286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7" name="Shape 4"/>
          <p:cNvSpPr/>
          <p:nvPr/>
        </p:nvSpPr>
        <p:spPr>
          <a:xfrm>
            <a:off x="548640" y="1280160"/>
            <a:ext cx="54864" cy="2286000"/>
          </a:xfrm>
          <a:prstGeom prst="rect">
            <a:avLst/>
          </a:prstGeom>
          <a:solidFill>
            <a:srgbClr val="028090"/>
          </a:solidFill>
          <a:ln/>
        </p:spPr>
        <p:txBody>
          <a:bodyPr/>
          <a:lstStyle/>
          <a:p>
            <a:endParaRPr lang="en-US"/>
          </a:p>
        </p:txBody>
      </p:sp>
      <p:sp>
        <p:nvSpPr>
          <p:cNvPr id="8" name="Text 5"/>
          <p:cNvSpPr/>
          <p:nvPr/>
        </p:nvSpPr>
        <p:spPr>
          <a:xfrm>
            <a:off x="777240" y="1371600"/>
            <a:ext cx="3474720" cy="320040"/>
          </a:xfrm>
          <a:prstGeom prst="rect">
            <a:avLst/>
          </a:prstGeom>
          <a:noFill/>
          <a:ln/>
        </p:spPr>
        <p:txBody>
          <a:bodyPr wrap="square" lIns="0" tIns="0" rIns="0" bIns="0" rtlCol="0" anchor="ctr"/>
          <a:lstStyle/>
          <a:p>
            <a:pPr marL="0" indent="0">
              <a:buNone/>
            </a:pPr>
            <a:r>
              <a:rPr lang="en-US" sz="1400" b="1" dirty="0">
                <a:solidFill>
                  <a:srgbClr val="028090"/>
                </a:solidFill>
                <a:latin typeface="Trebuchet MS" pitchFamily="34" charset="0"/>
                <a:ea typeface="Trebuchet MS" pitchFamily="34" charset="-122"/>
                <a:cs typeface="Trebuchet MS" pitchFamily="34" charset="-120"/>
              </a:rPr>
              <a:t>Embedding Vector</a:t>
            </a:r>
            <a:endParaRPr lang="en-US" sz="1400" dirty="0"/>
          </a:p>
        </p:txBody>
      </p:sp>
      <p:sp>
        <p:nvSpPr>
          <p:cNvPr id="9" name="Text 6"/>
          <p:cNvSpPr/>
          <p:nvPr/>
        </p:nvSpPr>
        <p:spPr>
          <a:xfrm>
            <a:off x="777240" y="1737360"/>
            <a:ext cx="3474720" cy="822960"/>
          </a:xfrm>
          <a:prstGeom prst="rect">
            <a:avLst/>
          </a:prstGeom>
          <a:noFill/>
          <a:ln/>
        </p:spPr>
        <p:txBody>
          <a:bodyPr wrap="square" lIns="0" tIns="0" rIns="0" bIns="0" rtlCol="0" anchor="ctr"/>
          <a:lstStyle/>
          <a:p>
            <a:pPr marL="0" indent="0">
              <a:buNone/>
            </a:pPr>
            <a:r>
              <a:rPr lang="en-US" sz="1200" dirty="0">
                <a:solidFill>
                  <a:srgbClr val="323F4B"/>
                </a:solidFill>
                <a:latin typeface="Calibri" pitchFamily="34" charset="0"/>
                <a:ea typeface="Calibri" pitchFamily="34" charset="-122"/>
                <a:cs typeface="Calibri" pitchFamily="34" charset="-120"/>
              </a:rPr>
              <a:t>Aggregate encoding of a personality statement's meaning across the model's entire training corpus</a:t>
            </a:r>
            <a:endParaRPr lang="en-US" sz="1200" dirty="0"/>
          </a:p>
        </p:txBody>
      </p:sp>
      <p:sp>
        <p:nvSpPr>
          <p:cNvPr id="10" name="Text 7"/>
          <p:cNvSpPr/>
          <p:nvPr/>
        </p:nvSpPr>
        <p:spPr>
          <a:xfrm>
            <a:off x="777240" y="2651760"/>
            <a:ext cx="3474720" cy="365760"/>
          </a:xfrm>
          <a:prstGeom prst="rect">
            <a:avLst/>
          </a:prstGeom>
          <a:noFill/>
          <a:ln/>
        </p:spPr>
        <p:txBody>
          <a:bodyPr wrap="square" lIns="0" tIns="0" rIns="0" bIns="0" rtlCol="0" anchor="ctr"/>
          <a:lstStyle/>
          <a:p>
            <a:pPr marL="0" indent="0">
              <a:buNone/>
            </a:pPr>
            <a:r>
              <a:rPr lang="en-US" sz="1100" i="1" dirty="0">
                <a:solidFill>
                  <a:srgbClr val="7B8794"/>
                </a:solidFill>
                <a:latin typeface="Calibri" pitchFamily="34" charset="0"/>
                <a:ea typeface="Calibri" pitchFamily="34" charset="-122"/>
                <a:cs typeface="Calibri" pitchFamily="34" charset="-120"/>
              </a:rPr>
              <a:t>Semantic similarity ≈ item co-occurrence</a:t>
            </a:r>
            <a:endParaRPr lang="en-US" sz="1100" dirty="0"/>
          </a:p>
        </p:txBody>
      </p:sp>
      <p:sp>
        <p:nvSpPr>
          <p:cNvPr id="11" name="Shape 8"/>
          <p:cNvSpPr/>
          <p:nvPr/>
        </p:nvSpPr>
        <p:spPr>
          <a:xfrm>
            <a:off x="4754880" y="1280160"/>
            <a:ext cx="3840480" cy="2286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2" name="Shape 9"/>
          <p:cNvSpPr/>
          <p:nvPr/>
        </p:nvSpPr>
        <p:spPr>
          <a:xfrm>
            <a:off x="4754880" y="1280160"/>
            <a:ext cx="54864" cy="2286000"/>
          </a:xfrm>
          <a:prstGeom prst="rect">
            <a:avLst/>
          </a:prstGeom>
          <a:solidFill>
            <a:srgbClr val="00A896"/>
          </a:solidFill>
          <a:ln/>
        </p:spPr>
        <p:txBody>
          <a:bodyPr/>
          <a:lstStyle/>
          <a:p>
            <a:endParaRPr lang="en-US"/>
          </a:p>
        </p:txBody>
      </p:sp>
      <p:sp>
        <p:nvSpPr>
          <p:cNvPr id="13" name="Text 10"/>
          <p:cNvSpPr/>
          <p:nvPr/>
        </p:nvSpPr>
        <p:spPr>
          <a:xfrm>
            <a:off x="4983480" y="1371600"/>
            <a:ext cx="3474720" cy="320040"/>
          </a:xfrm>
          <a:prstGeom prst="rect">
            <a:avLst/>
          </a:prstGeom>
          <a:noFill/>
          <a:ln/>
        </p:spPr>
        <p:txBody>
          <a:bodyPr wrap="square" lIns="0" tIns="0" rIns="0" bIns="0" rtlCol="0" anchor="ctr"/>
          <a:lstStyle/>
          <a:p>
            <a:pPr marL="0" indent="0">
              <a:buNone/>
            </a:pPr>
            <a:r>
              <a:rPr lang="en-US" sz="1400" b="1" dirty="0">
                <a:solidFill>
                  <a:srgbClr val="00A896"/>
                </a:solidFill>
                <a:latin typeface="Trebuchet MS" pitchFamily="34" charset="0"/>
                <a:ea typeface="Trebuchet MS" pitchFamily="34" charset="-122"/>
                <a:cs typeface="Trebuchet MS" pitchFamily="34" charset="-120"/>
              </a:rPr>
              <a:t>Response Vector</a:t>
            </a:r>
            <a:endParaRPr lang="en-US" sz="1400" dirty="0"/>
          </a:p>
        </p:txBody>
      </p:sp>
      <p:sp>
        <p:nvSpPr>
          <p:cNvPr id="14" name="Text 11"/>
          <p:cNvSpPr/>
          <p:nvPr/>
        </p:nvSpPr>
        <p:spPr>
          <a:xfrm>
            <a:off x="4983480" y="1737360"/>
            <a:ext cx="3474720" cy="822960"/>
          </a:xfrm>
          <a:prstGeom prst="rect">
            <a:avLst/>
          </a:prstGeom>
          <a:noFill/>
          <a:ln/>
        </p:spPr>
        <p:txBody>
          <a:bodyPr wrap="square" lIns="0" tIns="0" rIns="0" bIns="0" rtlCol="0" anchor="ctr"/>
          <a:lstStyle/>
          <a:p>
            <a:pPr marL="0" indent="0">
              <a:buNone/>
            </a:pPr>
            <a:r>
              <a:rPr lang="en-US" sz="1200" dirty="0">
                <a:solidFill>
                  <a:srgbClr val="323F4B"/>
                </a:solidFill>
                <a:latin typeface="Calibri" pitchFamily="34" charset="0"/>
                <a:ea typeface="Calibri" pitchFamily="34" charset="-122"/>
                <a:cs typeface="Calibri" pitchFamily="34" charset="-120"/>
              </a:rPr>
              <a:t>Aggregate encoding of individuals' personalized interpretations of how self-descriptive each statement is</a:t>
            </a:r>
            <a:endParaRPr lang="en-US" sz="1200" dirty="0"/>
          </a:p>
        </p:txBody>
      </p:sp>
      <p:sp>
        <p:nvSpPr>
          <p:cNvPr id="15" name="Text 12"/>
          <p:cNvSpPr/>
          <p:nvPr/>
        </p:nvSpPr>
        <p:spPr>
          <a:xfrm>
            <a:off x="4983480" y="2651760"/>
            <a:ext cx="3474720" cy="365760"/>
          </a:xfrm>
          <a:prstGeom prst="rect">
            <a:avLst/>
          </a:prstGeom>
          <a:noFill/>
          <a:ln/>
        </p:spPr>
        <p:txBody>
          <a:bodyPr wrap="square" lIns="0" tIns="0" rIns="0" bIns="0" rtlCol="0" anchor="ctr"/>
          <a:lstStyle/>
          <a:p>
            <a:pPr marL="0" indent="0">
              <a:buNone/>
            </a:pPr>
            <a:r>
              <a:rPr lang="en-US" sz="1100" i="1" dirty="0">
                <a:solidFill>
                  <a:srgbClr val="7B8794"/>
                </a:solidFill>
                <a:latin typeface="Calibri" pitchFamily="34" charset="0"/>
                <a:ea typeface="Calibri" pitchFamily="34" charset="-122"/>
                <a:cs typeface="Calibri" pitchFamily="34" charset="-120"/>
              </a:rPr>
              <a:t>Empirical correlations from human data</a:t>
            </a:r>
            <a:endParaRPr lang="en-US" sz="1100" dirty="0"/>
          </a:p>
        </p:txBody>
      </p:sp>
      <p:sp>
        <p:nvSpPr>
          <p:cNvPr id="16" name="Text 13"/>
          <p:cNvSpPr/>
          <p:nvPr/>
        </p:nvSpPr>
        <p:spPr>
          <a:xfrm>
            <a:off x="548640" y="3840480"/>
            <a:ext cx="8046720" cy="548640"/>
          </a:xfrm>
          <a:prstGeom prst="rect">
            <a:avLst/>
          </a:prstGeom>
          <a:noFill/>
          <a:ln/>
        </p:spPr>
        <p:txBody>
          <a:bodyPr wrap="square" lIns="0" tIns="0" rIns="0" bIns="0" rtlCol="0" anchor="ctr"/>
          <a:lstStyle/>
          <a:p>
            <a:pPr marL="0" indent="0">
              <a:buNone/>
            </a:pPr>
            <a:r>
              <a:rPr lang="en-US" sz="1100" i="1" dirty="0">
                <a:solidFill>
                  <a:srgbClr val="323F4B"/>
                </a:solidFill>
                <a:latin typeface="Calibri" pitchFamily="34" charset="0"/>
                <a:ea typeface="Calibri" pitchFamily="34" charset="-122"/>
                <a:cs typeface="Calibri" pitchFamily="34" charset="-120"/>
              </a:rPr>
              <a:t>"Both vector formats represent aggregated encodings of personality statements... We take this as heuristic motivation to investigate whether there is alignment between the results."</a:t>
            </a:r>
            <a:endParaRPr lang="en-US" sz="1100" dirty="0"/>
          </a:p>
        </p:txBody>
      </p:sp>
      <p:sp>
        <p:nvSpPr>
          <p:cNvPr id="17" name="Text 14"/>
          <p:cNvSpPr/>
          <p:nvPr/>
        </p:nvSpPr>
        <p:spPr>
          <a:xfrm>
            <a:off x="548640" y="4389120"/>
            <a:ext cx="8046720" cy="274320"/>
          </a:xfrm>
          <a:prstGeom prst="rect">
            <a:avLst/>
          </a:prstGeom>
          <a:noFill/>
          <a:ln/>
        </p:spPr>
        <p:txBody>
          <a:bodyPr wrap="square" lIns="0" tIns="0" rIns="0" bIns="0" rtlCol="0" anchor="ctr"/>
          <a:lstStyle/>
          <a:p>
            <a:pPr marL="0" indent="0">
              <a:buNone/>
            </a:pPr>
            <a:r>
              <a:rPr lang="en-US" sz="1000" dirty="0">
                <a:solidFill>
                  <a:srgbClr val="7B8794"/>
                </a:solidFill>
                <a:latin typeface="Calibri" pitchFamily="34" charset="0"/>
                <a:ea typeface="Calibri" pitchFamily="34" charset="-122"/>
                <a:cs typeface="Calibri" pitchFamily="34" charset="-120"/>
              </a:rPr>
              <a:t>— Guenole, D'Urso, Samo, Sun, &amp; Haslbeck (2025)</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3" name="Text 0"/>
          <p:cNvSpPr/>
          <p:nvPr/>
        </p:nvSpPr>
        <p:spPr>
          <a:xfrm>
            <a:off x="548640" y="274320"/>
            <a:ext cx="8046720" cy="594360"/>
          </a:xfrm>
          <a:prstGeom prst="rect">
            <a:avLst/>
          </a:prstGeom>
          <a:noFill/>
          <a:ln/>
        </p:spPr>
        <p:txBody>
          <a:bodyPr wrap="square" lIns="0" tIns="0" rIns="0" bIns="0" rtlCol="0" anchor="ctr"/>
          <a:lstStyle/>
          <a:p>
            <a:pPr marL="0" indent="0">
              <a:buNone/>
            </a:pPr>
            <a:r>
              <a:rPr lang="en-US" sz="2400" b="1" dirty="0">
                <a:solidFill>
                  <a:srgbClr val="323F4B"/>
                </a:solidFill>
                <a:latin typeface="Trebuchet MS" pitchFamily="34" charset="0"/>
                <a:ea typeface="Trebuchet MS" pitchFamily="34" charset="-122"/>
                <a:cs typeface="Trebuchet MS" pitchFamily="34" charset="-120"/>
              </a:rPr>
              <a:t>Converging Evidence for PFA</a:t>
            </a:r>
            <a:endParaRPr lang="en-US" sz="2400" dirty="0"/>
          </a:p>
        </p:txBody>
      </p:sp>
      <p:sp>
        <p:nvSpPr>
          <p:cNvPr id="4" name="Text 1"/>
          <p:cNvSpPr/>
          <p:nvPr/>
        </p:nvSpPr>
        <p:spPr>
          <a:xfrm>
            <a:off x="548640" y="822960"/>
            <a:ext cx="8046720" cy="32004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Dr. Philseok Lee</a:t>
            </a:r>
            <a:endParaRPr lang="en-US" sz="1100" dirty="0"/>
          </a:p>
        </p:txBody>
      </p:sp>
      <p:sp>
        <p:nvSpPr>
          <p:cNvPr id="5" name="Shape 2"/>
          <p:cNvSpPr/>
          <p:nvPr/>
        </p:nvSpPr>
        <p:spPr>
          <a:xfrm>
            <a:off x="0" y="0"/>
            <a:ext cx="9144000" cy="73152"/>
          </a:xfrm>
          <a:prstGeom prst="rect">
            <a:avLst/>
          </a:prstGeom>
          <a:solidFill>
            <a:srgbClr val="028090"/>
          </a:solidFill>
          <a:ln/>
        </p:spPr>
        <p:txBody>
          <a:bodyPr/>
          <a:lstStyle/>
          <a:p>
            <a:endParaRPr lang="en-US"/>
          </a:p>
        </p:txBody>
      </p:sp>
      <p:sp>
        <p:nvSpPr>
          <p:cNvPr id="6" name="Shape 3"/>
          <p:cNvSpPr/>
          <p:nvPr/>
        </p:nvSpPr>
        <p:spPr>
          <a:xfrm>
            <a:off x="548640" y="1234440"/>
            <a:ext cx="457200" cy="457200"/>
          </a:xfrm>
          <a:prstGeom prst="ellipse">
            <a:avLst/>
          </a:prstGeom>
          <a:solidFill>
            <a:srgbClr val="028090"/>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649224" y="1335024"/>
            <a:ext cx="256032" cy="256032"/>
          </a:xfrm>
          <a:prstGeom prst="rect">
            <a:avLst/>
          </a:prstGeom>
        </p:spPr>
      </p:pic>
      <p:sp>
        <p:nvSpPr>
          <p:cNvPr id="8" name="Text 4"/>
          <p:cNvSpPr/>
          <p:nvPr/>
        </p:nvSpPr>
        <p:spPr>
          <a:xfrm>
            <a:off x="1188720" y="1234440"/>
            <a:ext cx="2286000" cy="457200"/>
          </a:xfrm>
          <a:prstGeom prst="rect">
            <a:avLst/>
          </a:prstGeom>
          <a:noFill/>
          <a:ln/>
        </p:spPr>
        <p:txBody>
          <a:bodyPr wrap="square" lIns="0" tIns="0" rIns="0" bIns="0" rtlCol="0" anchor="ctr"/>
          <a:lstStyle/>
          <a:p>
            <a:pPr marL="0" indent="0">
              <a:buNone/>
            </a:pPr>
            <a:r>
              <a:rPr lang="en-US" sz="1200" b="1" dirty="0">
                <a:solidFill>
                  <a:srgbClr val="323F4B"/>
                </a:solidFill>
                <a:latin typeface="Trebuchet MS" pitchFamily="34" charset="0"/>
                <a:ea typeface="Trebuchet MS" pitchFamily="34" charset="-122"/>
                <a:cs typeface="Trebuchet MS" pitchFamily="34" charset="-120"/>
              </a:rPr>
              <a:t>Guenole et al. (2025)</a:t>
            </a:r>
            <a:endParaRPr lang="en-US" sz="1200" dirty="0"/>
          </a:p>
        </p:txBody>
      </p:sp>
      <p:sp>
        <p:nvSpPr>
          <p:cNvPr id="9" name="Text 5"/>
          <p:cNvSpPr/>
          <p:nvPr/>
        </p:nvSpPr>
        <p:spPr>
          <a:xfrm>
            <a:off x="3566160" y="1234440"/>
            <a:ext cx="5029200" cy="457200"/>
          </a:xfrm>
          <a:prstGeom prst="rect">
            <a:avLst/>
          </a:prstGeom>
          <a:noFill/>
          <a:ln/>
        </p:spPr>
        <p:txBody>
          <a:bodyPr wrap="square" lIns="0" tIns="0" rIns="0" bIns="0" rtlCol="0" anchor="ctr"/>
          <a:lstStyle/>
          <a:p>
            <a:pPr marL="0" indent="0">
              <a:buNone/>
            </a:pPr>
            <a:r>
              <a:rPr lang="en-US" sz="1100" dirty="0">
                <a:solidFill>
                  <a:srgbClr val="7B8794"/>
                </a:solidFill>
                <a:latin typeface="Calibri" pitchFamily="34" charset="0"/>
                <a:ea typeface="Calibri" pitchFamily="34" charset="-122"/>
                <a:cs typeface="Calibri" pitchFamily="34" charset="-120"/>
              </a:rPr>
              <a:t>PFA recovers NEO &amp; HEXACO structures; multi-transformer averaging outperforms single models</a:t>
            </a:r>
            <a:endParaRPr lang="en-US" sz="1100" dirty="0"/>
          </a:p>
        </p:txBody>
      </p:sp>
      <p:sp>
        <p:nvSpPr>
          <p:cNvPr id="10" name="Shape 6"/>
          <p:cNvSpPr/>
          <p:nvPr/>
        </p:nvSpPr>
        <p:spPr>
          <a:xfrm>
            <a:off x="548640" y="1965960"/>
            <a:ext cx="457200" cy="457200"/>
          </a:xfrm>
          <a:prstGeom prst="ellipse">
            <a:avLst/>
          </a:prstGeom>
          <a:solidFill>
            <a:srgbClr val="028090"/>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649224" y="2066544"/>
            <a:ext cx="256032" cy="256032"/>
          </a:xfrm>
          <a:prstGeom prst="rect">
            <a:avLst/>
          </a:prstGeom>
        </p:spPr>
      </p:pic>
      <p:sp>
        <p:nvSpPr>
          <p:cNvPr id="12" name="Text 7"/>
          <p:cNvSpPr/>
          <p:nvPr/>
        </p:nvSpPr>
        <p:spPr>
          <a:xfrm>
            <a:off x="1188720" y="1965960"/>
            <a:ext cx="2286000" cy="457200"/>
          </a:xfrm>
          <a:prstGeom prst="rect">
            <a:avLst/>
          </a:prstGeom>
          <a:noFill/>
          <a:ln/>
        </p:spPr>
        <p:txBody>
          <a:bodyPr wrap="square" lIns="0" tIns="0" rIns="0" bIns="0" rtlCol="0" anchor="ctr"/>
          <a:lstStyle/>
          <a:p>
            <a:pPr marL="0" indent="0">
              <a:buNone/>
            </a:pPr>
            <a:r>
              <a:rPr lang="en-US" sz="1200" b="1" dirty="0">
                <a:solidFill>
                  <a:srgbClr val="323F4B"/>
                </a:solidFill>
                <a:latin typeface="Trebuchet MS" pitchFamily="34" charset="0"/>
                <a:ea typeface="Trebuchet MS" pitchFamily="34" charset="-122"/>
                <a:cs typeface="Trebuchet MS" pitchFamily="34" charset="-120"/>
              </a:rPr>
              <a:t>Milano et al. (2025)</a:t>
            </a:r>
            <a:endParaRPr lang="en-US" sz="1200" dirty="0"/>
          </a:p>
        </p:txBody>
      </p:sp>
      <p:sp>
        <p:nvSpPr>
          <p:cNvPr id="13" name="Text 8"/>
          <p:cNvSpPr/>
          <p:nvPr/>
        </p:nvSpPr>
        <p:spPr>
          <a:xfrm>
            <a:off x="3566160" y="1965960"/>
            <a:ext cx="5029200" cy="457200"/>
          </a:xfrm>
          <a:prstGeom prst="rect">
            <a:avLst/>
          </a:prstGeom>
          <a:noFill/>
          <a:ln/>
        </p:spPr>
        <p:txBody>
          <a:bodyPr wrap="square" lIns="0" tIns="0" rIns="0" bIns="0" rtlCol="0" anchor="ctr"/>
          <a:lstStyle/>
          <a:p>
            <a:pPr marL="0" indent="0">
              <a:buNone/>
            </a:pPr>
            <a:r>
              <a:rPr lang="en-US" sz="1100" dirty="0">
                <a:solidFill>
                  <a:srgbClr val="7B8794"/>
                </a:solidFill>
                <a:latin typeface="Calibri" pitchFamily="34" charset="0"/>
                <a:ea typeface="Calibri" pitchFamily="34" charset="-122"/>
                <a:cs typeface="Calibri" pitchFamily="34" charset="-120"/>
              </a:rPr>
              <a:t>LLM embeddings predict a-priori factorial structure across 4 personality tests</a:t>
            </a:r>
            <a:endParaRPr lang="en-US" sz="1100" dirty="0"/>
          </a:p>
        </p:txBody>
      </p:sp>
      <p:sp>
        <p:nvSpPr>
          <p:cNvPr id="14" name="Shape 9"/>
          <p:cNvSpPr/>
          <p:nvPr/>
        </p:nvSpPr>
        <p:spPr>
          <a:xfrm>
            <a:off x="548640" y="2697480"/>
            <a:ext cx="457200" cy="457200"/>
          </a:xfrm>
          <a:prstGeom prst="ellipse">
            <a:avLst/>
          </a:prstGeom>
          <a:solidFill>
            <a:srgbClr val="028090"/>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649224" y="2798064"/>
            <a:ext cx="256032" cy="256032"/>
          </a:xfrm>
          <a:prstGeom prst="rect">
            <a:avLst/>
          </a:prstGeom>
        </p:spPr>
      </p:pic>
      <p:sp>
        <p:nvSpPr>
          <p:cNvPr id="16" name="Text 10"/>
          <p:cNvSpPr/>
          <p:nvPr/>
        </p:nvSpPr>
        <p:spPr>
          <a:xfrm>
            <a:off x="1188720" y="2697480"/>
            <a:ext cx="2286000" cy="457200"/>
          </a:xfrm>
          <a:prstGeom prst="rect">
            <a:avLst/>
          </a:prstGeom>
          <a:noFill/>
          <a:ln/>
        </p:spPr>
        <p:txBody>
          <a:bodyPr wrap="square" lIns="0" tIns="0" rIns="0" bIns="0" rtlCol="0" anchor="ctr"/>
          <a:lstStyle/>
          <a:p>
            <a:pPr marL="0" indent="0">
              <a:buNone/>
            </a:pPr>
            <a:r>
              <a:rPr lang="en-US" sz="1200" b="1" dirty="0">
                <a:solidFill>
                  <a:srgbClr val="323F4B"/>
                </a:solidFill>
                <a:latin typeface="Trebuchet MS" pitchFamily="34" charset="0"/>
                <a:ea typeface="Trebuchet MS" pitchFamily="34" charset="-122"/>
                <a:cs typeface="Trebuchet MS" pitchFamily="34" charset="-120"/>
              </a:rPr>
              <a:t>Hommel &amp; Arslan (2025)</a:t>
            </a:r>
            <a:endParaRPr lang="en-US" sz="1200" dirty="0"/>
          </a:p>
        </p:txBody>
      </p:sp>
      <p:sp>
        <p:nvSpPr>
          <p:cNvPr id="17" name="Text 11"/>
          <p:cNvSpPr/>
          <p:nvPr/>
        </p:nvSpPr>
        <p:spPr>
          <a:xfrm>
            <a:off x="3566160" y="2697480"/>
            <a:ext cx="5029200" cy="457200"/>
          </a:xfrm>
          <a:prstGeom prst="rect">
            <a:avLst/>
          </a:prstGeom>
          <a:noFill/>
          <a:ln/>
        </p:spPr>
        <p:txBody>
          <a:bodyPr wrap="square" lIns="0" tIns="0" rIns="0" bIns="0" rtlCol="0" anchor="ctr"/>
          <a:lstStyle/>
          <a:p>
            <a:pPr marL="0" indent="0">
              <a:buNone/>
            </a:pPr>
            <a:r>
              <a:rPr lang="en-US" sz="1100" dirty="0">
                <a:solidFill>
                  <a:srgbClr val="7B8794"/>
                </a:solidFill>
                <a:latin typeface="Calibri" pitchFamily="34" charset="0"/>
                <a:ea typeface="Calibri" pitchFamily="34" charset="-122"/>
                <a:cs typeface="Calibri" pitchFamily="34" charset="-120"/>
              </a:rPr>
              <a:t>Fine-tuned SurveyBot3000: r = .59 item correlations, r = .84 scale correlations</a:t>
            </a:r>
            <a:endParaRPr lang="en-US" sz="1100" dirty="0"/>
          </a:p>
        </p:txBody>
      </p:sp>
      <p:sp>
        <p:nvSpPr>
          <p:cNvPr id="18" name="Shape 12"/>
          <p:cNvSpPr/>
          <p:nvPr/>
        </p:nvSpPr>
        <p:spPr>
          <a:xfrm>
            <a:off x="548640" y="3429000"/>
            <a:ext cx="457200" cy="457200"/>
          </a:xfrm>
          <a:prstGeom prst="ellipse">
            <a:avLst/>
          </a:prstGeom>
          <a:solidFill>
            <a:srgbClr val="028090"/>
          </a:solidFill>
          <a:ln/>
        </p:spPr>
        <p:txBody>
          <a:bodyPr/>
          <a:lstStyle/>
          <a:p>
            <a:endParaRPr lang="en-US"/>
          </a:p>
        </p:txBody>
      </p:sp>
      <p:pic>
        <p:nvPicPr>
          <p:cNvPr id="19" name="Image 3" descr="preencoded.png"/>
          <p:cNvPicPr>
            <a:picLocks noChangeAspect="1"/>
          </p:cNvPicPr>
          <p:nvPr/>
        </p:nvPicPr>
        <p:blipFill>
          <a:blip r:embed="rId6"/>
          <a:stretch>
            <a:fillRect/>
          </a:stretch>
        </p:blipFill>
        <p:spPr>
          <a:xfrm>
            <a:off x="649224" y="3529584"/>
            <a:ext cx="256032" cy="256032"/>
          </a:xfrm>
          <a:prstGeom prst="rect">
            <a:avLst/>
          </a:prstGeom>
        </p:spPr>
      </p:pic>
      <p:sp>
        <p:nvSpPr>
          <p:cNvPr id="20" name="Text 13"/>
          <p:cNvSpPr/>
          <p:nvPr/>
        </p:nvSpPr>
        <p:spPr>
          <a:xfrm>
            <a:off x="1188720" y="3429000"/>
            <a:ext cx="2286000" cy="457200"/>
          </a:xfrm>
          <a:prstGeom prst="rect">
            <a:avLst/>
          </a:prstGeom>
          <a:noFill/>
          <a:ln/>
        </p:spPr>
        <p:txBody>
          <a:bodyPr wrap="square" lIns="0" tIns="0" rIns="0" bIns="0" rtlCol="0" anchor="ctr"/>
          <a:lstStyle/>
          <a:p>
            <a:pPr marL="0" indent="0">
              <a:buNone/>
            </a:pPr>
            <a:r>
              <a:rPr lang="en-US" sz="1200" b="1" dirty="0">
                <a:solidFill>
                  <a:srgbClr val="323F4B"/>
                </a:solidFill>
                <a:latin typeface="Trebuchet MS" pitchFamily="34" charset="0"/>
                <a:ea typeface="Trebuchet MS" pitchFamily="34" charset="-122"/>
                <a:cs typeface="Trebuchet MS" pitchFamily="34" charset="-120"/>
              </a:rPr>
              <a:t>Varrasi et al. (2026)</a:t>
            </a:r>
            <a:endParaRPr lang="en-US" sz="1200" dirty="0"/>
          </a:p>
        </p:txBody>
      </p:sp>
      <p:sp>
        <p:nvSpPr>
          <p:cNvPr id="21" name="Text 14"/>
          <p:cNvSpPr/>
          <p:nvPr/>
        </p:nvSpPr>
        <p:spPr>
          <a:xfrm>
            <a:off x="3566160" y="3429000"/>
            <a:ext cx="5029200" cy="457200"/>
          </a:xfrm>
          <a:prstGeom prst="rect">
            <a:avLst/>
          </a:prstGeom>
          <a:noFill/>
          <a:ln/>
        </p:spPr>
        <p:txBody>
          <a:bodyPr wrap="square" lIns="0" tIns="0" rIns="0" bIns="0" rtlCol="0" anchor="ctr"/>
          <a:lstStyle/>
          <a:p>
            <a:pPr marL="0" indent="0">
              <a:buNone/>
            </a:pPr>
            <a:r>
              <a:rPr lang="en-US" sz="1100" dirty="0">
                <a:solidFill>
                  <a:srgbClr val="7B8794"/>
                </a:solidFill>
                <a:latin typeface="Calibri" pitchFamily="34" charset="0"/>
                <a:ea typeface="Calibri" pitchFamily="34" charset="-122"/>
                <a:cs typeface="Calibri" pitchFamily="34" charset="-120"/>
              </a:rPr>
              <a:t>PFA extends to clinical/health measures; excellent English recovery, variable cross-language</a:t>
            </a:r>
            <a:endParaRPr lang="en-US" sz="1100" dirty="0"/>
          </a:p>
        </p:txBody>
      </p:sp>
      <p:sp>
        <p:nvSpPr>
          <p:cNvPr id="22" name="Shape 15"/>
          <p:cNvSpPr/>
          <p:nvPr/>
        </p:nvSpPr>
        <p:spPr>
          <a:xfrm>
            <a:off x="548640" y="4160520"/>
            <a:ext cx="457200" cy="457200"/>
          </a:xfrm>
          <a:prstGeom prst="ellipse">
            <a:avLst/>
          </a:prstGeom>
          <a:solidFill>
            <a:srgbClr val="028090"/>
          </a:solidFill>
          <a:ln/>
        </p:spPr>
        <p:txBody>
          <a:bodyPr/>
          <a:lstStyle/>
          <a:p>
            <a:endParaRPr lang="en-US"/>
          </a:p>
        </p:txBody>
      </p:sp>
      <p:pic>
        <p:nvPicPr>
          <p:cNvPr id="23" name="Image 4" descr="preencoded.png"/>
          <p:cNvPicPr>
            <a:picLocks noChangeAspect="1"/>
          </p:cNvPicPr>
          <p:nvPr/>
        </p:nvPicPr>
        <p:blipFill>
          <a:blip r:embed="rId7"/>
          <a:stretch>
            <a:fillRect/>
          </a:stretch>
        </p:blipFill>
        <p:spPr>
          <a:xfrm>
            <a:off x="649224" y="4261104"/>
            <a:ext cx="256032" cy="256032"/>
          </a:xfrm>
          <a:prstGeom prst="rect">
            <a:avLst/>
          </a:prstGeom>
        </p:spPr>
      </p:pic>
      <p:sp>
        <p:nvSpPr>
          <p:cNvPr id="24" name="Text 16"/>
          <p:cNvSpPr/>
          <p:nvPr/>
        </p:nvSpPr>
        <p:spPr>
          <a:xfrm>
            <a:off x="1188720" y="4160520"/>
            <a:ext cx="2286000" cy="457200"/>
          </a:xfrm>
          <a:prstGeom prst="rect">
            <a:avLst/>
          </a:prstGeom>
          <a:noFill/>
          <a:ln/>
        </p:spPr>
        <p:txBody>
          <a:bodyPr wrap="square" lIns="0" tIns="0" rIns="0" bIns="0" rtlCol="0" anchor="ctr"/>
          <a:lstStyle/>
          <a:p>
            <a:pPr marL="0" indent="0">
              <a:buNone/>
            </a:pPr>
            <a:r>
              <a:rPr lang="en-US" sz="1200" b="1" dirty="0">
                <a:solidFill>
                  <a:srgbClr val="323F4B"/>
                </a:solidFill>
                <a:latin typeface="Trebuchet MS" pitchFamily="34" charset="0"/>
                <a:ea typeface="Trebuchet MS" pitchFamily="34" charset="-122"/>
                <a:cs typeface="Trebuchet MS" pitchFamily="34" charset="-120"/>
              </a:rPr>
              <a:t>Suárez-Álvarez et al. (2026)</a:t>
            </a:r>
            <a:endParaRPr lang="en-US" sz="1200" dirty="0"/>
          </a:p>
        </p:txBody>
      </p:sp>
      <p:sp>
        <p:nvSpPr>
          <p:cNvPr id="25" name="Text 17"/>
          <p:cNvSpPr/>
          <p:nvPr/>
        </p:nvSpPr>
        <p:spPr>
          <a:xfrm>
            <a:off x="3566160" y="4160520"/>
            <a:ext cx="5029200" cy="457200"/>
          </a:xfrm>
          <a:prstGeom prst="rect">
            <a:avLst/>
          </a:prstGeom>
          <a:noFill/>
          <a:ln/>
        </p:spPr>
        <p:txBody>
          <a:bodyPr wrap="square" lIns="0" tIns="0" rIns="0" bIns="0" rtlCol="0" anchor="ctr"/>
          <a:lstStyle/>
          <a:p>
            <a:pPr marL="0" indent="0">
              <a:buNone/>
            </a:pPr>
            <a:r>
              <a:rPr lang="en-US" sz="1100" dirty="0">
                <a:solidFill>
                  <a:srgbClr val="7B8794"/>
                </a:solidFill>
                <a:latin typeface="Calibri" pitchFamily="34" charset="0"/>
                <a:ea typeface="Calibri" pitchFamily="34" charset="-122"/>
                <a:cs typeface="Calibri" pitchFamily="34" charset="-120"/>
              </a:rPr>
              <a:t>First independent practical guide for AI in test construction; confirms PFA utility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838"/>
        </a:solidFill>
        <a:effectLst/>
      </p:bgPr>
    </p:bg>
    <p:spTree>
      <p:nvGrpSpPr>
        <p:cNvPr id="1" name=""/>
        <p:cNvGrpSpPr/>
        <p:nvPr/>
      </p:nvGrpSpPr>
      <p:grpSpPr>
        <a:xfrm>
          <a:off x="0" y="0"/>
          <a:ext cx="0" cy="0"/>
          <a:chOff x="0" y="0"/>
          <a:chExt cx="0" cy="0"/>
        </a:xfrm>
      </p:grpSpPr>
      <p:sp>
        <p:nvSpPr>
          <p:cNvPr id="3" name="Text 0"/>
          <p:cNvSpPr/>
          <p:nvPr/>
        </p:nvSpPr>
        <p:spPr>
          <a:xfrm>
            <a:off x="731520" y="1463040"/>
            <a:ext cx="7680960" cy="1097280"/>
          </a:xfrm>
          <a:prstGeom prst="rect">
            <a:avLst/>
          </a:prstGeom>
          <a:noFill/>
          <a:ln/>
        </p:spPr>
        <p:txBody>
          <a:bodyPr wrap="square" lIns="0" tIns="0" rIns="0" bIns="0" rtlCol="0" anchor="ctr"/>
          <a:lstStyle/>
          <a:p>
            <a:pPr marL="0" indent="0">
              <a:buNone/>
            </a:pPr>
            <a:r>
              <a:rPr lang="en-US" sz="4000" b="1" dirty="0">
                <a:solidFill>
                  <a:srgbClr val="FFFFFF"/>
                </a:solidFill>
                <a:latin typeface="Trebuchet MS" pitchFamily="34" charset="0"/>
                <a:ea typeface="Trebuchet MS" pitchFamily="34" charset="-122"/>
                <a:cs typeface="Trebuchet MS" pitchFamily="34" charset="-120"/>
              </a:rPr>
              <a:t>Pipeline Architecture</a:t>
            </a:r>
            <a:endParaRPr lang="en-US" sz="4000" dirty="0"/>
          </a:p>
        </p:txBody>
      </p:sp>
      <p:sp>
        <p:nvSpPr>
          <p:cNvPr id="4" name="Text 1"/>
          <p:cNvSpPr/>
          <p:nvPr/>
        </p:nvSpPr>
        <p:spPr>
          <a:xfrm>
            <a:off x="731520" y="2560320"/>
            <a:ext cx="7680960" cy="731520"/>
          </a:xfrm>
          <a:prstGeom prst="rect">
            <a:avLst/>
          </a:prstGeom>
          <a:noFill/>
          <a:ln/>
        </p:spPr>
        <p:txBody>
          <a:bodyPr wrap="square" lIns="0" tIns="0" rIns="0" bIns="0" rtlCol="0" anchor="ctr"/>
          <a:lstStyle/>
          <a:p>
            <a:pPr marL="0" indent="0">
              <a:buNone/>
            </a:pPr>
            <a:r>
              <a:rPr lang="en-US" sz="1800" dirty="0">
                <a:solidFill>
                  <a:srgbClr val="9AA5B1"/>
                </a:solidFill>
                <a:latin typeface="Calibri" pitchFamily="34" charset="0"/>
                <a:ea typeface="Calibri" pitchFamily="34" charset="-122"/>
                <a:cs typeface="Calibri" pitchFamily="34" charset="-120"/>
              </a:rPr>
              <a:t>5 phases — one notebook — full audit trail</a:t>
            </a:r>
            <a:endParaRPr lang="en-US" sz="1800" dirty="0"/>
          </a:p>
        </p:txBody>
      </p:sp>
      <p:sp>
        <p:nvSpPr>
          <p:cNvPr id="5" name="Shape 2"/>
          <p:cNvSpPr/>
          <p:nvPr/>
        </p:nvSpPr>
        <p:spPr>
          <a:xfrm>
            <a:off x="731520" y="3291840"/>
            <a:ext cx="2286000" cy="36576"/>
          </a:xfrm>
          <a:prstGeom prst="rect">
            <a:avLst/>
          </a:prstGeom>
          <a:solidFill>
            <a:srgbClr val="028090"/>
          </a:solidFill>
          <a:ln/>
        </p:spPr>
        <p:txBody>
          <a:bodyPr/>
          <a:lstStyle/>
          <a:p>
            <a:endParaRPr lang="en-US"/>
          </a:p>
        </p:txBody>
      </p:sp>
      <p:sp>
        <p:nvSpPr>
          <p:cNvPr id="6" name="Shape 3"/>
          <p:cNvSpPr/>
          <p:nvPr/>
        </p:nvSpPr>
        <p:spPr>
          <a:xfrm>
            <a:off x="365760" y="3657600"/>
            <a:ext cx="1554480" cy="1188720"/>
          </a:xfrm>
          <a:prstGeom prst="rect">
            <a:avLst/>
          </a:prstGeom>
          <a:solidFill>
            <a:srgbClr val="028090"/>
          </a:solidFill>
          <a:ln/>
          <a:effectLst>
            <a:outerShdw blurRad="76200" dist="25400" dir="8100000" algn="bl" rotWithShape="0">
              <a:srgbClr val="000000">
                <a:alpha val="12000"/>
              </a:srgbClr>
            </a:outerShdw>
          </a:effectLst>
        </p:spPr>
        <p:txBody>
          <a:bodyPr/>
          <a:lstStyle/>
          <a:p>
            <a:endParaRPr lang="en-US"/>
          </a:p>
        </p:txBody>
      </p:sp>
      <p:sp>
        <p:nvSpPr>
          <p:cNvPr id="7" name="Text 4"/>
          <p:cNvSpPr/>
          <p:nvPr/>
        </p:nvSpPr>
        <p:spPr>
          <a:xfrm>
            <a:off x="365760" y="3703320"/>
            <a:ext cx="1554480" cy="320040"/>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1</a:t>
            </a:r>
            <a:endParaRPr lang="en-US" sz="2000" dirty="0"/>
          </a:p>
        </p:txBody>
      </p:sp>
      <p:sp>
        <p:nvSpPr>
          <p:cNvPr id="8" name="Text 5"/>
          <p:cNvSpPr/>
          <p:nvPr/>
        </p:nvSpPr>
        <p:spPr>
          <a:xfrm>
            <a:off x="457200" y="4023360"/>
            <a:ext cx="1371600" cy="502920"/>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Behavioral Domain</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Generation &amp; Validation</a:t>
            </a:r>
            <a:endParaRPr lang="en-US" sz="900" dirty="0"/>
          </a:p>
        </p:txBody>
      </p:sp>
      <p:sp>
        <p:nvSpPr>
          <p:cNvPr id="9" name="Text 6"/>
          <p:cNvSpPr/>
          <p:nvPr/>
        </p:nvSpPr>
        <p:spPr>
          <a:xfrm>
            <a:off x="365760" y="4572000"/>
            <a:ext cx="1554480" cy="228600"/>
          </a:xfrm>
          <a:prstGeom prst="rect">
            <a:avLst/>
          </a:prstGeom>
          <a:noFill/>
          <a:ln/>
        </p:spPr>
        <p:txBody>
          <a:bodyPr wrap="square" lIns="0" tIns="0" rIns="0" bIns="0" rtlCol="0" anchor="ctr"/>
          <a:lstStyle/>
          <a:p>
            <a:pPr marL="0" indent="0" algn="ctr">
              <a:buNone/>
            </a:pPr>
            <a:r>
              <a:rPr lang="en-US" sz="700" dirty="0">
                <a:solidFill>
                  <a:schemeClr val="bg1"/>
                </a:solidFill>
                <a:latin typeface="Calibri" pitchFamily="34" charset="0"/>
                <a:ea typeface="Calibri" pitchFamily="34" charset="-122"/>
                <a:cs typeface="Calibri" pitchFamily="34" charset="-120"/>
              </a:rPr>
              <a:t>01_behavioral_domains.xlsx</a:t>
            </a:r>
            <a:endParaRPr lang="en-US" sz="700" dirty="0">
              <a:solidFill>
                <a:schemeClr val="bg1"/>
              </a:solidFill>
            </a:endParaRPr>
          </a:p>
        </p:txBody>
      </p:sp>
      <p:pic>
        <p:nvPicPr>
          <p:cNvPr id="10" name="Image 0" descr="preencoded.png"/>
          <p:cNvPicPr>
            <a:picLocks noChangeAspect="1"/>
          </p:cNvPicPr>
          <p:nvPr/>
        </p:nvPicPr>
        <p:blipFill>
          <a:blip r:embed="rId3"/>
          <a:stretch>
            <a:fillRect/>
          </a:stretch>
        </p:blipFill>
        <p:spPr>
          <a:xfrm>
            <a:off x="1938528" y="4023360"/>
            <a:ext cx="146304" cy="146304"/>
          </a:xfrm>
          <a:prstGeom prst="rect">
            <a:avLst/>
          </a:prstGeom>
        </p:spPr>
      </p:pic>
      <p:sp>
        <p:nvSpPr>
          <p:cNvPr id="11" name="Shape 7"/>
          <p:cNvSpPr/>
          <p:nvPr/>
        </p:nvSpPr>
        <p:spPr>
          <a:xfrm>
            <a:off x="2103120" y="3657600"/>
            <a:ext cx="1554480" cy="1188720"/>
          </a:xfrm>
          <a:prstGeom prst="rect">
            <a:avLst/>
          </a:prstGeom>
          <a:solidFill>
            <a:srgbClr val="00A896"/>
          </a:solidFill>
          <a:ln/>
          <a:effectLst>
            <a:outerShdw blurRad="76200" dist="25400" dir="8100000" algn="bl" rotWithShape="0">
              <a:srgbClr val="000000">
                <a:alpha val="12000"/>
              </a:srgbClr>
            </a:outerShdw>
          </a:effectLst>
        </p:spPr>
        <p:txBody>
          <a:bodyPr/>
          <a:lstStyle/>
          <a:p>
            <a:endParaRPr lang="en-US"/>
          </a:p>
        </p:txBody>
      </p:sp>
      <p:sp>
        <p:nvSpPr>
          <p:cNvPr id="12" name="Text 8"/>
          <p:cNvSpPr/>
          <p:nvPr/>
        </p:nvSpPr>
        <p:spPr>
          <a:xfrm>
            <a:off x="2103120" y="3703320"/>
            <a:ext cx="1554480" cy="320040"/>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2</a:t>
            </a:r>
            <a:endParaRPr lang="en-US" sz="2000" dirty="0"/>
          </a:p>
        </p:txBody>
      </p:sp>
      <p:sp>
        <p:nvSpPr>
          <p:cNvPr id="13" name="Text 9"/>
          <p:cNvSpPr/>
          <p:nvPr/>
        </p:nvSpPr>
        <p:spPr>
          <a:xfrm>
            <a:off x="2194560" y="4023360"/>
            <a:ext cx="1371600" cy="502920"/>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Item</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Generation</a:t>
            </a:r>
            <a:endParaRPr lang="en-US" sz="900" dirty="0"/>
          </a:p>
        </p:txBody>
      </p:sp>
      <p:sp>
        <p:nvSpPr>
          <p:cNvPr id="14" name="Text 10"/>
          <p:cNvSpPr/>
          <p:nvPr/>
        </p:nvSpPr>
        <p:spPr>
          <a:xfrm>
            <a:off x="2103120" y="4572000"/>
            <a:ext cx="1554480" cy="228600"/>
          </a:xfrm>
          <a:prstGeom prst="rect">
            <a:avLst/>
          </a:prstGeom>
          <a:noFill/>
          <a:ln/>
        </p:spPr>
        <p:txBody>
          <a:bodyPr wrap="square" lIns="0" tIns="0" rIns="0" bIns="0" rtlCol="0" anchor="ctr"/>
          <a:lstStyle/>
          <a:p>
            <a:pPr marL="0" indent="0" algn="ctr">
              <a:buNone/>
            </a:pPr>
            <a:r>
              <a:rPr lang="en-US" sz="700" dirty="0">
                <a:solidFill>
                  <a:schemeClr val="bg1"/>
                </a:solidFill>
                <a:latin typeface="Calibri" pitchFamily="34" charset="0"/>
                <a:ea typeface="Calibri" pitchFamily="34" charset="-122"/>
                <a:cs typeface="Calibri" pitchFamily="34" charset="-120"/>
              </a:rPr>
              <a:t>02_generated_items.xlsx</a:t>
            </a:r>
            <a:endParaRPr lang="en-US" sz="700" dirty="0">
              <a:solidFill>
                <a:schemeClr val="bg1"/>
              </a:solidFill>
            </a:endParaRPr>
          </a:p>
        </p:txBody>
      </p:sp>
      <p:pic>
        <p:nvPicPr>
          <p:cNvPr id="15" name="Image 1" descr="preencoded.png"/>
          <p:cNvPicPr>
            <a:picLocks noChangeAspect="1"/>
          </p:cNvPicPr>
          <p:nvPr/>
        </p:nvPicPr>
        <p:blipFill>
          <a:blip r:embed="rId3"/>
          <a:stretch>
            <a:fillRect/>
          </a:stretch>
        </p:blipFill>
        <p:spPr>
          <a:xfrm>
            <a:off x="3675888" y="4023360"/>
            <a:ext cx="146304" cy="146304"/>
          </a:xfrm>
          <a:prstGeom prst="rect">
            <a:avLst/>
          </a:prstGeom>
        </p:spPr>
      </p:pic>
      <p:sp>
        <p:nvSpPr>
          <p:cNvPr id="16" name="Shape 11"/>
          <p:cNvSpPr/>
          <p:nvPr/>
        </p:nvSpPr>
        <p:spPr>
          <a:xfrm>
            <a:off x="3840480" y="3657600"/>
            <a:ext cx="1554480" cy="1188720"/>
          </a:xfrm>
          <a:prstGeom prst="rect">
            <a:avLst/>
          </a:prstGeom>
          <a:solidFill>
            <a:srgbClr val="02C39A"/>
          </a:solidFill>
          <a:ln/>
          <a:effectLst>
            <a:outerShdw blurRad="76200" dist="25400" dir="8100000" algn="bl" rotWithShape="0">
              <a:srgbClr val="000000">
                <a:alpha val="12000"/>
              </a:srgbClr>
            </a:outerShdw>
          </a:effectLst>
        </p:spPr>
        <p:txBody>
          <a:bodyPr/>
          <a:lstStyle/>
          <a:p>
            <a:endParaRPr lang="en-US"/>
          </a:p>
        </p:txBody>
      </p:sp>
      <p:sp>
        <p:nvSpPr>
          <p:cNvPr id="17" name="Text 12"/>
          <p:cNvSpPr/>
          <p:nvPr/>
        </p:nvSpPr>
        <p:spPr>
          <a:xfrm>
            <a:off x="3840480" y="3703320"/>
            <a:ext cx="1554480" cy="320040"/>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3</a:t>
            </a:r>
            <a:endParaRPr lang="en-US" sz="2000" dirty="0"/>
          </a:p>
        </p:txBody>
      </p:sp>
      <p:sp>
        <p:nvSpPr>
          <p:cNvPr id="18" name="Text 13"/>
          <p:cNvSpPr/>
          <p:nvPr/>
        </p:nvSpPr>
        <p:spPr>
          <a:xfrm>
            <a:off x="3931920" y="4023360"/>
            <a:ext cx="1371600" cy="502920"/>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Readability &amp;</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Bias Analysis</a:t>
            </a:r>
            <a:endParaRPr lang="en-US" sz="900" dirty="0"/>
          </a:p>
        </p:txBody>
      </p:sp>
      <p:sp>
        <p:nvSpPr>
          <p:cNvPr id="19" name="Text 14"/>
          <p:cNvSpPr/>
          <p:nvPr/>
        </p:nvSpPr>
        <p:spPr>
          <a:xfrm>
            <a:off x="3840480" y="4572000"/>
            <a:ext cx="1554480" cy="228600"/>
          </a:xfrm>
          <a:prstGeom prst="rect">
            <a:avLst/>
          </a:prstGeom>
          <a:noFill/>
          <a:ln/>
        </p:spPr>
        <p:txBody>
          <a:bodyPr wrap="square" lIns="0" tIns="0" rIns="0" bIns="0" rtlCol="0" anchor="ctr"/>
          <a:lstStyle/>
          <a:p>
            <a:pPr marL="0" indent="0" algn="ctr">
              <a:buNone/>
            </a:pPr>
            <a:r>
              <a:rPr lang="en-US" sz="700" dirty="0">
                <a:solidFill>
                  <a:schemeClr val="bg1"/>
                </a:solidFill>
                <a:latin typeface="Calibri" pitchFamily="34" charset="0"/>
                <a:ea typeface="Calibri" pitchFamily="34" charset="-122"/>
                <a:cs typeface="Calibri" pitchFamily="34" charset="-120"/>
              </a:rPr>
              <a:t>03_readability_bias.xlsx</a:t>
            </a:r>
            <a:endParaRPr lang="en-US" sz="700" dirty="0">
              <a:solidFill>
                <a:schemeClr val="bg1"/>
              </a:solidFill>
            </a:endParaRPr>
          </a:p>
        </p:txBody>
      </p:sp>
      <p:pic>
        <p:nvPicPr>
          <p:cNvPr id="20" name="Image 2" descr="preencoded.png"/>
          <p:cNvPicPr>
            <a:picLocks noChangeAspect="1"/>
          </p:cNvPicPr>
          <p:nvPr/>
        </p:nvPicPr>
        <p:blipFill>
          <a:blip r:embed="rId3"/>
          <a:stretch>
            <a:fillRect/>
          </a:stretch>
        </p:blipFill>
        <p:spPr>
          <a:xfrm>
            <a:off x="5413248" y="4023360"/>
            <a:ext cx="146304" cy="146304"/>
          </a:xfrm>
          <a:prstGeom prst="rect">
            <a:avLst/>
          </a:prstGeom>
        </p:spPr>
      </p:pic>
      <p:sp>
        <p:nvSpPr>
          <p:cNvPr id="21" name="Shape 15"/>
          <p:cNvSpPr/>
          <p:nvPr/>
        </p:nvSpPr>
        <p:spPr>
          <a:xfrm>
            <a:off x="5577840" y="3657600"/>
            <a:ext cx="1554480" cy="1188720"/>
          </a:xfrm>
          <a:prstGeom prst="rect">
            <a:avLst/>
          </a:prstGeom>
          <a:solidFill>
            <a:srgbClr val="F5A623"/>
          </a:solidFill>
          <a:ln/>
          <a:effectLst>
            <a:outerShdw blurRad="76200" dist="25400" dir="8100000" algn="bl" rotWithShape="0">
              <a:srgbClr val="000000">
                <a:alpha val="12000"/>
              </a:srgbClr>
            </a:outerShdw>
          </a:effectLst>
        </p:spPr>
        <p:txBody>
          <a:bodyPr/>
          <a:lstStyle/>
          <a:p>
            <a:endParaRPr lang="en-US"/>
          </a:p>
        </p:txBody>
      </p:sp>
      <p:sp>
        <p:nvSpPr>
          <p:cNvPr id="22" name="Text 16"/>
          <p:cNvSpPr/>
          <p:nvPr/>
        </p:nvSpPr>
        <p:spPr>
          <a:xfrm>
            <a:off x="5577840" y="3703320"/>
            <a:ext cx="1554480" cy="320040"/>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4</a:t>
            </a:r>
            <a:endParaRPr lang="en-US" sz="2000" dirty="0"/>
          </a:p>
        </p:txBody>
      </p:sp>
      <p:sp>
        <p:nvSpPr>
          <p:cNvPr id="23" name="Text 17"/>
          <p:cNvSpPr/>
          <p:nvPr/>
        </p:nvSpPr>
        <p:spPr>
          <a:xfrm>
            <a:off x="5669280" y="4023360"/>
            <a:ext cx="1371600" cy="502920"/>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Content Validity</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(LLM SMEs)</a:t>
            </a:r>
            <a:endParaRPr lang="en-US" sz="900" dirty="0"/>
          </a:p>
        </p:txBody>
      </p:sp>
      <p:sp>
        <p:nvSpPr>
          <p:cNvPr id="24" name="Text 18"/>
          <p:cNvSpPr/>
          <p:nvPr/>
        </p:nvSpPr>
        <p:spPr>
          <a:xfrm>
            <a:off x="5577840" y="4572000"/>
            <a:ext cx="1554480" cy="228600"/>
          </a:xfrm>
          <a:prstGeom prst="rect">
            <a:avLst/>
          </a:prstGeom>
          <a:noFill/>
          <a:ln/>
        </p:spPr>
        <p:txBody>
          <a:bodyPr wrap="square" lIns="0" tIns="0" rIns="0" bIns="0" rtlCol="0" anchor="ctr"/>
          <a:lstStyle/>
          <a:p>
            <a:pPr marL="0" indent="0" algn="ctr">
              <a:buNone/>
            </a:pPr>
            <a:r>
              <a:rPr lang="en-US" sz="700" dirty="0">
                <a:solidFill>
                  <a:schemeClr val="bg1"/>
                </a:solidFill>
                <a:latin typeface="Calibri" pitchFamily="34" charset="0"/>
                <a:ea typeface="Calibri" pitchFamily="34" charset="-122"/>
                <a:cs typeface="Calibri" pitchFamily="34" charset="-120"/>
              </a:rPr>
              <a:t>04_content_validity.xlsx</a:t>
            </a:r>
            <a:endParaRPr lang="en-US" sz="700" dirty="0">
              <a:solidFill>
                <a:schemeClr val="bg1"/>
              </a:solidFill>
            </a:endParaRPr>
          </a:p>
        </p:txBody>
      </p:sp>
      <p:pic>
        <p:nvPicPr>
          <p:cNvPr id="25" name="Image 3" descr="preencoded.png"/>
          <p:cNvPicPr>
            <a:picLocks noChangeAspect="1"/>
          </p:cNvPicPr>
          <p:nvPr/>
        </p:nvPicPr>
        <p:blipFill>
          <a:blip r:embed="rId3"/>
          <a:stretch>
            <a:fillRect/>
          </a:stretch>
        </p:blipFill>
        <p:spPr>
          <a:xfrm>
            <a:off x="7150608" y="4023360"/>
            <a:ext cx="146304" cy="146304"/>
          </a:xfrm>
          <a:prstGeom prst="rect">
            <a:avLst/>
          </a:prstGeom>
        </p:spPr>
      </p:pic>
      <p:sp>
        <p:nvSpPr>
          <p:cNvPr id="26" name="Shape 19"/>
          <p:cNvSpPr/>
          <p:nvPr/>
        </p:nvSpPr>
        <p:spPr>
          <a:xfrm>
            <a:off x="7315200" y="3657600"/>
            <a:ext cx="1554480" cy="1188720"/>
          </a:xfrm>
          <a:prstGeom prst="rect">
            <a:avLst/>
          </a:prstGeom>
          <a:solidFill>
            <a:srgbClr val="E85D4A"/>
          </a:solidFill>
          <a:ln/>
          <a:effectLst>
            <a:outerShdw blurRad="76200" dist="25400" dir="8100000" algn="bl" rotWithShape="0">
              <a:srgbClr val="000000">
                <a:alpha val="12000"/>
              </a:srgbClr>
            </a:outerShdw>
          </a:effectLst>
        </p:spPr>
        <p:txBody>
          <a:bodyPr/>
          <a:lstStyle/>
          <a:p>
            <a:endParaRPr lang="en-US"/>
          </a:p>
        </p:txBody>
      </p:sp>
      <p:sp>
        <p:nvSpPr>
          <p:cNvPr id="27" name="Text 20"/>
          <p:cNvSpPr/>
          <p:nvPr/>
        </p:nvSpPr>
        <p:spPr>
          <a:xfrm>
            <a:off x="7315200" y="3703320"/>
            <a:ext cx="1554480" cy="320040"/>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5</a:t>
            </a:r>
            <a:endParaRPr lang="en-US" sz="2000" dirty="0"/>
          </a:p>
        </p:txBody>
      </p:sp>
      <p:sp>
        <p:nvSpPr>
          <p:cNvPr id="28" name="Text 21"/>
          <p:cNvSpPr/>
          <p:nvPr/>
        </p:nvSpPr>
        <p:spPr>
          <a:xfrm>
            <a:off x="7406640" y="4023360"/>
            <a:ext cx="1371600" cy="502920"/>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Pseudo-Factor Analysis</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&amp; Final Review</a:t>
            </a:r>
            <a:endParaRPr lang="en-US" sz="900" dirty="0"/>
          </a:p>
        </p:txBody>
      </p:sp>
      <p:sp>
        <p:nvSpPr>
          <p:cNvPr id="29" name="Text 22"/>
          <p:cNvSpPr/>
          <p:nvPr/>
        </p:nvSpPr>
        <p:spPr>
          <a:xfrm>
            <a:off x="7315200" y="4572000"/>
            <a:ext cx="1554480" cy="228600"/>
          </a:xfrm>
          <a:prstGeom prst="rect">
            <a:avLst/>
          </a:prstGeom>
          <a:noFill/>
          <a:ln/>
        </p:spPr>
        <p:txBody>
          <a:bodyPr wrap="square" lIns="0" tIns="0" rIns="0" bIns="0" rtlCol="0" anchor="ctr"/>
          <a:lstStyle/>
          <a:p>
            <a:pPr marL="0" indent="0" algn="ctr">
              <a:buNone/>
            </a:pPr>
            <a:r>
              <a:rPr lang="en-US" sz="700" dirty="0">
                <a:solidFill>
                  <a:schemeClr val="bg1"/>
                </a:solidFill>
                <a:latin typeface="Calibri" pitchFamily="34" charset="0"/>
                <a:ea typeface="Calibri" pitchFamily="34" charset="-122"/>
                <a:cs typeface="Calibri" pitchFamily="34" charset="-120"/>
              </a:rPr>
              <a:t>05_pseudo_factor_analysis.xlsx</a:t>
            </a:r>
            <a:endParaRPr lang="en-US" sz="70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3" name="Text 0"/>
          <p:cNvSpPr/>
          <p:nvPr/>
        </p:nvSpPr>
        <p:spPr>
          <a:xfrm>
            <a:off x="548640" y="274320"/>
            <a:ext cx="8046720" cy="594360"/>
          </a:xfrm>
          <a:prstGeom prst="rect">
            <a:avLst/>
          </a:prstGeom>
          <a:noFill/>
          <a:ln/>
        </p:spPr>
        <p:txBody>
          <a:bodyPr wrap="square" lIns="0" tIns="0" rIns="0" bIns="0" rtlCol="0" anchor="ctr"/>
          <a:lstStyle/>
          <a:p>
            <a:pPr marL="0" indent="0">
              <a:buNone/>
            </a:pPr>
            <a:r>
              <a:rPr lang="en-US" sz="2400" b="1" dirty="0">
                <a:solidFill>
                  <a:srgbClr val="323F4B"/>
                </a:solidFill>
                <a:latin typeface="Trebuchet MS" pitchFamily="34" charset="0"/>
                <a:ea typeface="Trebuchet MS" pitchFamily="34" charset="-122"/>
                <a:cs typeface="Trebuchet MS" pitchFamily="34" charset="-120"/>
              </a:rPr>
              <a:t>Human-in-the-Loop at Every Stage</a:t>
            </a:r>
            <a:endParaRPr lang="en-US" sz="2400" dirty="0"/>
          </a:p>
        </p:txBody>
      </p:sp>
      <p:sp>
        <p:nvSpPr>
          <p:cNvPr id="4" name="Text 1"/>
          <p:cNvSpPr/>
          <p:nvPr/>
        </p:nvSpPr>
        <p:spPr>
          <a:xfrm>
            <a:off x="548640" y="822960"/>
            <a:ext cx="8046720" cy="32004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Tariq Shaban</a:t>
            </a:r>
            <a:endParaRPr lang="en-US" sz="1100" dirty="0"/>
          </a:p>
        </p:txBody>
      </p:sp>
      <p:sp>
        <p:nvSpPr>
          <p:cNvPr id="5" name="Shape 2"/>
          <p:cNvSpPr/>
          <p:nvPr/>
        </p:nvSpPr>
        <p:spPr>
          <a:xfrm>
            <a:off x="0" y="0"/>
            <a:ext cx="9144000" cy="73152"/>
          </a:xfrm>
          <a:prstGeom prst="rect">
            <a:avLst/>
          </a:prstGeom>
          <a:solidFill>
            <a:srgbClr val="028090"/>
          </a:solidFill>
          <a:ln/>
        </p:spPr>
        <p:txBody>
          <a:bodyPr/>
          <a:lstStyle/>
          <a:p>
            <a:endParaRPr lang="en-US"/>
          </a:p>
        </p:txBody>
      </p:sp>
      <p:sp>
        <p:nvSpPr>
          <p:cNvPr id="6" name="Shape 3"/>
          <p:cNvSpPr/>
          <p:nvPr/>
        </p:nvSpPr>
        <p:spPr>
          <a:xfrm>
            <a:off x="548640" y="1280160"/>
            <a:ext cx="8046720" cy="14630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7" name="Shape 4"/>
          <p:cNvSpPr/>
          <p:nvPr/>
        </p:nvSpPr>
        <p:spPr>
          <a:xfrm>
            <a:off x="548640" y="1280160"/>
            <a:ext cx="54864" cy="1463040"/>
          </a:xfrm>
          <a:prstGeom prst="rect">
            <a:avLst/>
          </a:prstGeom>
          <a:solidFill>
            <a:srgbClr val="028090"/>
          </a:solidFill>
          <a:ln/>
        </p:spPr>
        <p:txBody>
          <a:bodyPr/>
          <a:lstStyle/>
          <a:p>
            <a:endParaRPr lang="en-US"/>
          </a:p>
        </p:txBody>
      </p:sp>
      <p:sp>
        <p:nvSpPr>
          <p:cNvPr id="8" name="Text 5"/>
          <p:cNvSpPr/>
          <p:nvPr/>
        </p:nvSpPr>
        <p:spPr>
          <a:xfrm>
            <a:off x="777240" y="1371600"/>
            <a:ext cx="3657600" cy="320040"/>
          </a:xfrm>
          <a:prstGeom prst="rect">
            <a:avLst/>
          </a:prstGeom>
          <a:noFill/>
          <a:ln/>
        </p:spPr>
        <p:txBody>
          <a:bodyPr wrap="square" lIns="0" tIns="0" rIns="0" bIns="0" rtlCol="0" anchor="ctr"/>
          <a:lstStyle/>
          <a:p>
            <a:pPr marL="0" indent="0">
              <a:buNone/>
            </a:pPr>
            <a:r>
              <a:rPr lang="en-US" sz="1300" b="1" dirty="0">
                <a:solidFill>
                  <a:srgbClr val="323F4B"/>
                </a:solidFill>
                <a:latin typeface="Trebuchet MS" pitchFamily="34" charset="0"/>
                <a:ea typeface="Trebuchet MS" pitchFamily="34" charset="-122"/>
                <a:cs typeface="Trebuchet MS" pitchFamily="34" charset="-120"/>
              </a:rPr>
              <a:t>Every phase writes:</a:t>
            </a:r>
            <a:endParaRPr lang="en-US" sz="13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777240" y="1737360"/>
          <a:ext cx="7589520" cy="792480"/>
        </p:xfrm>
        <a:graphic>
          <a:graphicData uri="http://schemas.openxmlformats.org/drawingml/2006/table">
            <a:tbl>
              <a:tblPr/>
              <a:tblGrid>
                <a:gridCol w="20116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0">
                <a:tc>
                  <a:txBody>
                    <a:bodyP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Column</a:t>
                      </a:r>
                      <a:endParaRPr lang="en-US" sz="1200" dirty="0">
                        <a:latin typeface="Trebuchet MS" charset="0"/>
                        <a:ea typeface="Trebuchet MS" charset="0"/>
                        <a:cs typeface="Trebuchet MS" charset="0"/>
                      </a:endParaRPr>
                    </a:p>
                  </a:txBody>
                  <a:tcP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028090"/>
                    </a:solidFill>
                  </a:tcPr>
                </a:tc>
                <a:tc>
                  <a:txBody>
                    <a:bodyP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Default</a:t>
                      </a:r>
                      <a:endParaRPr lang="en-US" sz="1200" dirty="0">
                        <a:latin typeface="Trebuchet MS" charset="0"/>
                        <a:ea typeface="Trebuchet MS" charset="0"/>
                        <a:cs typeface="Trebuchet MS" charset="0"/>
                      </a:endParaRPr>
                    </a:p>
                  </a:txBody>
                  <a:tcP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028090"/>
                    </a:solidFill>
                  </a:tcPr>
                </a:tc>
                <a:tc>
                  <a:txBody>
                    <a:bodyP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Purpose</a:t>
                      </a:r>
                      <a:endParaRPr lang="en-US" sz="1200" dirty="0">
                        <a:latin typeface="Trebuchet MS" charset="0"/>
                        <a:ea typeface="Trebuchet MS" charset="0"/>
                        <a:cs typeface="Trebuchet MS" charset="0"/>
                      </a:endParaRPr>
                    </a:p>
                  </a:txBody>
                  <a:tcP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323F4B"/>
                          </a:solidFill>
                          <a:latin typeface="Consolas" pitchFamily="34" charset="0"/>
                          <a:ea typeface="Consolas" pitchFamily="34" charset="-122"/>
                          <a:cs typeface="Consolas" pitchFamily="34" charset="-120"/>
                        </a:rPr>
                        <a:t>human_review_pass</a:t>
                      </a:r>
                      <a:endParaRPr lang="en-US" sz="1100" dirty="0">
                        <a:latin typeface="Consolas" charset="0"/>
                        <a:ea typeface="Consolas" charset="0"/>
                        <a:cs typeface="Consolas" charset="0"/>
                      </a:endParaRPr>
                    </a:p>
                  </a:txBody>
                  <a:tcP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marL="0" indent="0">
                        <a:buNone/>
                      </a:pPr>
                      <a:r>
                        <a:rPr lang="en-US" sz="1100" dirty="0">
                          <a:solidFill>
                            <a:srgbClr val="323F4B"/>
                          </a:solidFill>
                          <a:latin typeface="Calibri" pitchFamily="34" charset="0"/>
                          <a:ea typeface="Calibri" pitchFamily="34" charset="-122"/>
                          <a:cs typeface="Calibri" pitchFamily="34" charset="-120"/>
                        </a:rPr>
                        <a:t>True</a:t>
                      </a:r>
                      <a:endParaRPr lang="en-US" sz="1100" dirty="0">
                        <a:latin typeface="Calibri" charset="0"/>
                        <a:ea typeface="Calibri" charset="0"/>
                        <a:cs typeface="Calibri" charset="0"/>
                      </a:endParaRPr>
                    </a:p>
                  </a:txBody>
                  <a:tcP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marL="0" indent="0">
                        <a:buNone/>
                      </a:pPr>
                      <a:r>
                        <a:rPr lang="en-US" sz="1100" dirty="0">
                          <a:solidFill>
                            <a:srgbClr val="323F4B"/>
                          </a:solidFill>
                          <a:latin typeface="Calibri" pitchFamily="34" charset="0"/>
                          <a:ea typeface="Calibri" pitchFamily="34" charset="-122"/>
                          <a:cs typeface="Calibri" pitchFamily="34" charset="-120"/>
                        </a:rPr>
                        <a:t>Set False to exclude before next phase</a:t>
                      </a:r>
                      <a:endParaRPr lang="en-US" sz="1100" dirty="0">
                        <a:latin typeface="Calibri" charset="0"/>
                        <a:ea typeface="Calibri" charset="0"/>
                        <a:cs typeface="Calibri" charset="0"/>
                      </a:endParaRPr>
                    </a:p>
                  </a:txBody>
                  <a:tcP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100" dirty="0">
                          <a:solidFill>
                            <a:srgbClr val="323F4B"/>
                          </a:solidFill>
                          <a:latin typeface="Consolas" pitchFamily="34" charset="0"/>
                          <a:ea typeface="Consolas" pitchFamily="34" charset="-122"/>
                          <a:cs typeface="Consolas" pitchFamily="34" charset="-120"/>
                        </a:rPr>
                        <a:t>human_comments</a:t>
                      </a:r>
                      <a:endParaRPr lang="en-US" sz="1100" dirty="0">
                        <a:latin typeface="Consolas" charset="0"/>
                        <a:ea typeface="Consolas" charset="0"/>
                        <a:cs typeface="Consolas" charset="0"/>
                      </a:endParaRPr>
                    </a:p>
                  </a:txBody>
                  <a:tcP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marL="0" indent="0">
                        <a:buNone/>
                      </a:pPr>
                      <a:r>
                        <a:rPr lang="en-US" sz="1100" i="1" dirty="0">
                          <a:solidFill>
                            <a:srgbClr val="323F4B"/>
                          </a:solidFill>
                          <a:latin typeface="Calibri" pitchFamily="34" charset="0"/>
                          <a:ea typeface="Calibri" pitchFamily="34" charset="-122"/>
                          <a:cs typeface="Calibri" pitchFamily="34" charset="-120"/>
                        </a:rPr>
                        <a:t>(blank)</a:t>
                      </a:r>
                      <a:endParaRPr lang="en-US" sz="1100" dirty="0">
                        <a:latin typeface="Calibri" charset="0"/>
                        <a:ea typeface="Calibri" charset="0"/>
                        <a:cs typeface="Calibri" charset="0"/>
                      </a:endParaRPr>
                    </a:p>
                  </a:txBody>
                  <a:tcP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marL="0" indent="0">
                        <a:buNone/>
                      </a:pPr>
                      <a:r>
                        <a:rPr lang="en-US" sz="1100" dirty="0">
                          <a:solidFill>
                            <a:srgbClr val="323F4B"/>
                          </a:solidFill>
                          <a:latin typeface="Calibri" pitchFamily="34" charset="0"/>
                          <a:ea typeface="Calibri" pitchFamily="34" charset="-122"/>
                          <a:cs typeface="Calibri" pitchFamily="34" charset="-120"/>
                        </a:rPr>
                        <a:t>Free-text rationale for any override</a:t>
                      </a:r>
                      <a:endParaRPr lang="en-US" sz="1100" dirty="0">
                        <a:latin typeface="Calibri" charset="0"/>
                        <a:ea typeface="Calibri" charset="0"/>
                        <a:cs typeface="Calibri" charset="0"/>
                      </a:endParaRPr>
                    </a:p>
                  </a:txBody>
                  <a:tcP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0" name="Text 6"/>
          <p:cNvSpPr/>
          <p:nvPr/>
        </p:nvSpPr>
        <p:spPr>
          <a:xfrm>
            <a:off x="548640" y="3108960"/>
            <a:ext cx="8046720" cy="731520"/>
          </a:xfrm>
          <a:prstGeom prst="rect">
            <a:avLst/>
          </a:prstGeom>
          <a:noFill/>
          <a:ln/>
        </p:spPr>
        <p:txBody>
          <a:bodyPr wrap="square" lIns="0" tIns="0" rIns="0" bIns="0" rtlCol="0" anchor="ctr"/>
          <a:lstStyle/>
          <a:p>
            <a:pPr marL="0" indent="0">
              <a:buNone/>
            </a:pPr>
            <a:r>
              <a:rPr lang="en-US" sz="1400" dirty="0">
                <a:solidFill>
                  <a:srgbClr val="323F4B"/>
                </a:solidFill>
                <a:latin typeface="Calibri" pitchFamily="34" charset="0"/>
                <a:ea typeface="Calibri" pitchFamily="34" charset="-122"/>
                <a:cs typeface="Calibri" pitchFamily="34" charset="-120"/>
              </a:rPr>
              <a:t>The next phase always reads human_review_pass — overriding the system's automated verdict. Human experts have full veto power without any code changes.</a:t>
            </a:r>
            <a:endParaRPr lang="en-US" sz="1400" dirty="0"/>
          </a:p>
        </p:txBody>
      </p:sp>
      <p:sp>
        <p:nvSpPr>
          <p:cNvPr id="11" name="Text 7"/>
          <p:cNvSpPr/>
          <p:nvPr/>
        </p:nvSpPr>
        <p:spPr>
          <a:xfrm>
            <a:off x="548640" y="3931920"/>
            <a:ext cx="8046720" cy="365760"/>
          </a:xfrm>
          <a:prstGeom prst="rect">
            <a:avLst/>
          </a:prstGeom>
          <a:noFill/>
          <a:ln/>
        </p:spPr>
        <p:txBody>
          <a:bodyPr wrap="square" lIns="0" tIns="0" rIns="0" bIns="0" rtlCol="0" anchor="ctr"/>
          <a:lstStyle/>
          <a:p>
            <a:pPr marL="0" indent="0">
              <a:buNone/>
            </a:pPr>
            <a:r>
              <a:rPr lang="en-US" sz="1100" i="1" dirty="0">
                <a:solidFill>
                  <a:srgbClr val="7B8794"/>
                </a:solidFill>
                <a:latin typeface="Calibri" pitchFamily="34" charset="0"/>
                <a:ea typeface="Calibri" pitchFamily="34" charset="-122"/>
                <a:cs typeface="Calibri" pitchFamily="34" charset="-120"/>
              </a:rPr>
              <a:t>"Responsible use requires ongoing human oversight."  — Suárez-Álvarez et al. (2026)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838"/>
        </a:solidFill>
        <a:effectLst/>
      </p:bgPr>
    </p:bg>
    <p:spTree>
      <p:nvGrpSpPr>
        <p:cNvPr id="1" name=""/>
        <p:cNvGrpSpPr/>
        <p:nvPr/>
      </p:nvGrpSpPr>
      <p:grpSpPr>
        <a:xfrm>
          <a:off x="0" y="0"/>
          <a:ext cx="0" cy="0"/>
          <a:chOff x="0" y="0"/>
          <a:chExt cx="0" cy="0"/>
        </a:xfrm>
      </p:grpSpPr>
      <p:sp>
        <p:nvSpPr>
          <p:cNvPr id="3" name="Text 0"/>
          <p:cNvSpPr/>
          <p:nvPr/>
        </p:nvSpPr>
        <p:spPr>
          <a:xfrm>
            <a:off x="731520" y="1463040"/>
            <a:ext cx="7680960" cy="1097280"/>
          </a:xfrm>
          <a:prstGeom prst="rect">
            <a:avLst/>
          </a:prstGeom>
          <a:noFill/>
          <a:ln/>
        </p:spPr>
        <p:txBody>
          <a:bodyPr wrap="square" lIns="0" tIns="0" rIns="0" bIns="0" rtlCol="0" anchor="ctr"/>
          <a:lstStyle/>
          <a:p>
            <a:pPr marL="0" indent="0">
              <a:buNone/>
            </a:pPr>
            <a:r>
              <a:rPr lang="en-US" sz="4000" b="1" dirty="0">
                <a:solidFill>
                  <a:srgbClr val="FFFFFF"/>
                </a:solidFill>
                <a:latin typeface="Trebuchet MS" pitchFamily="34" charset="0"/>
                <a:ea typeface="Trebuchet MS" pitchFamily="34" charset="-122"/>
                <a:cs typeface="Trebuchet MS" pitchFamily="34" charset="-120"/>
              </a:rPr>
              <a:t>Phase 1: Behavioral Domain</a:t>
            </a:r>
            <a:endParaRPr lang="en-US" sz="4000" dirty="0"/>
          </a:p>
          <a:p>
            <a:pPr marL="0" indent="0">
              <a:buNone/>
            </a:pPr>
            <a:r>
              <a:rPr lang="en-US" sz="4000" b="1" dirty="0">
                <a:solidFill>
                  <a:srgbClr val="FFFFFF"/>
                </a:solidFill>
                <a:latin typeface="Trebuchet MS" pitchFamily="34" charset="0"/>
                <a:ea typeface="Trebuchet MS" pitchFamily="34" charset="-122"/>
                <a:cs typeface="Trebuchet MS" pitchFamily="34" charset="-120"/>
              </a:rPr>
              <a:t>Generation &amp; Validation</a:t>
            </a:r>
            <a:endParaRPr lang="en-US" sz="4000" dirty="0"/>
          </a:p>
        </p:txBody>
      </p:sp>
      <p:sp>
        <p:nvSpPr>
          <p:cNvPr id="4" name="Text 1"/>
          <p:cNvSpPr/>
          <p:nvPr/>
        </p:nvSpPr>
        <p:spPr>
          <a:xfrm>
            <a:off x="731520" y="2560320"/>
            <a:ext cx="7680960" cy="731520"/>
          </a:xfrm>
          <a:prstGeom prst="rect">
            <a:avLst/>
          </a:prstGeom>
          <a:noFill/>
          <a:ln/>
        </p:spPr>
        <p:txBody>
          <a:bodyPr wrap="square" lIns="0" tIns="0" rIns="0" bIns="0" rtlCol="0" anchor="ctr"/>
          <a:lstStyle/>
          <a:p>
            <a:pPr marL="0" indent="0">
              <a:buNone/>
            </a:pPr>
            <a:r>
              <a:rPr lang="en-US" sz="1800" dirty="0">
                <a:solidFill>
                  <a:srgbClr val="9AA5B1"/>
                </a:solidFill>
                <a:latin typeface="Calibri" pitchFamily="34" charset="0"/>
                <a:ea typeface="Calibri" pitchFamily="34" charset="-122"/>
                <a:cs typeface="Calibri" pitchFamily="34" charset="-120"/>
              </a:rPr>
              <a:t>From construct definitions to validated behavioral examples</a:t>
            </a:r>
            <a:endParaRPr lang="en-US" sz="1800" dirty="0"/>
          </a:p>
        </p:txBody>
      </p:sp>
      <p:sp>
        <p:nvSpPr>
          <p:cNvPr id="5" name="Shape 2"/>
          <p:cNvSpPr/>
          <p:nvPr/>
        </p:nvSpPr>
        <p:spPr>
          <a:xfrm>
            <a:off x="731520" y="3291840"/>
            <a:ext cx="2286000" cy="36576"/>
          </a:xfrm>
          <a:prstGeom prst="rect">
            <a:avLst/>
          </a:prstGeom>
          <a:solidFill>
            <a:srgbClr val="028090"/>
          </a:solidFill>
          <a:ln/>
        </p:spPr>
        <p:txBody>
          <a:bodyPr/>
          <a:lstStyle/>
          <a:p>
            <a:endParaRPr lang="en-US"/>
          </a:p>
        </p:txBody>
      </p:sp>
      <p:sp>
        <p:nvSpPr>
          <p:cNvPr id="6" name="Shape 3"/>
          <p:cNvSpPr/>
          <p:nvPr/>
        </p:nvSpPr>
        <p:spPr>
          <a:xfrm>
            <a:off x="7772400" y="3474720"/>
            <a:ext cx="731520" cy="731520"/>
          </a:xfrm>
          <a:prstGeom prst="ellipse">
            <a:avLst/>
          </a:prstGeom>
          <a:solidFill>
            <a:srgbClr val="028090"/>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7933334" y="3635654"/>
            <a:ext cx="409651" cy="40965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3" name="Text 0"/>
          <p:cNvSpPr/>
          <p:nvPr/>
        </p:nvSpPr>
        <p:spPr>
          <a:xfrm>
            <a:off x="548640" y="274320"/>
            <a:ext cx="8046720" cy="594360"/>
          </a:xfrm>
          <a:prstGeom prst="rect">
            <a:avLst/>
          </a:prstGeom>
          <a:noFill/>
          <a:ln/>
        </p:spPr>
        <p:txBody>
          <a:bodyPr wrap="square" lIns="0" tIns="0" rIns="0" bIns="0" rtlCol="0" anchor="ctr"/>
          <a:lstStyle/>
          <a:p>
            <a:pPr marL="0" indent="0">
              <a:buNone/>
            </a:pPr>
            <a:r>
              <a:rPr lang="en-US" sz="2400" b="1" dirty="0">
                <a:solidFill>
                  <a:srgbClr val="323F4B"/>
                </a:solidFill>
                <a:latin typeface="Trebuchet MS" pitchFamily="34" charset="0"/>
                <a:ea typeface="Trebuchet MS" pitchFamily="34" charset="-122"/>
                <a:cs typeface="Trebuchet MS" pitchFamily="34" charset="-120"/>
              </a:rPr>
              <a:t>Phase 1: Generation + Validation in One Step</a:t>
            </a:r>
            <a:endParaRPr lang="en-US" sz="2400" dirty="0"/>
          </a:p>
        </p:txBody>
      </p:sp>
      <p:sp>
        <p:nvSpPr>
          <p:cNvPr id="4" name="Text 1"/>
          <p:cNvSpPr/>
          <p:nvPr/>
        </p:nvSpPr>
        <p:spPr>
          <a:xfrm>
            <a:off x="548640" y="822960"/>
            <a:ext cx="8046720" cy="32004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Tariq Shaban</a:t>
            </a:r>
            <a:endParaRPr lang="en-US" sz="1100" dirty="0"/>
          </a:p>
        </p:txBody>
      </p:sp>
      <p:sp>
        <p:nvSpPr>
          <p:cNvPr id="5" name="Shape 2"/>
          <p:cNvSpPr/>
          <p:nvPr/>
        </p:nvSpPr>
        <p:spPr>
          <a:xfrm>
            <a:off x="0" y="0"/>
            <a:ext cx="9144000" cy="73152"/>
          </a:xfrm>
          <a:prstGeom prst="rect">
            <a:avLst/>
          </a:prstGeom>
          <a:solidFill>
            <a:srgbClr val="028090"/>
          </a:solidFill>
          <a:ln/>
        </p:spPr>
        <p:txBody>
          <a:bodyPr/>
          <a:lstStyle/>
          <a:p>
            <a:endParaRPr lang="en-US"/>
          </a:p>
        </p:txBody>
      </p:sp>
      <p:sp>
        <p:nvSpPr>
          <p:cNvPr id="6" name="Text 3"/>
          <p:cNvSpPr/>
          <p:nvPr/>
        </p:nvSpPr>
        <p:spPr>
          <a:xfrm>
            <a:off x="548640" y="1188720"/>
            <a:ext cx="2743200" cy="320040"/>
          </a:xfrm>
          <a:prstGeom prst="rect">
            <a:avLst/>
          </a:prstGeom>
          <a:noFill/>
          <a:ln/>
        </p:spPr>
        <p:txBody>
          <a:bodyPr wrap="square" lIns="0" tIns="0" rIns="0" bIns="0"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Input: scales.json</a:t>
            </a:r>
            <a:endParaRPr lang="en-US" sz="1200" dirty="0"/>
          </a:p>
        </p:txBody>
      </p:sp>
      <p:sp>
        <p:nvSpPr>
          <p:cNvPr id="7" name="Shape 4"/>
          <p:cNvSpPr/>
          <p:nvPr/>
        </p:nvSpPr>
        <p:spPr>
          <a:xfrm>
            <a:off x="548640" y="1554480"/>
            <a:ext cx="3840480" cy="2286000"/>
          </a:xfrm>
          <a:prstGeom prst="rect">
            <a:avLst/>
          </a:prstGeom>
          <a:solidFill>
            <a:srgbClr val="1B2838"/>
          </a:solidFill>
          <a:ln/>
        </p:spPr>
        <p:txBody>
          <a:bodyPr/>
          <a:lstStyle/>
          <a:p>
            <a:endParaRPr lang="en-US"/>
          </a:p>
        </p:txBody>
      </p:sp>
      <p:sp>
        <p:nvSpPr>
          <p:cNvPr id="8" name="Text 5"/>
          <p:cNvSpPr/>
          <p:nvPr/>
        </p:nvSpPr>
        <p:spPr>
          <a:xfrm>
            <a:off x="731520" y="1645920"/>
            <a:ext cx="3474720" cy="2103120"/>
          </a:xfrm>
          <a:prstGeom prst="rect">
            <a:avLst/>
          </a:prstGeom>
          <a:noFill/>
          <a:ln/>
        </p:spPr>
        <p:txBody>
          <a:bodyPr wrap="square" lIns="0" tIns="0" rIns="0" bIns="0" rtlCol="0" anchor="t"/>
          <a:lstStyle/>
          <a:p>
            <a:pPr marL="0" indent="0">
              <a:buNone/>
            </a:pPr>
            <a:r>
              <a:rPr lang="en-US" sz="900" dirty="0">
                <a:solidFill>
                  <a:srgbClr val="02C39A"/>
                </a:solidFill>
                <a:latin typeface="Consolas" pitchFamily="34" charset="0"/>
                <a:ea typeface="Consolas" pitchFamily="34" charset="-122"/>
                <a:cs typeface="Consolas" pitchFamily="34" charset="-120"/>
              </a:rPr>
              <a:t>{</a:t>
            </a:r>
            <a:endParaRPr lang="en-US" sz="900" dirty="0"/>
          </a:p>
          <a:p>
            <a:pPr marL="0" indent="0">
              <a:buNone/>
            </a:pPr>
            <a:r>
              <a:rPr lang="en-US" sz="900" dirty="0">
                <a:solidFill>
                  <a:srgbClr val="02C39A"/>
                </a:solidFill>
                <a:latin typeface="Consolas" pitchFamily="34" charset="0"/>
                <a:ea typeface="Consolas" pitchFamily="34" charset="-122"/>
                <a:cs typeface="Consolas" pitchFamily="34" charset="-120"/>
              </a:rPr>
              <a:t>  "scale_name": "Conscientiousness",</a:t>
            </a:r>
            <a:endParaRPr lang="en-US" sz="900" dirty="0"/>
          </a:p>
          <a:p>
            <a:pPr marL="0" indent="0">
              <a:buNone/>
            </a:pPr>
            <a:r>
              <a:rPr lang="en-US" sz="900" dirty="0">
                <a:solidFill>
                  <a:srgbClr val="02C39A"/>
                </a:solidFill>
                <a:latin typeface="Consolas" pitchFamily="34" charset="0"/>
                <a:ea typeface="Consolas" pitchFamily="34" charset="-122"/>
                <a:cs typeface="Consolas" pitchFamily="34" charset="-120"/>
              </a:rPr>
              <a:t>  "construct_definition": "The tendency to be</a:t>
            </a:r>
            <a:endParaRPr lang="en-US" sz="900" dirty="0"/>
          </a:p>
          <a:p>
            <a:pPr marL="0" indent="0">
              <a:buNone/>
            </a:pPr>
            <a:r>
              <a:rPr lang="en-US" sz="900" dirty="0">
                <a:solidFill>
                  <a:srgbClr val="02C39A"/>
                </a:solidFill>
                <a:latin typeface="Consolas" pitchFamily="34" charset="0"/>
                <a:ea typeface="Consolas" pitchFamily="34" charset="-122"/>
                <a:cs typeface="Consolas" pitchFamily="34" charset="-120"/>
              </a:rPr>
              <a:t>    organized, diligent...",</a:t>
            </a:r>
            <a:endParaRPr lang="en-US" sz="900" dirty="0"/>
          </a:p>
          <a:p>
            <a:pPr marL="0" indent="0">
              <a:buNone/>
            </a:pPr>
            <a:r>
              <a:rPr lang="en-US" sz="900" dirty="0">
                <a:solidFill>
                  <a:srgbClr val="02C39A"/>
                </a:solidFill>
                <a:latin typeface="Consolas" pitchFamily="34" charset="0"/>
                <a:ea typeface="Consolas" pitchFamily="34" charset="-122"/>
                <a:cs typeface="Consolas" pitchFamily="34" charset="-120"/>
              </a:rPr>
              <a:t>  "discriminant_description":</a:t>
            </a:r>
            <a:endParaRPr lang="en-US" sz="900" dirty="0"/>
          </a:p>
          <a:p>
            <a:pPr marL="0" indent="0">
              <a:buNone/>
            </a:pPr>
            <a:r>
              <a:rPr lang="en-US" sz="900" dirty="0">
                <a:solidFill>
                  <a:srgbClr val="02C39A"/>
                </a:solidFill>
                <a:latin typeface="Consolas" pitchFamily="34" charset="0"/>
                <a:ea typeface="Consolas" pitchFamily="34" charset="-122"/>
                <a:cs typeface="Consolas" pitchFamily="34" charset="-120"/>
              </a:rPr>
              <a:t>    "Conscientiousness concerns self-regulation,</a:t>
            </a:r>
            <a:endParaRPr lang="en-US" sz="900" dirty="0"/>
          </a:p>
          <a:p>
            <a:pPr marL="0" indent="0">
              <a:buNone/>
            </a:pPr>
            <a:r>
              <a:rPr lang="en-US" sz="900" dirty="0">
                <a:solidFill>
                  <a:srgbClr val="02C39A"/>
                </a:solidFill>
                <a:latin typeface="Consolas" pitchFamily="34" charset="0"/>
                <a:ea typeface="Consolas" pitchFamily="34" charset="-122"/>
                <a:cs typeface="Consolas" pitchFamily="34" charset="-120"/>
              </a:rPr>
              <a:t>    not moral conduct (Honesty-Humility)...",</a:t>
            </a:r>
            <a:endParaRPr lang="en-US" sz="900" dirty="0"/>
          </a:p>
          <a:p>
            <a:pPr marL="0" indent="0">
              <a:buNone/>
            </a:pPr>
            <a:r>
              <a:rPr lang="en-US" sz="900" dirty="0">
                <a:solidFill>
                  <a:srgbClr val="02C39A"/>
                </a:solidFill>
                <a:latin typeface="Consolas" pitchFamily="34" charset="0"/>
                <a:ea typeface="Consolas" pitchFamily="34" charset="-122"/>
                <a:cs typeface="Consolas" pitchFamily="34" charset="-120"/>
              </a:rPr>
              <a:t>  "high_anchor": "Works in an organized way...",</a:t>
            </a:r>
            <a:endParaRPr lang="en-US" sz="900" dirty="0"/>
          </a:p>
          <a:p>
            <a:pPr marL="0" indent="0">
              <a:buNone/>
            </a:pPr>
            <a:r>
              <a:rPr lang="en-US" sz="900" dirty="0">
                <a:solidFill>
                  <a:srgbClr val="02C39A"/>
                </a:solidFill>
                <a:latin typeface="Consolas" pitchFamily="34" charset="0"/>
                <a:ea typeface="Consolas" pitchFamily="34" charset="-122"/>
                <a:cs typeface="Consolas" pitchFamily="34" charset="-120"/>
              </a:rPr>
              <a:t>  "low_anchor": "Approaches tasks unsystematically..."</a:t>
            </a:r>
            <a:endParaRPr lang="en-US" sz="900" dirty="0"/>
          </a:p>
          <a:p>
            <a:pPr marL="0" indent="0">
              <a:buNone/>
            </a:pPr>
            <a:r>
              <a:rPr lang="en-US" sz="900" dirty="0">
                <a:solidFill>
                  <a:srgbClr val="02C39A"/>
                </a:solidFill>
                <a:latin typeface="Consolas" pitchFamily="34" charset="0"/>
                <a:ea typeface="Consolas" pitchFamily="34" charset="-122"/>
                <a:cs typeface="Consolas" pitchFamily="34" charset="-120"/>
              </a:rPr>
              <a:t>}</a:t>
            </a:r>
            <a:endParaRPr lang="en-US" sz="900" dirty="0"/>
          </a:p>
        </p:txBody>
      </p:sp>
      <p:sp>
        <p:nvSpPr>
          <p:cNvPr id="9" name="Shape 6"/>
          <p:cNvSpPr/>
          <p:nvPr/>
        </p:nvSpPr>
        <p:spPr>
          <a:xfrm>
            <a:off x="4663440" y="1371600"/>
            <a:ext cx="274320" cy="274320"/>
          </a:xfrm>
          <a:prstGeom prst="ellipse">
            <a:avLst/>
          </a:prstGeom>
          <a:solidFill>
            <a:srgbClr val="028090"/>
          </a:solidFill>
          <a:ln/>
        </p:spPr>
        <p:txBody>
          <a:bodyPr/>
          <a:lstStyle/>
          <a:p>
            <a:endParaRPr lang="en-US"/>
          </a:p>
        </p:txBody>
      </p:sp>
      <p:sp>
        <p:nvSpPr>
          <p:cNvPr id="10" name="Text 7"/>
          <p:cNvSpPr/>
          <p:nvPr/>
        </p:nvSpPr>
        <p:spPr>
          <a:xfrm>
            <a:off x="4663440" y="137160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1</a:t>
            </a:r>
            <a:endParaRPr lang="en-US" sz="1100" dirty="0"/>
          </a:p>
        </p:txBody>
      </p:sp>
      <p:sp>
        <p:nvSpPr>
          <p:cNvPr id="11" name="Text 8"/>
          <p:cNvSpPr/>
          <p:nvPr/>
        </p:nvSpPr>
        <p:spPr>
          <a:xfrm>
            <a:off x="5074920" y="1325880"/>
            <a:ext cx="3657600" cy="228600"/>
          </a:xfrm>
          <a:prstGeom prst="rect">
            <a:avLst/>
          </a:prstGeom>
          <a:noFill/>
          <a:ln/>
        </p:spPr>
        <p:txBody>
          <a:bodyPr wrap="square" lIns="0" tIns="0" rIns="0" bIns="0" rtlCol="0" anchor="ctr"/>
          <a:lstStyle/>
          <a:p>
            <a:pPr marL="0" indent="0">
              <a:buNone/>
            </a:pPr>
            <a:r>
              <a:rPr lang="en-US" sz="1200" b="1" dirty="0">
                <a:solidFill>
                  <a:srgbClr val="323F4B"/>
                </a:solidFill>
                <a:latin typeface="Trebuchet MS" pitchFamily="34" charset="0"/>
                <a:ea typeface="Trebuchet MS" pitchFamily="34" charset="-122"/>
                <a:cs typeface="Trebuchet MS" pitchFamily="34" charset="-120"/>
              </a:rPr>
              <a:t>LLM generates behavioral examples</a:t>
            </a:r>
            <a:endParaRPr lang="en-US" sz="1200" dirty="0"/>
          </a:p>
        </p:txBody>
      </p:sp>
      <p:sp>
        <p:nvSpPr>
          <p:cNvPr id="12" name="Text 9"/>
          <p:cNvSpPr/>
          <p:nvPr/>
        </p:nvSpPr>
        <p:spPr>
          <a:xfrm>
            <a:off x="5074920" y="1554480"/>
            <a:ext cx="3657600" cy="228600"/>
          </a:xfrm>
          <a:prstGeom prst="rect">
            <a:avLst/>
          </a:prstGeom>
          <a:noFill/>
          <a:ln/>
        </p:spPr>
        <p:txBody>
          <a:bodyPr wrap="square" lIns="0" tIns="0" rIns="0" bIns="0" rtlCol="0" anchor="ctr"/>
          <a:lstStyle/>
          <a:p>
            <a:pPr marL="0" indent="0">
              <a:buNone/>
            </a:pPr>
            <a:r>
              <a:rPr lang="en-US" sz="1000" dirty="0">
                <a:solidFill>
                  <a:srgbClr val="7B8794"/>
                </a:solidFill>
                <a:latin typeface="Calibri" pitchFamily="34" charset="0"/>
                <a:ea typeface="Calibri" pitchFamily="34" charset="-122"/>
                <a:cs typeface="Calibri" pitchFamily="34" charset="-120"/>
              </a:rPr>
              <a:t>Observable, recurring patterns — not definitions</a:t>
            </a:r>
            <a:endParaRPr lang="en-US" sz="1000" dirty="0"/>
          </a:p>
        </p:txBody>
      </p:sp>
      <p:sp>
        <p:nvSpPr>
          <p:cNvPr id="13" name="Shape 10"/>
          <p:cNvSpPr/>
          <p:nvPr/>
        </p:nvSpPr>
        <p:spPr>
          <a:xfrm>
            <a:off x="4663440" y="2029968"/>
            <a:ext cx="274320" cy="274320"/>
          </a:xfrm>
          <a:prstGeom prst="ellipse">
            <a:avLst/>
          </a:prstGeom>
          <a:solidFill>
            <a:srgbClr val="028090"/>
          </a:solidFill>
          <a:ln/>
        </p:spPr>
        <p:txBody>
          <a:bodyPr/>
          <a:lstStyle/>
          <a:p>
            <a:endParaRPr lang="en-US"/>
          </a:p>
        </p:txBody>
      </p:sp>
      <p:sp>
        <p:nvSpPr>
          <p:cNvPr id="14" name="Text 11"/>
          <p:cNvSpPr/>
          <p:nvPr/>
        </p:nvSpPr>
        <p:spPr>
          <a:xfrm>
            <a:off x="4663440" y="202996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2</a:t>
            </a:r>
            <a:endParaRPr lang="en-US" sz="1100" dirty="0"/>
          </a:p>
        </p:txBody>
      </p:sp>
      <p:sp>
        <p:nvSpPr>
          <p:cNvPr id="15" name="Text 12"/>
          <p:cNvSpPr/>
          <p:nvPr/>
        </p:nvSpPr>
        <p:spPr>
          <a:xfrm>
            <a:off x="5074920" y="1984248"/>
            <a:ext cx="3657600" cy="228600"/>
          </a:xfrm>
          <a:prstGeom prst="rect">
            <a:avLst/>
          </a:prstGeom>
          <a:noFill/>
          <a:ln/>
        </p:spPr>
        <p:txBody>
          <a:bodyPr wrap="square" lIns="0" tIns="0" rIns="0" bIns="0" rtlCol="0" anchor="ctr"/>
          <a:lstStyle/>
          <a:p>
            <a:pPr marL="0" indent="0">
              <a:buNone/>
            </a:pPr>
            <a:r>
              <a:rPr lang="en-US" sz="1200" b="1" dirty="0">
                <a:solidFill>
                  <a:srgbClr val="323F4B"/>
                </a:solidFill>
                <a:latin typeface="Trebuchet MS" pitchFamily="34" charset="0"/>
                <a:ea typeface="Trebuchet MS" pitchFamily="34" charset="-122"/>
                <a:cs typeface="Trebuchet MS" pitchFamily="34" charset="-120"/>
              </a:rPr>
              <a:t>Occurrence likelihood assigned</a:t>
            </a:r>
            <a:endParaRPr lang="en-US" sz="1200" dirty="0"/>
          </a:p>
        </p:txBody>
      </p:sp>
      <p:sp>
        <p:nvSpPr>
          <p:cNvPr id="16" name="Text 13"/>
          <p:cNvSpPr/>
          <p:nvPr/>
        </p:nvSpPr>
        <p:spPr>
          <a:xfrm>
            <a:off x="5074920" y="2212848"/>
            <a:ext cx="3657600" cy="228600"/>
          </a:xfrm>
          <a:prstGeom prst="rect">
            <a:avLst/>
          </a:prstGeom>
          <a:noFill/>
          <a:ln/>
        </p:spPr>
        <p:txBody>
          <a:bodyPr wrap="square" lIns="0" tIns="0" rIns="0" bIns="0" rtlCol="0" anchor="ctr"/>
          <a:lstStyle/>
          <a:p>
            <a:pPr marL="0" indent="0">
              <a:buNone/>
            </a:pPr>
            <a:r>
              <a:rPr lang="en-US" sz="1000" dirty="0">
                <a:solidFill>
                  <a:srgbClr val="7B8794"/>
                </a:solidFill>
                <a:latin typeface="Calibri" pitchFamily="34" charset="0"/>
                <a:ea typeface="Calibri" pitchFamily="34" charset="-122"/>
                <a:cs typeface="Calibri" pitchFamily="34" charset="-120"/>
              </a:rPr>
              <a:t>high / moderate / low — construct breadth, not difficulty</a:t>
            </a:r>
            <a:endParaRPr lang="en-US" sz="1000" dirty="0"/>
          </a:p>
        </p:txBody>
      </p:sp>
      <p:sp>
        <p:nvSpPr>
          <p:cNvPr id="17" name="Shape 14"/>
          <p:cNvSpPr/>
          <p:nvPr/>
        </p:nvSpPr>
        <p:spPr>
          <a:xfrm>
            <a:off x="4663440" y="2688336"/>
            <a:ext cx="274320" cy="274320"/>
          </a:xfrm>
          <a:prstGeom prst="ellipse">
            <a:avLst/>
          </a:prstGeom>
          <a:solidFill>
            <a:srgbClr val="028090"/>
          </a:solidFill>
          <a:ln/>
        </p:spPr>
        <p:txBody>
          <a:bodyPr/>
          <a:lstStyle/>
          <a:p>
            <a:endParaRPr lang="en-US"/>
          </a:p>
        </p:txBody>
      </p:sp>
      <p:sp>
        <p:nvSpPr>
          <p:cNvPr id="18" name="Text 15"/>
          <p:cNvSpPr/>
          <p:nvPr/>
        </p:nvSpPr>
        <p:spPr>
          <a:xfrm>
            <a:off x="4663440" y="2688336"/>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3</a:t>
            </a:r>
            <a:endParaRPr lang="en-US" sz="1100" dirty="0"/>
          </a:p>
        </p:txBody>
      </p:sp>
      <p:sp>
        <p:nvSpPr>
          <p:cNvPr id="19" name="Text 16"/>
          <p:cNvSpPr/>
          <p:nvPr/>
        </p:nvSpPr>
        <p:spPr>
          <a:xfrm>
            <a:off x="5074920" y="2642616"/>
            <a:ext cx="3657600" cy="228600"/>
          </a:xfrm>
          <a:prstGeom prst="rect">
            <a:avLst/>
          </a:prstGeom>
          <a:noFill/>
          <a:ln/>
        </p:spPr>
        <p:txBody>
          <a:bodyPr wrap="square" lIns="0" tIns="0" rIns="0" bIns="0" rtlCol="0" anchor="ctr"/>
          <a:lstStyle/>
          <a:p>
            <a:pPr marL="0" indent="0">
              <a:buNone/>
            </a:pPr>
            <a:r>
              <a:rPr lang="en-US" sz="1200" b="1" dirty="0">
                <a:solidFill>
                  <a:srgbClr val="323F4B"/>
                </a:solidFill>
                <a:latin typeface="Trebuchet MS" pitchFamily="34" charset="0"/>
                <a:ea typeface="Trebuchet MS" pitchFamily="34" charset="-122"/>
                <a:cs typeface="Trebuchet MS" pitchFamily="34" charset="-120"/>
              </a:rPr>
              <a:t>Second LLM validates each example</a:t>
            </a:r>
            <a:endParaRPr lang="en-US" sz="1200" dirty="0"/>
          </a:p>
        </p:txBody>
      </p:sp>
      <p:sp>
        <p:nvSpPr>
          <p:cNvPr id="20" name="Text 17"/>
          <p:cNvSpPr/>
          <p:nvPr/>
        </p:nvSpPr>
        <p:spPr>
          <a:xfrm>
            <a:off x="5074920" y="2871216"/>
            <a:ext cx="3657600" cy="228600"/>
          </a:xfrm>
          <a:prstGeom prst="rect">
            <a:avLst/>
          </a:prstGeom>
          <a:noFill/>
          <a:ln/>
        </p:spPr>
        <p:txBody>
          <a:bodyPr wrap="square" lIns="0" tIns="0" rIns="0" bIns="0" rtlCol="0" anchor="ctr"/>
          <a:lstStyle/>
          <a:p>
            <a:pPr marL="0" indent="0">
              <a:buNone/>
            </a:pPr>
            <a:r>
              <a:rPr lang="en-US" sz="1000" dirty="0">
                <a:solidFill>
                  <a:srgbClr val="7B8794"/>
                </a:solidFill>
                <a:latin typeface="Calibri" pitchFamily="34" charset="0"/>
                <a:ea typeface="Calibri" pitchFamily="34" charset="-122"/>
                <a:cs typeface="Calibri" pitchFamily="34" charset="-120"/>
              </a:rPr>
              <a:t>Construct, face, and discriminant validity</a:t>
            </a:r>
            <a:endParaRPr lang="en-US" sz="1000" dirty="0"/>
          </a:p>
        </p:txBody>
      </p:sp>
      <p:sp>
        <p:nvSpPr>
          <p:cNvPr id="21" name="Shape 18"/>
          <p:cNvSpPr/>
          <p:nvPr/>
        </p:nvSpPr>
        <p:spPr>
          <a:xfrm>
            <a:off x="4663440" y="3346704"/>
            <a:ext cx="274320" cy="274320"/>
          </a:xfrm>
          <a:prstGeom prst="ellipse">
            <a:avLst/>
          </a:prstGeom>
          <a:solidFill>
            <a:srgbClr val="028090"/>
          </a:solidFill>
          <a:ln/>
        </p:spPr>
        <p:txBody>
          <a:bodyPr/>
          <a:lstStyle/>
          <a:p>
            <a:endParaRPr lang="en-US"/>
          </a:p>
        </p:txBody>
      </p:sp>
      <p:sp>
        <p:nvSpPr>
          <p:cNvPr id="22" name="Text 19"/>
          <p:cNvSpPr/>
          <p:nvPr/>
        </p:nvSpPr>
        <p:spPr>
          <a:xfrm>
            <a:off x="4663440" y="3346704"/>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4</a:t>
            </a:r>
            <a:endParaRPr lang="en-US" sz="1100" dirty="0"/>
          </a:p>
        </p:txBody>
      </p:sp>
      <p:sp>
        <p:nvSpPr>
          <p:cNvPr id="23" name="Text 20"/>
          <p:cNvSpPr/>
          <p:nvPr/>
        </p:nvSpPr>
        <p:spPr>
          <a:xfrm>
            <a:off x="5074920" y="3300984"/>
            <a:ext cx="3657600" cy="228600"/>
          </a:xfrm>
          <a:prstGeom prst="rect">
            <a:avLst/>
          </a:prstGeom>
          <a:noFill/>
          <a:ln/>
        </p:spPr>
        <p:txBody>
          <a:bodyPr wrap="square" lIns="0" tIns="0" rIns="0" bIns="0" rtlCol="0" anchor="ctr"/>
          <a:lstStyle/>
          <a:p>
            <a:pPr marL="0" indent="0">
              <a:buNone/>
            </a:pPr>
            <a:r>
              <a:rPr lang="en-US" sz="1200" b="1" dirty="0">
                <a:solidFill>
                  <a:srgbClr val="323F4B"/>
                </a:solidFill>
                <a:latin typeface="Trebuchet MS" pitchFamily="34" charset="0"/>
                <a:ea typeface="Trebuchet MS" pitchFamily="34" charset="-122"/>
                <a:cs typeface="Trebuchet MS" pitchFamily="34" charset="-120"/>
              </a:rPr>
              <a:t>Failed examples flagged, excluded</a:t>
            </a:r>
            <a:endParaRPr lang="en-US" sz="1200" dirty="0"/>
          </a:p>
        </p:txBody>
      </p:sp>
      <p:sp>
        <p:nvSpPr>
          <p:cNvPr id="24" name="Text 21"/>
          <p:cNvSpPr/>
          <p:nvPr/>
        </p:nvSpPr>
        <p:spPr>
          <a:xfrm>
            <a:off x="5074920" y="3529584"/>
            <a:ext cx="3657600" cy="228600"/>
          </a:xfrm>
          <a:prstGeom prst="rect">
            <a:avLst/>
          </a:prstGeom>
          <a:noFill/>
          <a:ln/>
        </p:spPr>
        <p:txBody>
          <a:bodyPr wrap="square" lIns="0" tIns="0" rIns="0" bIns="0" rtlCol="0" anchor="ctr"/>
          <a:lstStyle/>
          <a:p>
            <a:pPr marL="0" indent="0">
              <a:buNone/>
            </a:pPr>
            <a:r>
              <a:rPr lang="en-US" sz="1000" dirty="0">
                <a:solidFill>
                  <a:srgbClr val="7B8794"/>
                </a:solidFill>
                <a:latin typeface="Calibri" pitchFamily="34" charset="0"/>
                <a:ea typeface="Calibri" pitchFamily="34" charset="-122"/>
                <a:cs typeface="Calibri" pitchFamily="34" charset="-120"/>
              </a:rPr>
              <a:t>Human review can override any decision</a:t>
            </a:r>
            <a:endParaRPr lang="en-US" sz="1000" dirty="0"/>
          </a:p>
        </p:txBody>
      </p:sp>
      <p:sp>
        <p:nvSpPr>
          <p:cNvPr id="25" name="Text 22"/>
          <p:cNvSpPr/>
          <p:nvPr/>
        </p:nvSpPr>
        <p:spPr>
          <a:xfrm>
            <a:off x="548640" y="4297680"/>
            <a:ext cx="8046720" cy="274320"/>
          </a:xfrm>
          <a:prstGeom prst="rect">
            <a:avLst/>
          </a:prstGeom>
          <a:noFill/>
          <a:ln/>
        </p:spPr>
        <p:txBody>
          <a:bodyPr wrap="square" lIns="0" tIns="0" rIns="0" bIns="0"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Output: 01_behavioral_domains.xlsx</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3" name="Text 0"/>
          <p:cNvSpPr/>
          <p:nvPr/>
        </p:nvSpPr>
        <p:spPr>
          <a:xfrm>
            <a:off x="548640" y="274320"/>
            <a:ext cx="8046720" cy="594360"/>
          </a:xfrm>
          <a:prstGeom prst="rect">
            <a:avLst/>
          </a:prstGeom>
          <a:noFill/>
          <a:ln/>
        </p:spPr>
        <p:txBody>
          <a:bodyPr wrap="square" lIns="0" tIns="0" rIns="0" bIns="0" rtlCol="0" anchor="ctr"/>
          <a:lstStyle/>
          <a:p>
            <a:pPr marL="0" indent="0">
              <a:buNone/>
            </a:pPr>
            <a:r>
              <a:rPr lang="en-US" sz="2400" b="1" dirty="0">
                <a:solidFill>
                  <a:srgbClr val="323F4B"/>
                </a:solidFill>
                <a:latin typeface="Trebuchet MS" pitchFamily="34" charset="0"/>
                <a:ea typeface="Trebuchet MS" pitchFamily="34" charset="-122"/>
                <a:cs typeface="Trebuchet MS" pitchFamily="34" charset="-120"/>
              </a:rPr>
              <a:t>Multi-Agent AI for Item Development</a:t>
            </a:r>
            <a:endParaRPr lang="en-US" sz="2400" dirty="0"/>
          </a:p>
        </p:txBody>
      </p:sp>
      <p:sp>
        <p:nvSpPr>
          <p:cNvPr id="4" name="Text 1"/>
          <p:cNvSpPr/>
          <p:nvPr/>
        </p:nvSpPr>
        <p:spPr>
          <a:xfrm>
            <a:off x="548640" y="822960"/>
            <a:ext cx="8046720" cy="32004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Dr. Philseok Lee</a:t>
            </a:r>
            <a:endParaRPr lang="en-US" sz="1100" dirty="0"/>
          </a:p>
        </p:txBody>
      </p:sp>
      <p:sp>
        <p:nvSpPr>
          <p:cNvPr id="5" name="Shape 2"/>
          <p:cNvSpPr/>
          <p:nvPr/>
        </p:nvSpPr>
        <p:spPr>
          <a:xfrm>
            <a:off x="0" y="0"/>
            <a:ext cx="9144000" cy="73152"/>
          </a:xfrm>
          <a:prstGeom prst="rect">
            <a:avLst/>
          </a:prstGeom>
          <a:solidFill>
            <a:srgbClr val="028090"/>
          </a:solidFill>
          <a:ln/>
        </p:spPr>
        <p:txBody>
          <a:bodyPr/>
          <a:lstStyle/>
          <a:p>
            <a:endParaRPr lang="en-US"/>
          </a:p>
        </p:txBody>
      </p:sp>
      <p:sp>
        <p:nvSpPr>
          <p:cNvPr id="6" name="Shape 3"/>
          <p:cNvSpPr/>
          <p:nvPr/>
        </p:nvSpPr>
        <p:spPr>
          <a:xfrm>
            <a:off x="548640" y="1371600"/>
            <a:ext cx="1554480" cy="2103120"/>
          </a:xfrm>
          <a:prstGeom prst="rect">
            <a:avLst/>
          </a:prstGeom>
          <a:solidFill>
            <a:srgbClr val="028090"/>
          </a:solidFill>
          <a:ln/>
          <a:effectLst>
            <a:outerShdw blurRad="76200" dist="25400" dir="8100000" algn="bl" rotWithShape="0">
              <a:srgbClr val="000000">
                <a:alpha val="12000"/>
              </a:srgbClr>
            </a:outerShdw>
          </a:effectLst>
        </p:spPr>
        <p:txBody>
          <a:bodyPr/>
          <a:lstStyle/>
          <a:p>
            <a:endParaRPr lang="en-US"/>
          </a:p>
        </p:txBody>
      </p:sp>
      <p:sp>
        <p:nvSpPr>
          <p:cNvPr id="7" name="Shape 4"/>
          <p:cNvSpPr/>
          <p:nvPr/>
        </p:nvSpPr>
        <p:spPr>
          <a:xfrm>
            <a:off x="1051560" y="1554480"/>
            <a:ext cx="548640" cy="548640"/>
          </a:xfrm>
          <a:prstGeom prst="ellipse">
            <a:avLst/>
          </a:prstGeom>
          <a:solidFill>
            <a:srgbClr val="01505B"/>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172261" y="1675181"/>
            <a:ext cx="307238" cy="307238"/>
          </a:xfrm>
          <a:prstGeom prst="rect">
            <a:avLst/>
          </a:prstGeom>
        </p:spPr>
      </p:pic>
      <p:sp>
        <p:nvSpPr>
          <p:cNvPr id="9" name="Text 5"/>
          <p:cNvSpPr/>
          <p:nvPr/>
        </p:nvSpPr>
        <p:spPr>
          <a:xfrm>
            <a:off x="640080" y="2240280"/>
            <a:ext cx="13716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Item Generator</a:t>
            </a:r>
            <a:endParaRPr lang="en-US" sz="1100" dirty="0"/>
          </a:p>
        </p:txBody>
      </p:sp>
      <p:sp>
        <p:nvSpPr>
          <p:cNvPr id="10" name="Text 6"/>
          <p:cNvSpPr/>
          <p:nvPr/>
        </p:nvSpPr>
        <p:spPr>
          <a:xfrm>
            <a:off x="640080" y="2697480"/>
            <a:ext cx="1371600" cy="640080"/>
          </a:xfrm>
          <a:prstGeom prst="rect">
            <a:avLst/>
          </a:prstGeom>
          <a:noFill/>
          <a:ln/>
        </p:spPr>
        <p:txBody>
          <a:bodyPr wrap="square" lIns="0" tIns="0" rIns="0" bIns="0" rtlCol="0" anchor="ctr"/>
          <a:lstStyle/>
          <a:p>
            <a:pPr marL="0" indent="0" algn="ctr">
              <a:buNone/>
            </a:pPr>
            <a:r>
              <a:rPr lang="en-US" sz="900" dirty="0">
                <a:solidFill>
                  <a:srgbClr val="F0F4F8"/>
                </a:solidFill>
                <a:latin typeface="Calibri" pitchFamily="34" charset="0"/>
                <a:ea typeface="Calibri" pitchFamily="34" charset="-122"/>
                <a:cs typeface="Calibri" pitchFamily="34" charset="-120"/>
              </a:rPr>
              <a:t>Creates initial content from construct definitions</a:t>
            </a:r>
            <a:endParaRPr lang="en-US" sz="900" dirty="0"/>
          </a:p>
        </p:txBody>
      </p:sp>
      <p:sp>
        <p:nvSpPr>
          <p:cNvPr id="11" name="Shape 7"/>
          <p:cNvSpPr/>
          <p:nvPr/>
        </p:nvSpPr>
        <p:spPr>
          <a:xfrm>
            <a:off x="2231136" y="1371600"/>
            <a:ext cx="1554480" cy="2103120"/>
          </a:xfrm>
          <a:prstGeom prst="rect">
            <a:avLst/>
          </a:prstGeom>
          <a:solidFill>
            <a:srgbClr val="00A896"/>
          </a:solidFill>
          <a:ln/>
          <a:effectLst>
            <a:outerShdw blurRad="76200" dist="25400" dir="8100000" algn="bl" rotWithShape="0">
              <a:srgbClr val="000000">
                <a:alpha val="12000"/>
              </a:srgbClr>
            </a:outerShdw>
          </a:effectLst>
        </p:spPr>
        <p:txBody>
          <a:bodyPr/>
          <a:lstStyle/>
          <a:p>
            <a:endParaRPr lang="en-US"/>
          </a:p>
        </p:txBody>
      </p:sp>
      <p:sp>
        <p:nvSpPr>
          <p:cNvPr id="12" name="Shape 8"/>
          <p:cNvSpPr/>
          <p:nvPr/>
        </p:nvSpPr>
        <p:spPr>
          <a:xfrm>
            <a:off x="2734056" y="1554480"/>
            <a:ext cx="548640" cy="548640"/>
          </a:xfrm>
          <a:prstGeom prst="ellipse">
            <a:avLst/>
          </a:prstGeom>
          <a:solidFill>
            <a:srgbClr val="005C51"/>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2854757" y="1675181"/>
            <a:ext cx="307238" cy="307238"/>
          </a:xfrm>
          <a:prstGeom prst="rect">
            <a:avLst/>
          </a:prstGeom>
        </p:spPr>
      </p:pic>
      <p:sp>
        <p:nvSpPr>
          <p:cNvPr id="14" name="Text 9"/>
          <p:cNvSpPr/>
          <p:nvPr/>
        </p:nvSpPr>
        <p:spPr>
          <a:xfrm>
            <a:off x="2322576" y="2240280"/>
            <a:ext cx="13716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Content Reviewer</a:t>
            </a:r>
            <a:endParaRPr lang="en-US" sz="1100" dirty="0"/>
          </a:p>
        </p:txBody>
      </p:sp>
      <p:sp>
        <p:nvSpPr>
          <p:cNvPr id="15" name="Text 10"/>
          <p:cNvSpPr/>
          <p:nvPr/>
        </p:nvSpPr>
        <p:spPr>
          <a:xfrm>
            <a:off x="2322576" y="2697480"/>
            <a:ext cx="1371600" cy="640080"/>
          </a:xfrm>
          <a:prstGeom prst="rect">
            <a:avLst/>
          </a:prstGeom>
          <a:noFill/>
          <a:ln/>
        </p:spPr>
        <p:txBody>
          <a:bodyPr wrap="square" lIns="0" tIns="0" rIns="0" bIns="0" rtlCol="0" anchor="ctr"/>
          <a:lstStyle/>
          <a:p>
            <a:pPr marL="0" indent="0" algn="ctr">
              <a:buNone/>
            </a:pPr>
            <a:r>
              <a:rPr lang="en-US" sz="900" dirty="0">
                <a:solidFill>
                  <a:srgbClr val="F0F4F8"/>
                </a:solidFill>
                <a:latin typeface="Calibri" pitchFamily="34" charset="0"/>
                <a:ea typeface="Calibri" pitchFamily="34" charset="-122"/>
                <a:cs typeface="Calibri" pitchFamily="34" charset="-120"/>
              </a:rPr>
              <a:t>Evaluates construct &amp; discriminant validity</a:t>
            </a:r>
            <a:endParaRPr lang="en-US" sz="900" dirty="0"/>
          </a:p>
        </p:txBody>
      </p:sp>
      <p:sp>
        <p:nvSpPr>
          <p:cNvPr id="16" name="Shape 11"/>
          <p:cNvSpPr/>
          <p:nvPr/>
        </p:nvSpPr>
        <p:spPr>
          <a:xfrm>
            <a:off x="3913632" y="1371600"/>
            <a:ext cx="1554480" cy="2103120"/>
          </a:xfrm>
          <a:prstGeom prst="rect">
            <a:avLst/>
          </a:prstGeom>
          <a:solidFill>
            <a:srgbClr val="02C39A"/>
          </a:solidFill>
          <a:ln/>
          <a:effectLst>
            <a:outerShdw blurRad="76200" dist="25400" dir="8100000" algn="bl" rotWithShape="0">
              <a:srgbClr val="000000">
                <a:alpha val="12000"/>
              </a:srgbClr>
            </a:outerShdw>
          </a:effectLst>
        </p:spPr>
        <p:txBody>
          <a:bodyPr/>
          <a:lstStyle/>
          <a:p>
            <a:endParaRPr lang="en-US"/>
          </a:p>
        </p:txBody>
      </p:sp>
      <p:sp>
        <p:nvSpPr>
          <p:cNvPr id="17" name="Shape 12"/>
          <p:cNvSpPr/>
          <p:nvPr/>
        </p:nvSpPr>
        <p:spPr>
          <a:xfrm>
            <a:off x="4416552" y="1554480"/>
            <a:ext cx="548640" cy="548640"/>
          </a:xfrm>
          <a:prstGeom prst="ellipse">
            <a:avLst/>
          </a:prstGeom>
          <a:solidFill>
            <a:srgbClr val="01735B"/>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4537253" y="1675181"/>
            <a:ext cx="307238" cy="307238"/>
          </a:xfrm>
          <a:prstGeom prst="rect">
            <a:avLst/>
          </a:prstGeom>
        </p:spPr>
      </p:pic>
      <p:sp>
        <p:nvSpPr>
          <p:cNvPr id="19" name="Text 13"/>
          <p:cNvSpPr/>
          <p:nvPr/>
        </p:nvSpPr>
        <p:spPr>
          <a:xfrm>
            <a:off x="4005072" y="2240280"/>
            <a:ext cx="13716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Linguistic Evaluator</a:t>
            </a:r>
            <a:endParaRPr lang="en-US" sz="1100" dirty="0"/>
          </a:p>
        </p:txBody>
      </p:sp>
      <p:sp>
        <p:nvSpPr>
          <p:cNvPr id="20" name="Text 14"/>
          <p:cNvSpPr/>
          <p:nvPr/>
        </p:nvSpPr>
        <p:spPr>
          <a:xfrm>
            <a:off x="4005072" y="2697480"/>
            <a:ext cx="1371600" cy="640080"/>
          </a:xfrm>
          <a:prstGeom prst="rect">
            <a:avLst/>
          </a:prstGeom>
          <a:noFill/>
          <a:ln/>
        </p:spPr>
        <p:txBody>
          <a:bodyPr wrap="square" lIns="0" tIns="0" rIns="0" bIns="0" rtlCol="0" anchor="ctr"/>
          <a:lstStyle/>
          <a:p>
            <a:pPr marL="0" indent="0" algn="ctr">
              <a:buNone/>
            </a:pPr>
            <a:r>
              <a:rPr lang="en-US" sz="900" dirty="0">
                <a:solidFill>
                  <a:srgbClr val="F0F4F8"/>
                </a:solidFill>
                <a:latin typeface="Calibri" pitchFamily="34" charset="0"/>
                <a:ea typeface="Calibri" pitchFamily="34" charset="-122"/>
                <a:cs typeface="Calibri" pitchFamily="34" charset="-120"/>
              </a:rPr>
              <a:t>Assesses readability, word count, clarity</a:t>
            </a:r>
            <a:endParaRPr lang="en-US" sz="900" dirty="0"/>
          </a:p>
        </p:txBody>
      </p:sp>
      <p:sp>
        <p:nvSpPr>
          <p:cNvPr id="21" name="Shape 15"/>
          <p:cNvSpPr/>
          <p:nvPr/>
        </p:nvSpPr>
        <p:spPr>
          <a:xfrm>
            <a:off x="5596128" y="1371600"/>
            <a:ext cx="1554480" cy="2103120"/>
          </a:xfrm>
          <a:prstGeom prst="rect">
            <a:avLst/>
          </a:prstGeom>
          <a:solidFill>
            <a:srgbClr val="F5A623"/>
          </a:solidFill>
          <a:ln/>
          <a:effectLst>
            <a:outerShdw blurRad="76200" dist="25400" dir="8100000" algn="bl" rotWithShape="0">
              <a:srgbClr val="000000">
                <a:alpha val="12000"/>
              </a:srgbClr>
            </a:outerShdw>
          </a:effectLst>
        </p:spPr>
        <p:txBody>
          <a:bodyPr/>
          <a:lstStyle/>
          <a:p>
            <a:endParaRPr lang="en-US"/>
          </a:p>
        </p:txBody>
      </p:sp>
      <p:sp>
        <p:nvSpPr>
          <p:cNvPr id="22" name="Shape 16"/>
          <p:cNvSpPr/>
          <p:nvPr/>
        </p:nvSpPr>
        <p:spPr>
          <a:xfrm>
            <a:off x="6099048" y="1554480"/>
            <a:ext cx="548640" cy="548640"/>
          </a:xfrm>
          <a:prstGeom prst="ellipse">
            <a:avLst/>
          </a:prstGeom>
          <a:solidFill>
            <a:srgbClr val="BF7A09"/>
          </a:solidFill>
          <a:ln/>
        </p:spPr>
        <p:txBody>
          <a:bodyPr/>
          <a:lstStyle/>
          <a:p>
            <a:endParaRPr lang="en-US"/>
          </a:p>
        </p:txBody>
      </p:sp>
      <p:pic>
        <p:nvPicPr>
          <p:cNvPr id="23" name="Image 3" descr="preencoded.png"/>
          <p:cNvPicPr>
            <a:picLocks noChangeAspect="1"/>
          </p:cNvPicPr>
          <p:nvPr/>
        </p:nvPicPr>
        <p:blipFill>
          <a:blip r:embed="rId6"/>
          <a:stretch>
            <a:fillRect/>
          </a:stretch>
        </p:blipFill>
        <p:spPr>
          <a:xfrm>
            <a:off x="6219749" y="1675181"/>
            <a:ext cx="307238" cy="307238"/>
          </a:xfrm>
          <a:prstGeom prst="rect">
            <a:avLst/>
          </a:prstGeom>
        </p:spPr>
      </p:pic>
      <p:sp>
        <p:nvSpPr>
          <p:cNvPr id="24" name="Text 17"/>
          <p:cNvSpPr/>
          <p:nvPr/>
        </p:nvSpPr>
        <p:spPr>
          <a:xfrm>
            <a:off x="5687568" y="2240280"/>
            <a:ext cx="13716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Bias Assessor</a:t>
            </a:r>
            <a:endParaRPr lang="en-US" sz="1100" dirty="0"/>
          </a:p>
        </p:txBody>
      </p:sp>
      <p:sp>
        <p:nvSpPr>
          <p:cNvPr id="25" name="Text 18"/>
          <p:cNvSpPr/>
          <p:nvPr/>
        </p:nvSpPr>
        <p:spPr>
          <a:xfrm>
            <a:off x="5687568" y="2697480"/>
            <a:ext cx="1371600" cy="640080"/>
          </a:xfrm>
          <a:prstGeom prst="rect">
            <a:avLst/>
          </a:prstGeom>
          <a:noFill/>
          <a:ln/>
        </p:spPr>
        <p:txBody>
          <a:bodyPr wrap="square" lIns="0" tIns="0" rIns="0" bIns="0" rtlCol="0" anchor="ctr"/>
          <a:lstStyle/>
          <a:p>
            <a:pPr marL="0" indent="0" algn="ctr">
              <a:buNone/>
            </a:pPr>
            <a:r>
              <a:rPr lang="en-US" sz="900" dirty="0">
                <a:solidFill>
                  <a:srgbClr val="F0F4F8"/>
                </a:solidFill>
                <a:latin typeface="Calibri" pitchFamily="34" charset="0"/>
                <a:ea typeface="Calibri" pitchFamily="34" charset="-122"/>
                <a:cs typeface="Calibri" pitchFamily="34" charset="-120"/>
              </a:rPr>
              <a:t>Flags gender, age, cultural, SES language</a:t>
            </a:r>
            <a:endParaRPr lang="en-US" sz="900" dirty="0"/>
          </a:p>
        </p:txBody>
      </p:sp>
      <p:sp>
        <p:nvSpPr>
          <p:cNvPr id="26" name="Shape 19"/>
          <p:cNvSpPr/>
          <p:nvPr/>
        </p:nvSpPr>
        <p:spPr>
          <a:xfrm>
            <a:off x="7278624" y="1371600"/>
            <a:ext cx="1554480" cy="2103120"/>
          </a:xfrm>
          <a:prstGeom prst="rect">
            <a:avLst/>
          </a:prstGeom>
          <a:solidFill>
            <a:srgbClr val="E85D4A"/>
          </a:solidFill>
          <a:ln/>
          <a:effectLst>
            <a:outerShdw blurRad="76200" dist="25400" dir="8100000" algn="bl" rotWithShape="0">
              <a:srgbClr val="000000">
                <a:alpha val="12000"/>
              </a:srgbClr>
            </a:outerShdw>
          </a:effectLst>
        </p:spPr>
        <p:txBody>
          <a:bodyPr/>
          <a:lstStyle/>
          <a:p>
            <a:endParaRPr lang="en-US"/>
          </a:p>
        </p:txBody>
      </p:sp>
      <p:sp>
        <p:nvSpPr>
          <p:cNvPr id="27" name="Shape 20"/>
          <p:cNvSpPr/>
          <p:nvPr/>
        </p:nvSpPr>
        <p:spPr>
          <a:xfrm>
            <a:off x="7781544" y="1554480"/>
            <a:ext cx="548640" cy="548640"/>
          </a:xfrm>
          <a:prstGeom prst="ellipse">
            <a:avLst/>
          </a:prstGeom>
          <a:solidFill>
            <a:srgbClr val="AB2715"/>
          </a:solidFill>
          <a:ln/>
        </p:spPr>
        <p:txBody>
          <a:bodyPr/>
          <a:lstStyle/>
          <a:p>
            <a:endParaRPr lang="en-US"/>
          </a:p>
        </p:txBody>
      </p:sp>
      <p:pic>
        <p:nvPicPr>
          <p:cNvPr id="28" name="Image 4" descr="preencoded.png"/>
          <p:cNvPicPr>
            <a:picLocks noChangeAspect="1"/>
          </p:cNvPicPr>
          <p:nvPr/>
        </p:nvPicPr>
        <p:blipFill>
          <a:blip r:embed="rId7"/>
          <a:stretch>
            <a:fillRect/>
          </a:stretch>
        </p:blipFill>
        <p:spPr>
          <a:xfrm>
            <a:off x="7902245" y="1675181"/>
            <a:ext cx="307238" cy="307238"/>
          </a:xfrm>
          <a:prstGeom prst="rect">
            <a:avLst/>
          </a:prstGeom>
        </p:spPr>
      </p:pic>
      <p:sp>
        <p:nvSpPr>
          <p:cNvPr id="29" name="Text 21"/>
          <p:cNvSpPr/>
          <p:nvPr/>
        </p:nvSpPr>
        <p:spPr>
          <a:xfrm>
            <a:off x="7370064" y="2240280"/>
            <a:ext cx="137160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Revision Agent</a:t>
            </a:r>
            <a:endParaRPr lang="en-US" sz="1100" dirty="0"/>
          </a:p>
        </p:txBody>
      </p:sp>
      <p:sp>
        <p:nvSpPr>
          <p:cNvPr id="30" name="Text 22"/>
          <p:cNvSpPr/>
          <p:nvPr/>
        </p:nvSpPr>
        <p:spPr>
          <a:xfrm>
            <a:off x="7370064" y="2697480"/>
            <a:ext cx="1371600" cy="640080"/>
          </a:xfrm>
          <a:prstGeom prst="rect">
            <a:avLst/>
          </a:prstGeom>
          <a:noFill/>
          <a:ln/>
        </p:spPr>
        <p:txBody>
          <a:bodyPr wrap="square" lIns="0" tIns="0" rIns="0" bIns="0" rtlCol="0" anchor="ctr"/>
          <a:lstStyle/>
          <a:p>
            <a:pPr marL="0" indent="0" algn="ctr">
              <a:buNone/>
            </a:pPr>
            <a:r>
              <a:rPr lang="en-US" sz="900" dirty="0">
                <a:solidFill>
                  <a:srgbClr val="F0F4F8"/>
                </a:solidFill>
                <a:latin typeface="Calibri" pitchFamily="34" charset="0"/>
                <a:ea typeface="Calibri" pitchFamily="34" charset="-122"/>
                <a:cs typeface="Calibri" pitchFamily="34" charset="-120"/>
              </a:rPr>
              <a:t>Simplifies items above reading level cap</a:t>
            </a:r>
            <a:endParaRPr lang="en-US" sz="900" dirty="0"/>
          </a:p>
        </p:txBody>
      </p:sp>
      <p:sp>
        <p:nvSpPr>
          <p:cNvPr id="31" name="Text 23"/>
          <p:cNvSpPr/>
          <p:nvPr/>
        </p:nvSpPr>
        <p:spPr>
          <a:xfrm>
            <a:off x="548640" y="3840480"/>
            <a:ext cx="8046720" cy="548640"/>
          </a:xfrm>
          <a:prstGeom prst="rect">
            <a:avLst/>
          </a:prstGeom>
          <a:noFill/>
          <a:ln/>
        </p:spPr>
        <p:txBody>
          <a:bodyPr wrap="square" lIns="0" tIns="0" rIns="0" bIns="0" rtlCol="0" anchor="ctr"/>
          <a:lstStyle/>
          <a:p>
            <a:pPr marL="0" indent="0">
              <a:buNone/>
            </a:pPr>
            <a:r>
              <a:rPr lang="en-US" sz="1200" dirty="0">
                <a:solidFill>
                  <a:srgbClr val="323F4B"/>
                </a:solidFill>
                <a:latin typeface="Calibri" pitchFamily="34" charset="0"/>
                <a:ea typeface="Calibri" pitchFamily="34" charset="-122"/>
                <a:cs typeface="Calibri" pitchFamily="34" charset="-120"/>
              </a:rPr>
              <a:t>The pipeline implements multi-agent principles through multi-phase decomposition — each stage has a dedicated prompt, dedicated model, and inspectable output.</a:t>
            </a:r>
            <a:endParaRPr lang="en-US" sz="1200" dirty="0"/>
          </a:p>
        </p:txBody>
      </p:sp>
      <p:sp>
        <p:nvSpPr>
          <p:cNvPr id="32" name="Text 24"/>
          <p:cNvSpPr/>
          <p:nvPr/>
        </p:nvSpPr>
        <p:spPr>
          <a:xfrm>
            <a:off x="548640" y="4389120"/>
            <a:ext cx="8046720" cy="274320"/>
          </a:xfrm>
          <a:prstGeom prst="rect">
            <a:avLst/>
          </a:prstGeom>
          <a:noFill/>
          <a:ln/>
        </p:spPr>
        <p:txBody>
          <a:bodyPr wrap="square" lIns="0" tIns="0" rIns="0" bIns="0" rtlCol="0" anchor="ctr"/>
          <a:lstStyle/>
          <a:p>
            <a:pPr marL="0" indent="0">
              <a:buNone/>
            </a:pPr>
            <a:r>
              <a:rPr lang="en-US" sz="1000" i="1" dirty="0">
                <a:solidFill>
                  <a:srgbClr val="7B8794"/>
                </a:solidFill>
                <a:latin typeface="Calibri" pitchFamily="34" charset="0"/>
                <a:ea typeface="Calibri" pitchFamily="34" charset="-122"/>
                <a:cs typeface="Calibri" pitchFamily="34" charset="-120"/>
              </a:rPr>
              <a:t>Lee, Son, &amp; Jia (2025) — LM-AIG: LLM-based Multi-Agent AIG System</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838"/>
        </a:solidFill>
        <a:effectLst/>
      </p:bgPr>
    </p:bg>
    <p:spTree>
      <p:nvGrpSpPr>
        <p:cNvPr id="1" name=""/>
        <p:cNvGrpSpPr/>
        <p:nvPr/>
      </p:nvGrpSpPr>
      <p:grpSpPr>
        <a:xfrm>
          <a:off x="0" y="0"/>
          <a:ext cx="0" cy="0"/>
          <a:chOff x="0" y="0"/>
          <a:chExt cx="0" cy="0"/>
        </a:xfrm>
      </p:grpSpPr>
      <p:sp>
        <p:nvSpPr>
          <p:cNvPr id="3" name="Text 0"/>
          <p:cNvSpPr/>
          <p:nvPr/>
        </p:nvSpPr>
        <p:spPr>
          <a:xfrm>
            <a:off x="731520" y="1463040"/>
            <a:ext cx="7680960" cy="1097280"/>
          </a:xfrm>
          <a:prstGeom prst="rect">
            <a:avLst/>
          </a:prstGeom>
          <a:noFill/>
          <a:ln/>
        </p:spPr>
        <p:txBody>
          <a:bodyPr wrap="square" lIns="0" tIns="0" rIns="0" bIns="0" rtlCol="0" anchor="ctr"/>
          <a:lstStyle/>
          <a:p>
            <a:pPr marL="0" indent="0">
              <a:buNone/>
            </a:pPr>
            <a:r>
              <a:rPr lang="en-US" sz="4000" b="1" dirty="0">
                <a:solidFill>
                  <a:srgbClr val="FFFFFF"/>
                </a:solidFill>
                <a:latin typeface="Trebuchet MS" pitchFamily="34" charset="0"/>
                <a:ea typeface="Trebuchet MS" pitchFamily="34" charset="-122"/>
                <a:cs typeface="Trebuchet MS" pitchFamily="34" charset="-120"/>
              </a:rPr>
              <a:t>Phase 2: Item Generation</a:t>
            </a:r>
            <a:endParaRPr lang="en-US" sz="4000" dirty="0"/>
          </a:p>
        </p:txBody>
      </p:sp>
      <p:sp>
        <p:nvSpPr>
          <p:cNvPr id="4" name="Text 1"/>
          <p:cNvSpPr/>
          <p:nvPr/>
        </p:nvSpPr>
        <p:spPr>
          <a:xfrm>
            <a:off x="731520" y="2560320"/>
            <a:ext cx="7680960" cy="731520"/>
          </a:xfrm>
          <a:prstGeom prst="rect">
            <a:avLst/>
          </a:prstGeom>
          <a:noFill/>
          <a:ln/>
        </p:spPr>
        <p:txBody>
          <a:bodyPr wrap="square" lIns="0" tIns="0" rIns="0" bIns="0" rtlCol="0" anchor="ctr"/>
          <a:lstStyle/>
          <a:p>
            <a:pPr marL="0" indent="0">
              <a:buNone/>
            </a:pPr>
            <a:r>
              <a:rPr lang="en-US" sz="1800" dirty="0">
                <a:solidFill>
                  <a:srgbClr val="9AA5B1"/>
                </a:solidFill>
                <a:latin typeface="Calibri" pitchFamily="34" charset="0"/>
                <a:ea typeface="Calibri" pitchFamily="34" charset="-122"/>
                <a:cs typeface="Calibri" pitchFamily="34" charset="-120"/>
              </a:rPr>
              <a:t>From behavioral examples to survey items</a:t>
            </a:r>
            <a:endParaRPr lang="en-US" sz="1800" dirty="0"/>
          </a:p>
        </p:txBody>
      </p:sp>
      <p:sp>
        <p:nvSpPr>
          <p:cNvPr id="5" name="Shape 2"/>
          <p:cNvSpPr/>
          <p:nvPr/>
        </p:nvSpPr>
        <p:spPr>
          <a:xfrm>
            <a:off x="731520" y="3291840"/>
            <a:ext cx="2286000" cy="36576"/>
          </a:xfrm>
          <a:prstGeom prst="rect">
            <a:avLst/>
          </a:prstGeom>
          <a:solidFill>
            <a:srgbClr val="028090"/>
          </a:solidFill>
          <a:ln/>
        </p:spPr>
        <p:txBody>
          <a:bodyPr/>
          <a:lstStyle/>
          <a:p>
            <a:endParaRPr lang="en-US"/>
          </a:p>
        </p:txBody>
      </p:sp>
      <p:sp>
        <p:nvSpPr>
          <p:cNvPr id="6" name="Shape 3"/>
          <p:cNvSpPr/>
          <p:nvPr/>
        </p:nvSpPr>
        <p:spPr>
          <a:xfrm>
            <a:off x="7772400" y="3474720"/>
            <a:ext cx="731520" cy="731520"/>
          </a:xfrm>
          <a:prstGeom prst="ellipse">
            <a:avLst/>
          </a:prstGeom>
          <a:solidFill>
            <a:srgbClr val="00A896"/>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7933334" y="3635654"/>
            <a:ext cx="409651" cy="40965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a:effectLst/>
      </p:bgPr>
    </p:bg>
    <p:spTree>
      <p:nvGrpSpPr>
        <p:cNvPr id="1" name=""/>
        <p:cNvGrpSpPr/>
        <p:nvPr/>
      </p:nvGrpSpPr>
      <p:grpSpPr>
        <a:xfrm>
          <a:off x="0" y="0"/>
          <a:ext cx="0" cy="0"/>
          <a:chOff x="0" y="0"/>
          <a:chExt cx="0" cy="0"/>
        </a:xfrm>
      </p:grpSpPr>
      <p:sp>
        <p:nvSpPr>
          <p:cNvPr id="3" name="Text 0"/>
          <p:cNvSpPr/>
          <p:nvPr/>
        </p:nvSpPr>
        <p:spPr>
          <a:xfrm>
            <a:off x="548640" y="274320"/>
            <a:ext cx="8046720" cy="594360"/>
          </a:xfrm>
          <a:prstGeom prst="rect">
            <a:avLst/>
          </a:prstGeom>
          <a:noFill/>
          <a:ln/>
        </p:spPr>
        <p:txBody>
          <a:bodyPr wrap="square" lIns="0" tIns="0" rIns="0" bIns="0" rtlCol="0" anchor="ctr"/>
          <a:lstStyle/>
          <a:p>
            <a:pPr marL="0" indent="0">
              <a:buNone/>
            </a:pPr>
            <a:r>
              <a:rPr lang="en-US" sz="2400" b="1" dirty="0">
                <a:solidFill>
                  <a:srgbClr val="323F4B"/>
                </a:solidFill>
                <a:latin typeface="Trebuchet MS" pitchFamily="34" charset="0"/>
                <a:ea typeface="Trebuchet MS" pitchFamily="34" charset="-122"/>
                <a:cs typeface="Trebuchet MS" pitchFamily="34" charset="-120"/>
              </a:rPr>
              <a:t>Phase 2: Domain-Specific Item Writing</a:t>
            </a:r>
            <a:endParaRPr lang="en-US" sz="2400" dirty="0"/>
          </a:p>
        </p:txBody>
      </p:sp>
      <p:sp>
        <p:nvSpPr>
          <p:cNvPr id="4" name="Text 1"/>
          <p:cNvSpPr/>
          <p:nvPr/>
        </p:nvSpPr>
        <p:spPr>
          <a:xfrm>
            <a:off x="548640" y="822960"/>
            <a:ext cx="8046720" cy="32004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Tariq Shaban</a:t>
            </a:r>
            <a:endParaRPr lang="en-US" sz="1100" dirty="0"/>
          </a:p>
        </p:txBody>
      </p:sp>
      <p:sp>
        <p:nvSpPr>
          <p:cNvPr id="5" name="Shape 2"/>
          <p:cNvSpPr/>
          <p:nvPr/>
        </p:nvSpPr>
        <p:spPr>
          <a:xfrm>
            <a:off x="0" y="0"/>
            <a:ext cx="9144000" cy="73152"/>
          </a:xfrm>
          <a:prstGeom prst="rect">
            <a:avLst/>
          </a:prstGeom>
          <a:solidFill>
            <a:srgbClr val="028090"/>
          </a:solidFill>
          <a:ln/>
        </p:spPr>
        <p:txBody>
          <a:bodyPr/>
          <a:lstStyle/>
          <a:p>
            <a:endParaRPr lang="en-US"/>
          </a:p>
        </p:txBody>
      </p:sp>
      <p:sp>
        <p:nvSpPr>
          <p:cNvPr id="6" name="Shape 3"/>
          <p:cNvSpPr/>
          <p:nvPr/>
        </p:nvSpPr>
        <p:spPr>
          <a:xfrm>
            <a:off x="548640" y="1280160"/>
            <a:ext cx="8046720" cy="2377440"/>
          </a:xfrm>
          <a:prstGeom prst="rect">
            <a:avLst/>
          </a:prstGeom>
          <a:solidFill>
            <a:srgbClr val="1B2838"/>
          </a:solidFill>
          <a:ln/>
        </p:spPr>
        <p:txBody>
          <a:bodyPr/>
          <a:lstStyle/>
          <a:p>
            <a:endParaRPr lang="en-US"/>
          </a:p>
        </p:txBody>
      </p:sp>
      <p:sp>
        <p:nvSpPr>
          <p:cNvPr id="7" name="Text 4"/>
          <p:cNvSpPr/>
          <p:nvPr/>
        </p:nvSpPr>
        <p:spPr>
          <a:xfrm>
            <a:off x="731520" y="1371600"/>
            <a:ext cx="7680960" cy="320040"/>
          </a:xfrm>
          <a:prstGeom prst="rect">
            <a:avLst/>
          </a:prstGeom>
          <a:noFill/>
          <a:ln/>
        </p:spPr>
        <p:txBody>
          <a:bodyPr wrap="square" lIns="0" tIns="0" rIns="0" bIns="0" rtlCol="0" anchor="ctr"/>
          <a:lstStyle/>
          <a:p>
            <a:pPr marL="0" indent="0">
              <a:buNone/>
            </a:pPr>
            <a:r>
              <a:rPr lang="en-US" sz="1200" b="1" dirty="0">
                <a:solidFill>
                  <a:srgbClr val="F5A623"/>
                </a:solidFill>
                <a:latin typeface="Trebuchet MS" pitchFamily="34" charset="0"/>
                <a:ea typeface="Trebuchet MS" pitchFamily="34" charset="-122"/>
                <a:cs typeface="Trebuchet MS" pitchFamily="34" charset="-120"/>
              </a:rPr>
              <a:t>CRITICAL RULE — DOMAIN SPECIFICITY (from the prompt):</a:t>
            </a:r>
            <a:endParaRPr lang="en-US" sz="1200" dirty="0"/>
          </a:p>
        </p:txBody>
      </p:sp>
      <p:sp>
        <p:nvSpPr>
          <p:cNvPr id="8" name="Text 5"/>
          <p:cNvSpPr/>
          <p:nvPr/>
        </p:nvSpPr>
        <p:spPr>
          <a:xfrm>
            <a:off x="731520" y="1737360"/>
            <a:ext cx="7680960" cy="1371600"/>
          </a:xfrm>
          <a:prstGeom prst="rect">
            <a:avLst/>
          </a:prstGeom>
          <a:noFill/>
          <a:ln/>
        </p:spPr>
        <p:txBody>
          <a:bodyPr wrap="square" lIns="0" tIns="0" rIns="0" bIns="0" rtlCol="0" anchor="t"/>
          <a:lstStyle/>
          <a:p>
            <a:pPr marL="0" indent="0">
              <a:buNone/>
            </a:pPr>
            <a:r>
              <a:rPr lang="en-US" sz="1100" dirty="0">
                <a:solidFill>
                  <a:srgbClr val="02C39A"/>
                </a:solidFill>
                <a:latin typeface="Consolas" pitchFamily="34" charset="0"/>
                <a:ea typeface="Consolas" pitchFamily="34" charset="-122"/>
                <a:cs typeface="Consolas" pitchFamily="34" charset="-120"/>
              </a:rPr>
              <a:t>If the domain is "Using metaphors to explain ideas to colleagues":</a:t>
            </a:r>
            <a:endParaRPr lang="en-US" sz="1100" dirty="0"/>
          </a:p>
          <a:p>
            <a:pPr marL="0" indent="0">
              <a:buNone/>
            </a:pPr>
            <a:endParaRPr lang="en-US" sz="1100" dirty="0"/>
          </a:p>
          <a:p>
            <a:pPr marL="0" indent="0">
              <a:buNone/>
            </a:pPr>
            <a:r>
              <a:rPr lang="en-US" sz="1100" dirty="0">
                <a:solidFill>
                  <a:srgbClr val="02C39A"/>
                </a:solidFill>
                <a:latin typeface="Consolas" pitchFamily="34" charset="0"/>
                <a:ea typeface="Consolas" pitchFamily="34" charset="-122"/>
                <a:cs typeface="Consolas" pitchFamily="34" charset="-120"/>
              </a:rPr>
              <a:t>  GOOD:  "I use analogies to make hard ideas clear"</a:t>
            </a:r>
            <a:endParaRPr lang="en-US" sz="1100" dirty="0"/>
          </a:p>
          <a:p>
            <a:pPr marL="0" indent="0">
              <a:buNone/>
            </a:pPr>
            <a:r>
              <a:rPr lang="en-US" sz="1100" dirty="0">
                <a:solidFill>
                  <a:srgbClr val="02C39A"/>
                </a:solidFill>
                <a:latin typeface="Consolas" pitchFamily="34" charset="0"/>
                <a:ea typeface="Consolas" pitchFamily="34" charset="-122"/>
                <a:cs typeface="Consolas" pitchFamily="34" charset="-120"/>
              </a:rPr>
              <a:t>         ← specific to this domain</a:t>
            </a:r>
            <a:endParaRPr lang="en-US" sz="1100" dirty="0"/>
          </a:p>
          <a:p>
            <a:pPr marL="0" indent="0">
              <a:buNone/>
            </a:pPr>
            <a:endParaRPr lang="en-US" sz="1100" dirty="0"/>
          </a:p>
          <a:p>
            <a:pPr marL="0" indent="0">
              <a:buNone/>
            </a:pPr>
            <a:r>
              <a:rPr lang="en-US" sz="1100" dirty="0">
                <a:solidFill>
                  <a:srgbClr val="02C39A"/>
                </a:solidFill>
                <a:latin typeface="Consolas" pitchFamily="34" charset="0"/>
                <a:ea typeface="Consolas" pitchFamily="34" charset="-122"/>
                <a:cs typeface="Consolas" pitchFamily="34" charset="-120"/>
              </a:rPr>
              <a:t>  BAD:   "I see patterns others miss in problems"</a:t>
            </a:r>
            <a:endParaRPr lang="en-US" sz="1100" dirty="0"/>
          </a:p>
          <a:p>
            <a:pPr marL="0" indent="0">
              <a:buNone/>
            </a:pPr>
            <a:r>
              <a:rPr lang="en-US" sz="1100" dirty="0">
                <a:solidFill>
                  <a:srgbClr val="02C39A"/>
                </a:solidFill>
                <a:latin typeface="Consolas" pitchFamily="34" charset="0"/>
                <a:ea typeface="Consolas" pitchFamily="34" charset="-122"/>
                <a:cs typeface="Consolas" pitchFamily="34" charset="-120"/>
              </a:rPr>
              <a:t>         ← could come from ANY domain of Openness</a:t>
            </a:r>
            <a:endParaRPr lang="en-US" sz="1100" dirty="0"/>
          </a:p>
        </p:txBody>
      </p:sp>
      <p:sp>
        <p:nvSpPr>
          <p:cNvPr id="9" name="Text 6"/>
          <p:cNvSpPr/>
          <p:nvPr/>
        </p:nvSpPr>
        <p:spPr>
          <a:xfrm>
            <a:off x="731520" y="3200400"/>
            <a:ext cx="7680960" cy="320040"/>
          </a:xfrm>
          <a:prstGeom prst="rect">
            <a:avLst/>
          </a:prstGeom>
          <a:noFill/>
          <a:ln/>
        </p:spPr>
        <p:txBody>
          <a:bodyPr wrap="square" lIns="0" tIns="0" rIns="0" bIns="0" rtlCol="0" anchor="ctr"/>
          <a:lstStyle/>
          <a:p>
            <a:pPr marL="0" indent="0">
              <a:buNone/>
            </a:pPr>
            <a:r>
              <a:rPr lang="en-US" sz="1000" dirty="0">
                <a:solidFill>
                  <a:srgbClr val="9AA5B1"/>
                </a:solidFill>
                <a:latin typeface="Calibri" pitchFamily="34" charset="0"/>
                <a:ea typeface="Calibri" pitchFamily="34" charset="-122"/>
                <a:cs typeface="Calibri" pitchFamily="34" charset="-120"/>
              </a:rPr>
              <a:t>Item writing rules: max 9 words • present tense • "I" statements • plain vocabulary • single idea • no negations • US spelling</a:t>
            </a:r>
            <a:endParaRPr lang="en-US" sz="1000" dirty="0"/>
          </a:p>
        </p:txBody>
      </p:sp>
      <p:sp>
        <p:nvSpPr>
          <p:cNvPr id="10" name="Text 7"/>
          <p:cNvSpPr/>
          <p:nvPr/>
        </p:nvSpPr>
        <p:spPr>
          <a:xfrm>
            <a:off x="548640" y="3931920"/>
            <a:ext cx="8046720" cy="457200"/>
          </a:xfrm>
          <a:prstGeom prst="rect">
            <a:avLst/>
          </a:prstGeom>
          <a:noFill/>
          <a:ln/>
        </p:spPr>
        <p:txBody>
          <a:bodyPr wrap="square" lIns="0" tIns="0" rIns="0" bIns="0" rtlCol="0" anchor="ctr"/>
          <a:lstStyle/>
          <a:p>
            <a:pPr marL="0" indent="0">
              <a:buNone/>
            </a:pPr>
            <a:r>
              <a:rPr lang="en-US" sz="1200" dirty="0">
                <a:solidFill>
                  <a:srgbClr val="323F4B"/>
                </a:solidFill>
                <a:latin typeface="Calibri" pitchFamily="34" charset="0"/>
                <a:ea typeface="Calibri" pitchFamily="34" charset="-122"/>
                <a:cs typeface="Calibri" pitchFamily="34" charset="-120"/>
              </a:rPr>
              <a:t>Near-duplicates detected by TF-IDF cosine similarity (threshold: 0.85) — flagged for human review, not auto-removed.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838"/>
        </a:solidFill>
        <a:effectLst/>
      </p:bgPr>
    </p:bg>
    <p:spTree>
      <p:nvGrpSpPr>
        <p:cNvPr id="1" name=""/>
        <p:cNvGrpSpPr/>
        <p:nvPr/>
      </p:nvGrpSpPr>
      <p:grpSpPr>
        <a:xfrm>
          <a:off x="0" y="0"/>
          <a:ext cx="0" cy="0"/>
          <a:chOff x="0" y="0"/>
          <a:chExt cx="0" cy="0"/>
        </a:xfrm>
      </p:grpSpPr>
      <p:sp>
        <p:nvSpPr>
          <p:cNvPr id="3" name="Text 0"/>
          <p:cNvSpPr/>
          <p:nvPr/>
        </p:nvSpPr>
        <p:spPr>
          <a:xfrm>
            <a:off x="731520" y="1463040"/>
            <a:ext cx="7680960" cy="1097280"/>
          </a:xfrm>
          <a:prstGeom prst="rect">
            <a:avLst/>
          </a:prstGeom>
          <a:noFill/>
          <a:ln/>
        </p:spPr>
        <p:txBody>
          <a:bodyPr wrap="square" lIns="0" tIns="0" rIns="0" bIns="0" rtlCol="0" anchor="ctr"/>
          <a:lstStyle/>
          <a:p>
            <a:pPr marL="0" indent="0">
              <a:buNone/>
            </a:pPr>
            <a:r>
              <a:rPr lang="en-US" sz="4000" b="1" dirty="0">
                <a:solidFill>
                  <a:srgbClr val="FFFFFF"/>
                </a:solidFill>
                <a:latin typeface="Trebuchet MS" pitchFamily="34" charset="0"/>
                <a:ea typeface="Trebuchet MS" pitchFamily="34" charset="-122"/>
                <a:cs typeface="Trebuchet MS" pitchFamily="34" charset="-120"/>
              </a:rPr>
              <a:t>Phase 3: Readability &amp; Bias Analysis</a:t>
            </a:r>
            <a:endParaRPr lang="en-US" sz="4000" dirty="0"/>
          </a:p>
        </p:txBody>
      </p:sp>
      <p:sp>
        <p:nvSpPr>
          <p:cNvPr id="4" name="Text 1"/>
          <p:cNvSpPr/>
          <p:nvPr/>
        </p:nvSpPr>
        <p:spPr>
          <a:xfrm>
            <a:off x="731520" y="2560320"/>
            <a:ext cx="7680960" cy="731520"/>
          </a:xfrm>
          <a:prstGeom prst="rect">
            <a:avLst/>
          </a:prstGeom>
          <a:noFill/>
          <a:ln/>
        </p:spPr>
        <p:txBody>
          <a:bodyPr wrap="square" lIns="0" tIns="0" rIns="0" bIns="0" rtlCol="0" anchor="ctr"/>
          <a:lstStyle/>
          <a:p>
            <a:pPr marL="0" indent="0">
              <a:buNone/>
            </a:pPr>
            <a:r>
              <a:rPr lang="en-US" sz="1800" dirty="0">
                <a:solidFill>
                  <a:srgbClr val="9AA5B1"/>
                </a:solidFill>
                <a:latin typeface="Calibri" pitchFamily="34" charset="0"/>
                <a:ea typeface="Calibri" pitchFamily="34" charset="-122"/>
                <a:cs typeface="Calibri" pitchFamily="34" charset="-120"/>
              </a:rPr>
              <a:t>Automated screening with human review of edge cases</a:t>
            </a:r>
            <a:endParaRPr lang="en-US" sz="1800" dirty="0"/>
          </a:p>
        </p:txBody>
      </p:sp>
      <p:sp>
        <p:nvSpPr>
          <p:cNvPr id="5" name="Shape 2"/>
          <p:cNvSpPr/>
          <p:nvPr/>
        </p:nvSpPr>
        <p:spPr>
          <a:xfrm>
            <a:off x="731520" y="3291840"/>
            <a:ext cx="2286000" cy="36576"/>
          </a:xfrm>
          <a:prstGeom prst="rect">
            <a:avLst/>
          </a:prstGeom>
          <a:solidFill>
            <a:srgbClr val="028090"/>
          </a:solidFill>
          <a:ln/>
        </p:spPr>
        <p:txBody>
          <a:bodyPr/>
          <a:lstStyle/>
          <a:p>
            <a:endParaRPr lang="en-US"/>
          </a:p>
        </p:txBody>
      </p:sp>
      <p:sp>
        <p:nvSpPr>
          <p:cNvPr id="6" name="Shape 3"/>
          <p:cNvSpPr/>
          <p:nvPr/>
        </p:nvSpPr>
        <p:spPr>
          <a:xfrm>
            <a:off x="7772400" y="3474720"/>
            <a:ext cx="731520" cy="731520"/>
          </a:xfrm>
          <a:prstGeom prst="ellipse">
            <a:avLst/>
          </a:prstGeom>
          <a:solidFill>
            <a:srgbClr val="02C39A"/>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7933334" y="3635654"/>
            <a:ext cx="409651" cy="40965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a:effectLst/>
      </p:bgPr>
    </p:bg>
    <p:spTree>
      <p:nvGrpSpPr>
        <p:cNvPr id="1" name=""/>
        <p:cNvGrpSpPr/>
        <p:nvPr/>
      </p:nvGrpSpPr>
      <p:grpSpPr>
        <a:xfrm>
          <a:off x="0" y="0"/>
          <a:ext cx="0" cy="0"/>
          <a:chOff x="0" y="0"/>
          <a:chExt cx="0" cy="0"/>
        </a:xfrm>
      </p:grpSpPr>
      <p:sp>
        <p:nvSpPr>
          <p:cNvPr id="3" name="Text 0"/>
          <p:cNvSpPr/>
          <p:nvPr/>
        </p:nvSpPr>
        <p:spPr>
          <a:xfrm>
            <a:off x="548640" y="274320"/>
            <a:ext cx="8046720" cy="594360"/>
          </a:xfrm>
          <a:prstGeom prst="rect">
            <a:avLst/>
          </a:prstGeom>
          <a:noFill/>
          <a:ln/>
        </p:spPr>
        <p:txBody>
          <a:bodyPr wrap="square" lIns="0" tIns="0" rIns="0" bIns="0" rtlCol="0" anchor="ctr"/>
          <a:lstStyle/>
          <a:p>
            <a:pPr marL="0" indent="0">
              <a:buNone/>
            </a:pPr>
            <a:r>
              <a:rPr lang="en-US" sz="2400" b="1" dirty="0">
                <a:solidFill>
                  <a:srgbClr val="323F4B"/>
                </a:solidFill>
                <a:latin typeface="Trebuchet MS" pitchFamily="34" charset="0"/>
                <a:ea typeface="Trebuchet MS" pitchFamily="34" charset="-122"/>
                <a:cs typeface="Trebuchet MS" pitchFamily="34" charset="-120"/>
              </a:rPr>
              <a:t>Phase 3: Automated Readability &amp; Bias Screening</a:t>
            </a:r>
            <a:endParaRPr lang="en-US" sz="2400" dirty="0"/>
          </a:p>
        </p:txBody>
      </p:sp>
      <p:sp>
        <p:nvSpPr>
          <p:cNvPr id="4" name="Text 1"/>
          <p:cNvSpPr/>
          <p:nvPr/>
        </p:nvSpPr>
        <p:spPr>
          <a:xfrm>
            <a:off x="548640" y="822960"/>
            <a:ext cx="8046720" cy="32004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Tariq Shaban</a:t>
            </a:r>
            <a:endParaRPr lang="en-US" sz="1100" dirty="0"/>
          </a:p>
        </p:txBody>
      </p:sp>
      <p:sp>
        <p:nvSpPr>
          <p:cNvPr id="5" name="Shape 2"/>
          <p:cNvSpPr/>
          <p:nvPr/>
        </p:nvSpPr>
        <p:spPr>
          <a:xfrm>
            <a:off x="0" y="0"/>
            <a:ext cx="9144000" cy="73152"/>
          </a:xfrm>
          <a:prstGeom prst="rect">
            <a:avLst/>
          </a:prstGeom>
          <a:solidFill>
            <a:srgbClr val="028090"/>
          </a:solidFill>
          <a:ln/>
        </p:spPr>
        <p:txBody>
          <a:bodyPr/>
          <a:lstStyle/>
          <a:p>
            <a:endParaRPr lang="en-US"/>
          </a:p>
        </p:txBody>
      </p:sp>
      <p:sp>
        <p:nvSpPr>
          <p:cNvPr id="6" name="Shape 3"/>
          <p:cNvSpPr/>
          <p:nvPr/>
        </p:nvSpPr>
        <p:spPr>
          <a:xfrm>
            <a:off x="548640" y="1280160"/>
            <a:ext cx="384048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7" name="Shape 4"/>
          <p:cNvSpPr/>
          <p:nvPr/>
        </p:nvSpPr>
        <p:spPr>
          <a:xfrm>
            <a:off x="548640" y="1280160"/>
            <a:ext cx="54864" cy="1645920"/>
          </a:xfrm>
          <a:prstGeom prst="rect">
            <a:avLst/>
          </a:prstGeom>
          <a:solidFill>
            <a:srgbClr val="028090"/>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731520" y="1463040"/>
            <a:ext cx="320040" cy="320040"/>
          </a:xfrm>
          <a:prstGeom prst="rect">
            <a:avLst/>
          </a:prstGeom>
        </p:spPr>
      </p:pic>
      <p:sp>
        <p:nvSpPr>
          <p:cNvPr id="9" name="Text 5"/>
          <p:cNvSpPr/>
          <p:nvPr/>
        </p:nvSpPr>
        <p:spPr>
          <a:xfrm>
            <a:off x="1188720" y="1417320"/>
            <a:ext cx="3017520" cy="320040"/>
          </a:xfrm>
          <a:prstGeom prst="rect">
            <a:avLst/>
          </a:prstGeom>
          <a:noFill/>
          <a:ln/>
        </p:spPr>
        <p:txBody>
          <a:bodyPr wrap="square" lIns="0" tIns="0" rIns="0" bIns="0" rtlCol="0" anchor="ctr"/>
          <a:lstStyle/>
          <a:p>
            <a:pPr marL="0" indent="0">
              <a:buNone/>
            </a:pPr>
            <a:r>
              <a:rPr lang="en-US" sz="1300" b="1" dirty="0">
                <a:solidFill>
                  <a:srgbClr val="323F4B"/>
                </a:solidFill>
                <a:latin typeface="Trebuchet MS" pitchFamily="34" charset="0"/>
                <a:ea typeface="Trebuchet MS" pitchFamily="34" charset="-122"/>
                <a:cs typeface="Trebuchet MS" pitchFamily="34" charset="-120"/>
              </a:rPr>
              <a:t>Six Readability Metrics</a:t>
            </a:r>
            <a:endParaRPr lang="en-US" sz="1300" dirty="0"/>
          </a:p>
        </p:txBody>
      </p:sp>
      <p:sp>
        <p:nvSpPr>
          <p:cNvPr id="10" name="Text 6"/>
          <p:cNvSpPr/>
          <p:nvPr/>
        </p:nvSpPr>
        <p:spPr>
          <a:xfrm>
            <a:off x="777240" y="1783080"/>
            <a:ext cx="3383280" cy="1005840"/>
          </a:xfrm>
          <a:prstGeom prst="rect">
            <a:avLst/>
          </a:prstGeom>
          <a:noFill/>
          <a:ln/>
        </p:spPr>
        <p:txBody>
          <a:bodyPr wrap="square" lIns="0" tIns="0" rIns="0" bIns="0" rtlCol="0" anchor="t"/>
          <a:lstStyle/>
          <a:p>
            <a:pPr marL="0" indent="0">
              <a:buNone/>
            </a:pPr>
            <a:r>
              <a:rPr lang="en-US" sz="1100" dirty="0">
                <a:solidFill>
                  <a:srgbClr val="7B8794"/>
                </a:solidFill>
                <a:latin typeface="Calibri" pitchFamily="34" charset="0"/>
                <a:ea typeface="Calibri" pitchFamily="34" charset="-122"/>
                <a:cs typeface="Calibri" pitchFamily="34" charset="-120"/>
              </a:rPr>
              <a:t>Flesch-Kincaid Grade • Flesch Reading Ease</a:t>
            </a: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Gunning Fog • Coleman-Liau Index</a:t>
            </a: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SMOG Index • Automated Readability Index</a:t>
            </a:r>
            <a:endParaRPr lang="en-US" sz="1100" dirty="0"/>
          </a:p>
          <a:p>
            <a:pPr marL="0" indent="0">
              <a:buNone/>
            </a:pP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Hard cap: Grade 12 → auto-simplify (up to 3×)</a:t>
            </a:r>
            <a:endParaRPr lang="en-US" sz="1100" dirty="0"/>
          </a:p>
        </p:txBody>
      </p:sp>
      <p:sp>
        <p:nvSpPr>
          <p:cNvPr id="11" name="Shape 7"/>
          <p:cNvSpPr/>
          <p:nvPr/>
        </p:nvSpPr>
        <p:spPr>
          <a:xfrm>
            <a:off x="4754880" y="1280160"/>
            <a:ext cx="384048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2" name="Shape 8"/>
          <p:cNvSpPr/>
          <p:nvPr/>
        </p:nvSpPr>
        <p:spPr>
          <a:xfrm>
            <a:off x="4754880" y="1280160"/>
            <a:ext cx="54864" cy="1645920"/>
          </a:xfrm>
          <a:prstGeom prst="rect">
            <a:avLst/>
          </a:prstGeom>
          <a:solidFill>
            <a:srgbClr val="028090"/>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937760" y="1463040"/>
            <a:ext cx="320040" cy="320040"/>
          </a:xfrm>
          <a:prstGeom prst="rect">
            <a:avLst/>
          </a:prstGeom>
        </p:spPr>
      </p:pic>
      <p:sp>
        <p:nvSpPr>
          <p:cNvPr id="14" name="Text 9"/>
          <p:cNvSpPr/>
          <p:nvPr/>
        </p:nvSpPr>
        <p:spPr>
          <a:xfrm>
            <a:off x="5394960" y="1417320"/>
            <a:ext cx="3017520" cy="320040"/>
          </a:xfrm>
          <a:prstGeom prst="rect">
            <a:avLst/>
          </a:prstGeom>
          <a:noFill/>
          <a:ln/>
        </p:spPr>
        <p:txBody>
          <a:bodyPr wrap="square" lIns="0" tIns="0" rIns="0" bIns="0" rtlCol="0" anchor="ctr"/>
          <a:lstStyle/>
          <a:p>
            <a:pPr marL="0" indent="0">
              <a:buNone/>
            </a:pPr>
            <a:r>
              <a:rPr lang="en-US" sz="1300" b="1" dirty="0">
                <a:solidFill>
                  <a:srgbClr val="323F4B"/>
                </a:solidFill>
                <a:latin typeface="Trebuchet MS" pitchFamily="34" charset="0"/>
                <a:ea typeface="Trebuchet MS" pitchFamily="34" charset="-122"/>
                <a:cs typeface="Trebuchet MS" pitchFamily="34" charset="-120"/>
              </a:rPr>
              <a:t>Bias Pattern Detection</a:t>
            </a:r>
            <a:endParaRPr lang="en-US" sz="1300" dirty="0"/>
          </a:p>
        </p:txBody>
      </p:sp>
      <p:sp>
        <p:nvSpPr>
          <p:cNvPr id="15" name="Text 10"/>
          <p:cNvSpPr/>
          <p:nvPr/>
        </p:nvSpPr>
        <p:spPr>
          <a:xfrm>
            <a:off x="4983480" y="1783080"/>
            <a:ext cx="3383280" cy="1005840"/>
          </a:xfrm>
          <a:prstGeom prst="rect">
            <a:avLst/>
          </a:prstGeom>
          <a:noFill/>
          <a:ln/>
        </p:spPr>
        <p:txBody>
          <a:bodyPr wrap="square" lIns="0" tIns="0" rIns="0" bIns="0" rtlCol="0" anchor="t"/>
          <a:lstStyle/>
          <a:p>
            <a:pPr marL="0" indent="0">
              <a:buNone/>
            </a:pPr>
            <a:r>
              <a:rPr lang="en-US" sz="1100" dirty="0">
                <a:solidFill>
                  <a:srgbClr val="7B8794"/>
                </a:solidFill>
                <a:latin typeface="Calibri" pitchFamily="34" charset="0"/>
                <a:ea typeface="Calibri" pitchFamily="34" charset="-122"/>
                <a:cs typeface="Calibri" pitchFamily="34" charset="-120"/>
              </a:rPr>
              <a:t>Gender • Age • Cultural • Socioeconomic</a:t>
            </a:r>
            <a:endParaRPr lang="en-US" sz="1100" dirty="0"/>
          </a:p>
          <a:p>
            <a:pPr marL="0" indent="0">
              <a:buNone/>
            </a:pP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Regex-based flagging — items flagged,</a:t>
            </a: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not auto-excluded. Most flags on short</a:t>
            </a: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"I" statements are false positives.</a:t>
            </a:r>
            <a:endParaRPr lang="en-US" sz="1100" dirty="0"/>
          </a:p>
        </p:txBody>
      </p:sp>
      <p:sp>
        <p:nvSpPr>
          <p:cNvPr id="16" name="Text 11"/>
          <p:cNvSpPr/>
          <p:nvPr/>
        </p:nvSpPr>
        <p:spPr>
          <a:xfrm>
            <a:off x="548640" y="3291840"/>
            <a:ext cx="8046720" cy="457200"/>
          </a:xfrm>
          <a:prstGeom prst="rect">
            <a:avLst/>
          </a:prstGeom>
          <a:noFill/>
          <a:ln/>
        </p:spPr>
        <p:txBody>
          <a:bodyPr wrap="square" lIns="0" tIns="0" rIns="0" bIns="0" rtlCol="0" anchor="ctr"/>
          <a:lstStyle/>
          <a:p>
            <a:pPr marL="0" indent="0">
              <a:buNone/>
            </a:pPr>
            <a:r>
              <a:rPr lang="en-US" sz="1200" dirty="0">
                <a:solidFill>
                  <a:srgbClr val="323F4B"/>
                </a:solidFill>
                <a:latin typeface="Calibri" pitchFamily="34" charset="0"/>
                <a:ea typeface="Calibri" pitchFamily="34" charset="-122"/>
                <a:cs typeface="Calibri" pitchFamily="34" charset="-120"/>
              </a:rPr>
              <a:t>Original wording always preserved in original_item_text — the audit trail is never broken.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4F8"/>
        </a:solidFill>
        <a:effectLst/>
      </p:bgPr>
    </p:bg>
    <p:spTree>
      <p:nvGrpSpPr>
        <p:cNvPr id="1" name=""/>
        <p:cNvGrpSpPr/>
        <p:nvPr/>
      </p:nvGrpSpPr>
      <p:grpSpPr>
        <a:xfrm>
          <a:off x="0" y="0"/>
          <a:ext cx="0" cy="0"/>
          <a:chOff x="0" y="0"/>
          <a:chExt cx="0" cy="0"/>
        </a:xfrm>
      </p:grpSpPr>
      <p:sp>
        <p:nvSpPr>
          <p:cNvPr id="3" name="Text 0"/>
          <p:cNvSpPr/>
          <p:nvPr/>
        </p:nvSpPr>
        <p:spPr>
          <a:xfrm>
            <a:off x="548640" y="274320"/>
            <a:ext cx="8046720" cy="594360"/>
          </a:xfrm>
          <a:prstGeom prst="rect">
            <a:avLst/>
          </a:prstGeom>
          <a:noFill/>
          <a:ln/>
        </p:spPr>
        <p:txBody>
          <a:bodyPr wrap="square" lIns="0" tIns="0" rIns="0" bIns="0" rtlCol="0" anchor="ctr"/>
          <a:lstStyle/>
          <a:p>
            <a:pPr marL="0" indent="0">
              <a:buNone/>
            </a:pPr>
            <a:r>
              <a:rPr lang="en-US" sz="2400" b="1" dirty="0">
                <a:solidFill>
                  <a:srgbClr val="323F4B"/>
                </a:solidFill>
                <a:latin typeface="Trebuchet MS" pitchFamily="34" charset="0"/>
                <a:ea typeface="Trebuchet MS" pitchFamily="34" charset="-122"/>
                <a:cs typeface="Trebuchet MS" pitchFamily="34" charset="-120"/>
              </a:rPr>
              <a:t>Linking to Psychometric Standards</a:t>
            </a:r>
            <a:endParaRPr lang="en-US" sz="2400" dirty="0"/>
          </a:p>
        </p:txBody>
      </p:sp>
      <p:sp>
        <p:nvSpPr>
          <p:cNvPr id="4" name="Text 1"/>
          <p:cNvSpPr/>
          <p:nvPr/>
        </p:nvSpPr>
        <p:spPr>
          <a:xfrm>
            <a:off x="548640" y="822960"/>
            <a:ext cx="8046720" cy="32004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Dr. Philseok Lee</a:t>
            </a:r>
            <a:endParaRPr lang="en-US" sz="1100" dirty="0"/>
          </a:p>
        </p:txBody>
      </p:sp>
      <p:sp>
        <p:nvSpPr>
          <p:cNvPr id="5" name="Shape 2"/>
          <p:cNvSpPr/>
          <p:nvPr/>
        </p:nvSpPr>
        <p:spPr>
          <a:xfrm>
            <a:off x="0" y="0"/>
            <a:ext cx="9144000" cy="73152"/>
          </a:xfrm>
          <a:prstGeom prst="rect">
            <a:avLst/>
          </a:prstGeom>
          <a:solidFill>
            <a:srgbClr val="028090"/>
          </a:solidFill>
          <a:ln/>
        </p:spPr>
        <p:txBody>
          <a:bodyPr/>
          <a:lstStyle/>
          <a:p>
            <a:endParaRPr lang="en-US"/>
          </a:p>
        </p:txBody>
      </p:sp>
      <p:sp>
        <p:nvSpPr>
          <p:cNvPr id="6" name="Shape 3"/>
          <p:cNvSpPr/>
          <p:nvPr/>
        </p:nvSpPr>
        <p:spPr>
          <a:xfrm>
            <a:off x="548640" y="1280160"/>
            <a:ext cx="8046720" cy="25603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7" name="Text 4"/>
          <p:cNvSpPr/>
          <p:nvPr/>
        </p:nvSpPr>
        <p:spPr>
          <a:xfrm>
            <a:off x="731520" y="1371600"/>
            <a:ext cx="7680960" cy="320040"/>
          </a:xfrm>
          <a:prstGeom prst="rect">
            <a:avLst/>
          </a:prstGeom>
          <a:noFill/>
          <a:ln/>
        </p:spPr>
        <p:txBody>
          <a:bodyPr wrap="square" lIns="0" tIns="0" rIns="0" bIns="0" rtlCol="0" anchor="ctr"/>
          <a:lstStyle/>
          <a:p>
            <a:pPr marL="0" indent="0">
              <a:buNone/>
            </a:pPr>
            <a:r>
              <a:rPr lang="en-US" sz="1300" b="1" dirty="0">
                <a:solidFill>
                  <a:srgbClr val="028090"/>
                </a:solidFill>
                <a:latin typeface="Trebuchet MS" pitchFamily="34" charset="0"/>
                <a:ea typeface="Trebuchet MS" pitchFamily="34" charset="-122"/>
                <a:cs typeface="Trebuchet MS" pitchFamily="34" charset="-120"/>
              </a:rPr>
              <a:t>AERA/APA/NCME Standards for Educational and Psychological Testing (2014)</a:t>
            </a:r>
            <a:endParaRPr lang="en-US" sz="1300" dirty="0"/>
          </a:p>
        </p:txBody>
      </p:sp>
      <p:sp>
        <p:nvSpPr>
          <p:cNvPr id="8" name="Text 5"/>
          <p:cNvSpPr/>
          <p:nvPr/>
        </p:nvSpPr>
        <p:spPr>
          <a:xfrm>
            <a:off x="731520" y="1828800"/>
            <a:ext cx="1463040" cy="365760"/>
          </a:xfrm>
          <a:prstGeom prst="rect">
            <a:avLst/>
          </a:prstGeom>
          <a:noFill/>
          <a:ln/>
        </p:spPr>
        <p:txBody>
          <a:bodyPr wrap="square" lIns="0" tIns="0" rIns="0" bIns="0" rtlCol="0" anchor="ctr"/>
          <a:lstStyle/>
          <a:p>
            <a:pPr marL="0" indent="0">
              <a:buNone/>
            </a:pPr>
            <a:r>
              <a:rPr lang="en-US" sz="1100" b="1" dirty="0">
                <a:solidFill>
                  <a:srgbClr val="028090"/>
                </a:solidFill>
                <a:latin typeface="Trebuchet MS" pitchFamily="34" charset="0"/>
                <a:ea typeface="Trebuchet MS" pitchFamily="34" charset="-122"/>
                <a:cs typeface="Trebuchet MS" pitchFamily="34" charset="-120"/>
              </a:rPr>
              <a:t>Standard 3.0</a:t>
            </a:r>
            <a:endParaRPr lang="en-US" sz="1100" dirty="0"/>
          </a:p>
        </p:txBody>
      </p:sp>
      <p:sp>
        <p:nvSpPr>
          <p:cNvPr id="9" name="Text 6"/>
          <p:cNvSpPr/>
          <p:nvPr/>
        </p:nvSpPr>
        <p:spPr>
          <a:xfrm>
            <a:off x="2286000" y="1828800"/>
            <a:ext cx="5943600" cy="365760"/>
          </a:xfrm>
          <a:prstGeom prst="rect">
            <a:avLst/>
          </a:prstGeom>
          <a:noFill/>
          <a:ln/>
        </p:spPr>
        <p:txBody>
          <a:bodyPr wrap="square" lIns="0" tIns="0" rIns="0" bIns="0" rtlCol="0" anchor="ctr"/>
          <a:lstStyle/>
          <a:p>
            <a:pPr marL="0" indent="0">
              <a:buNone/>
            </a:pPr>
            <a:r>
              <a:rPr lang="en-US" sz="1100" dirty="0">
                <a:solidFill>
                  <a:srgbClr val="323F4B"/>
                </a:solidFill>
                <a:latin typeface="Calibri" pitchFamily="34" charset="0"/>
                <a:ea typeface="Calibri" pitchFamily="34" charset="-122"/>
                <a:cs typeface="Calibri" pitchFamily="34" charset="-120"/>
              </a:rPr>
              <a:t>Item development procedures should be documented and based on construct definition</a:t>
            </a:r>
            <a:endParaRPr lang="en-US" sz="1100" dirty="0"/>
          </a:p>
        </p:txBody>
      </p:sp>
      <p:sp>
        <p:nvSpPr>
          <p:cNvPr id="10" name="Text 7"/>
          <p:cNvSpPr/>
          <p:nvPr/>
        </p:nvSpPr>
        <p:spPr>
          <a:xfrm>
            <a:off x="731520" y="2286000"/>
            <a:ext cx="1463040" cy="365760"/>
          </a:xfrm>
          <a:prstGeom prst="rect">
            <a:avLst/>
          </a:prstGeom>
          <a:noFill/>
          <a:ln/>
        </p:spPr>
        <p:txBody>
          <a:bodyPr wrap="square" lIns="0" tIns="0" rIns="0" bIns="0" rtlCol="0" anchor="ctr"/>
          <a:lstStyle/>
          <a:p>
            <a:pPr marL="0" indent="0">
              <a:buNone/>
            </a:pPr>
            <a:r>
              <a:rPr lang="en-US" sz="1100" b="1" dirty="0">
                <a:solidFill>
                  <a:srgbClr val="028090"/>
                </a:solidFill>
                <a:latin typeface="Trebuchet MS" pitchFamily="34" charset="0"/>
                <a:ea typeface="Trebuchet MS" pitchFamily="34" charset="-122"/>
                <a:cs typeface="Trebuchet MS" pitchFamily="34" charset="-120"/>
              </a:rPr>
              <a:t>Standard 3.2</a:t>
            </a:r>
            <a:endParaRPr lang="en-US" sz="1100" dirty="0"/>
          </a:p>
        </p:txBody>
      </p:sp>
      <p:sp>
        <p:nvSpPr>
          <p:cNvPr id="11" name="Text 8"/>
          <p:cNvSpPr/>
          <p:nvPr/>
        </p:nvSpPr>
        <p:spPr>
          <a:xfrm>
            <a:off x="2286000" y="2286000"/>
            <a:ext cx="5943600" cy="365760"/>
          </a:xfrm>
          <a:prstGeom prst="rect">
            <a:avLst/>
          </a:prstGeom>
          <a:noFill/>
          <a:ln/>
        </p:spPr>
        <p:txBody>
          <a:bodyPr wrap="square" lIns="0" tIns="0" rIns="0" bIns="0" rtlCol="0" anchor="ctr"/>
          <a:lstStyle/>
          <a:p>
            <a:pPr marL="0" indent="0">
              <a:buNone/>
            </a:pPr>
            <a:r>
              <a:rPr lang="en-US" sz="1100" dirty="0">
                <a:solidFill>
                  <a:srgbClr val="323F4B"/>
                </a:solidFill>
                <a:latin typeface="Calibri" pitchFamily="34" charset="0"/>
                <a:ea typeface="Calibri" pitchFamily="34" charset="-122"/>
                <a:cs typeface="Calibri" pitchFamily="34" charset="-120"/>
              </a:rPr>
              <a:t>Items should minimize construct-irrelevant variance (reading difficulty, cultural bias)</a:t>
            </a:r>
            <a:endParaRPr lang="en-US" sz="1100" dirty="0"/>
          </a:p>
        </p:txBody>
      </p:sp>
      <p:sp>
        <p:nvSpPr>
          <p:cNvPr id="12" name="Text 9"/>
          <p:cNvSpPr/>
          <p:nvPr/>
        </p:nvSpPr>
        <p:spPr>
          <a:xfrm>
            <a:off x="731520" y="2743200"/>
            <a:ext cx="1463040" cy="365760"/>
          </a:xfrm>
          <a:prstGeom prst="rect">
            <a:avLst/>
          </a:prstGeom>
          <a:noFill/>
          <a:ln/>
        </p:spPr>
        <p:txBody>
          <a:bodyPr wrap="square" lIns="0" tIns="0" rIns="0" bIns="0" rtlCol="0" anchor="ctr"/>
          <a:lstStyle/>
          <a:p>
            <a:pPr marL="0" indent="0">
              <a:buNone/>
            </a:pPr>
            <a:r>
              <a:rPr lang="en-US" sz="1100" b="1" dirty="0">
                <a:solidFill>
                  <a:srgbClr val="028090"/>
                </a:solidFill>
                <a:latin typeface="Trebuchet MS" pitchFamily="34" charset="0"/>
                <a:ea typeface="Trebuchet MS" pitchFamily="34" charset="-122"/>
                <a:cs typeface="Trebuchet MS" pitchFamily="34" charset="-120"/>
              </a:rPr>
              <a:t>Standard 1.9</a:t>
            </a:r>
            <a:endParaRPr lang="en-US" sz="1100" dirty="0"/>
          </a:p>
        </p:txBody>
      </p:sp>
      <p:sp>
        <p:nvSpPr>
          <p:cNvPr id="13" name="Text 10"/>
          <p:cNvSpPr/>
          <p:nvPr/>
        </p:nvSpPr>
        <p:spPr>
          <a:xfrm>
            <a:off x="2286000" y="2743200"/>
            <a:ext cx="5943600" cy="365760"/>
          </a:xfrm>
          <a:prstGeom prst="rect">
            <a:avLst/>
          </a:prstGeom>
          <a:noFill/>
          <a:ln/>
        </p:spPr>
        <p:txBody>
          <a:bodyPr wrap="square" lIns="0" tIns="0" rIns="0" bIns="0" rtlCol="0" anchor="ctr"/>
          <a:lstStyle/>
          <a:p>
            <a:pPr marL="0" indent="0">
              <a:buNone/>
            </a:pPr>
            <a:r>
              <a:rPr lang="en-US" sz="1100" dirty="0">
                <a:solidFill>
                  <a:srgbClr val="323F4B"/>
                </a:solidFill>
                <a:latin typeface="Calibri" pitchFamily="34" charset="0"/>
                <a:ea typeface="Calibri" pitchFamily="34" charset="-122"/>
                <a:cs typeface="Calibri" pitchFamily="34" charset="-120"/>
              </a:rPr>
              <a:t>Content validity evidence should be gathered from multiple qualified reviewers</a:t>
            </a:r>
            <a:endParaRPr lang="en-US" sz="1100" dirty="0"/>
          </a:p>
        </p:txBody>
      </p:sp>
      <p:sp>
        <p:nvSpPr>
          <p:cNvPr id="14" name="Text 11"/>
          <p:cNvSpPr/>
          <p:nvPr/>
        </p:nvSpPr>
        <p:spPr>
          <a:xfrm>
            <a:off x="731520" y="3200400"/>
            <a:ext cx="1463040" cy="365760"/>
          </a:xfrm>
          <a:prstGeom prst="rect">
            <a:avLst/>
          </a:prstGeom>
          <a:noFill/>
          <a:ln/>
        </p:spPr>
        <p:txBody>
          <a:bodyPr wrap="square" lIns="0" tIns="0" rIns="0" bIns="0" rtlCol="0" anchor="ctr"/>
          <a:lstStyle/>
          <a:p>
            <a:pPr marL="0" indent="0">
              <a:buNone/>
            </a:pPr>
            <a:r>
              <a:rPr lang="en-US" sz="1100" b="1" dirty="0">
                <a:solidFill>
                  <a:srgbClr val="028090"/>
                </a:solidFill>
                <a:latin typeface="Trebuchet MS" pitchFamily="34" charset="0"/>
                <a:ea typeface="Trebuchet MS" pitchFamily="34" charset="-122"/>
                <a:cs typeface="Trebuchet MS" pitchFamily="34" charset="-120"/>
              </a:rPr>
              <a:t>Standard 7.1</a:t>
            </a:r>
            <a:endParaRPr lang="en-US" sz="1100" dirty="0"/>
          </a:p>
        </p:txBody>
      </p:sp>
      <p:sp>
        <p:nvSpPr>
          <p:cNvPr id="15" name="Text 12"/>
          <p:cNvSpPr/>
          <p:nvPr/>
        </p:nvSpPr>
        <p:spPr>
          <a:xfrm>
            <a:off x="2286000" y="3200400"/>
            <a:ext cx="5943600" cy="365760"/>
          </a:xfrm>
          <a:prstGeom prst="rect">
            <a:avLst/>
          </a:prstGeom>
          <a:noFill/>
          <a:ln/>
        </p:spPr>
        <p:txBody>
          <a:bodyPr wrap="square" lIns="0" tIns="0" rIns="0" bIns="0" rtlCol="0" anchor="ctr"/>
          <a:lstStyle/>
          <a:p>
            <a:pPr marL="0" indent="0">
              <a:buNone/>
            </a:pPr>
            <a:r>
              <a:rPr lang="en-US" sz="1100" dirty="0">
                <a:solidFill>
                  <a:srgbClr val="323F4B"/>
                </a:solidFill>
                <a:latin typeface="Calibri" pitchFamily="34" charset="0"/>
                <a:ea typeface="Calibri" pitchFamily="34" charset="-122"/>
                <a:cs typeface="Calibri" pitchFamily="34" charset="-120"/>
              </a:rPr>
              <a:t>Fairness should be addressed at the design stage, not only post-hoc</a:t>
            </a:r>
            <a:endParaRPr lang="en-US" sz="1100" dirty="0"/>
          </a:p>
        </p:txBody>
      </p:sp>
      <p:sp>
        <p:nvSpPr>
          <p:cNvPr id="16" name="Text 13"/>
          <p:cNvSpPr/>
          <p:nvPr/>
        </p:nvSpPr>
        <p:spPr>
          <a:xfrm>
            <a:off x="548640" y="4114800"/>
            <a:ext cx="8046720" cy="457200"/>
          </a:xfrm>
          <a:prstGeom prst="rect">
            <a:avLst/>
          </a:prstGeom>
          <a:noFill/>
          <a:ln/>
        </p:spPr>
        <p:txBody>
          <a:bodyPr wrap="square" lIns="0" tIns="0" rIns="0" bIns="0" rtlCol="0" anchor="ctr"/>
          <a:lstStyle/>
          <a:p>
            <a:pPr marL="0" indent="0">
              <a:buNone/>
            </a:pPr>
            <a:r>
              <a:rPr lang="en-US" sz="1200" i="1" dirty="0">
                <a:solidFill>
                  <a:srgbClr val="323F4B"/>
                </a:solidFill>
                <a:latin typeface="Calibri" pitchFamily="34" charset="0"/>
                <a:ea typeface="Calibri" pitchFamily="34" charset="-122"/>
                <a:cs typeface="Calibri" pitchFamily="34" charset="-120"/>
              </a:rPr>
              <a:t>Automated screening addresses these at scale — human review ensures expert judgment is the final arbiter.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838"/>
        </a:solidFill>
        <a:effectLst/>
      </p:bgPr>
    </p:bg>
    <p:spTree>
      <p:nvGrpSpPr>
        <p:cNvPr id="1" name=""/>
        <p:cNvGrpSpPr/>
        <p:nvPr/>
      </p:nvGrpSpPr>
      <p:grpSpPr>
        <a:xfrm>
          <a:off x="0" y="0"/>
          <a:ext cx="0" cy="0"/>
          <a:chOff x="0" y="0"/>
          <a:chExt cx="0" cy="0"/>
        </a:xfrm>
      </p:grpSpPr>
      <p:sp>
        <p:nvSpPr>
          <p:cNvPr id="3" name="Text 0"/>
          <p:cNvSpPr/>
          <p:nvPr/>
        </p:nvSpPr>
        <p:spPr>
          <a:xfrm>
            <a:off x="731520" y="1463040"/>
            <a:ext cx="7680960" cy="1097280"/>
          </a:xfrm>
          <a:prstGeom prst="rect">
            <a:avLst/>
          </a:prstGeom>
          <a:noFill/>
          <a:ln/>
        </p:spPr>
        <p:txBody>
          <a:bodyPr wrap="square" lIns="0" tIns="0" rIns="0" bIns="0" rtlCol="0" anchor="ctr"/>
          <a:lstStyle/>
          <a:p>
            <a:pPr marL="0" indent="0">
              <a:buNone/>
            </a:pPr>
            <a:r>
              <a:rPr lang="en-US" sz="4000" b="1" dirty="0">
                <a:solidFill>
                  <a:srgbClr val="FFFFFF"/>
                </a:solidFill>
                <a:latin typeface="Trebuchet MS" pitchFamily="34" charset="0"/>
                <a:ea typeface="Trebuchet MS" pitchFamily="34" charset="-122"/>
                <a:cs typeface="Trebuchet MS" pitchFamily="34" charset="-120"/>
              </a:rPr>
              <a:t>Phase 4: Content Validity</a:t>
            </a:r>
            <a:endParaRPr lang="en-US" sz="4000" dirty="0"/>
          </a:p>
          <a:p>
            <a:pPr marL="0" indent="0">
              <a:buNone/>
            </a:pPr>
            <a:r>
              <a:rPr lang="en-US" sz="4000" b="1" dirty="0">
                <a:solidFill>
                  <a:srgbClr val="FFFFFF"/>
                </a:solidFill>
                <a:latin typeface="Trebuchet MS" pitchFamily="34" charset="0"/>
                <a:ea typeface="Trebuchet MS" pitchFamily="34" charset="-122"/>
                <a:cs typeface="Trebuchet MS" pitchFamily="34" charset="-120"/>
              </a:rPr>
              <a:t>(LLM SME Review)</a:t>
            </a:r>
            <a:endParaRPr lang="en-US" sz="4000" dirty="0"/>
          </a:p>
        </p:txBody>
      </p:sp>
      <p:sp>
        <p:nvSpPr>
          <p:cNvPr id="4" name="Text 1"/>
          <p:cNvSpPr/>
          <p:nvPr/>
        </p:nvSpPr>
        <p:spPr>
          <a:xfrm>
            <a:off x="731520" y="2560320"/>
            <a:ext cx="7680960" cy="731520"/>
          </a:xfrm>
          <a:prstGeom prst="rect">
            <a:avLst/>
          </a:prstGeom>
          <a:noFill/>
          <a:ln/>
        </p:spPr>
        <p:txBody>
          <a:bodyPr wrap="square" lIns="0" tIns="0" rIns="0" bIns="0" rtlCol="0" anchor="ctr"/>
          <a:lstStyle/>
          <a:p>
            <a:pPr marL="0" indent="0">
              <a:buNone/>
            </a:pPr>
            <a:r>
              <a:rPr lang="en-US" sz="1800" dirty="0">
                <a:solidFill>
                  <a:srgbClr val="9AA5B1"/>
                </a:solidFill>
                <a:latin typeface="Calibri" pitchFamily="34" charset="0"/>
                <a:ea typeface="Calibri" pitchFamily="34" charset="-122"/>
                <a:cs typeface="Calibri" pitchFamily="34" charset="-120"/>
              </a:rPr>
              <a:t>Five independent AI reviewers rate every item</a:t>
            </a:r>
            <a:endParaRPr lang="en-US" sz="1800" dirty="0"/>
          </a:p>
        </p:txBody>
      </p:sp>
      <p:sp>
        <p:nvSpPr>
          <p:cNvPr id="5" name="Shape 2"/>
          <p:cNvSpPr/>
          <p:nvPr/>
        </p:nvSpPr>
        <p:spPr>
          <a:xfrm>
            <a:off x="731520" y="3291840"/>
            <a:ext cx="2286000" cy="36576"/>
          </a:xfrm>
          <a:prstGeom prst="rect">
            <a:avLst/>
          </a:prstGeom>
          <a:solidFill>
            <a:srgbClr val="028090"/>
          </a:solidFill>
          <a:ln/>
        </p:spPr>
        <p:txBody>
          <a:bodyPr/>
          <a:lstStyle/>
          <a:p>
            <a:endParaRPr lang="en-US"/>
          </a:p>
        </p:txBody>
      </p:sp>
      <p:sp>
        <p:nvSpPr>
          <p:cNvPr id="6" name="Shape 3"/>
          <p:cNvSpPr/>
          <p:nvPr/>
        </p:nvSpPr>
        <p:spPr>
          <a:xfrm>
            <a:off x="7772400" y="3474720"/>
            <a:ext cx="731520" cy="731520"/>
          </a:xfrm>
          <a:prstGeom prst="ellipse">
            <a:avLst/>
          </a:prstGeom>
          <a:solidFill>
            <a:srgbClr val="F5A623"/>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7933334" y="3635654"/>
            <a:ext cx="409651" cy="40965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731520" y="1463040"/>
            <a:ext cx="7680960" cy="1097280"/>
          </a:xfrm>
          <a:prstGeom prst="rect">
            <a:avLst/>
          </a:prstGeom>
          <a:noFill/>
          <a:ln/>
        </p:spPr>
        <p:txBody>
          <a:bodyPr wrap="square" lIns="0" tIns="0" rIns="0" bIns="0" rtlCol="0" anchor="ctr"/>
          <a:lstStyle/>
          <a:p>
            <a:pPr marL="0" indent="0">
              <a:buNone/>
            </a:pPr>
            <a:r>
              <a:rPr lang="en-US" sz="4000" b="1" dirty="0">
                <a:solidFill>
                  <a:srgbClr val="FFFFFF"/>
                </a:solidFill>
                <a:latin typeface="Trebuchet MS" pitchFamily="34" charset="0"/>
                <a:ea typeface="Trebuchet MS" pitchFamily="34" charset="-122"/>
                <a:cs typeface="Trebuchet MS" pitchFamily="34" charset="-120"/>
              </a:rPr>
              <a:t>Phase 4: Content Validity</a:t>
            </a:r>
            <a:endParaRPr lang="en-US" sz="4000" dirty="0"/>
          </a:p>
          <a:p>
            <a:pPr marL="0" indent="0">
              <a:buNone/>
            </a:pPr>
            <a:r>
              <a:rPr lang="en-US" sz="4000" b="1" dirty="0">
                <a:solidFill>
                  <a:srgbClr val="FFFFFF"/>
                </a:solidFill>
                <a:latin typeface="Trebuchet MS" pitchFamily="34" charset="0"/>
                <a:ea typeface="Trebuchet MS" pitchFamily="34" charset="-122"/>
                <a:cs typeface="Trebuchet MS" pitchFamily="34" charset="-120"/>
              </a:rPr>
              <a:t>(LLM SME Review)</a:t>
            </a:r>
            <a:endParaRPr lang="en-US" sz="4000" dirty="0"/>
          </a:p>
        </p:txBody>
      </p:sp>
      <p:sp>
        <p:nvSpPr>
          <p:cNvPr id="4" name="Text 1"/>
          <p:cNvSpPr/>
          <p:nvPr/>
        </p:nvSpPr>
        <p:spPr>
          <a:xfrm>
            <a:off x="731520" y="2560320"/>
            <a:ext cx="7680960" cy="731520"/>
          </a:xfrm>
          <a:prstGeom prst="rect">
            <a:avLst/>
          </a:prstGeom>
          <a:noFill/>
          <a:ln/>
        </p:spPr>
        <p:txBody>
          <a:bodyPr wrap="square" lIns="0" tIns="0" rIns="0" bIns="0" rtlCol="0" anchor="ctr"/>
          <a:lstStyle/>
          <a:p>
            <a:pPr marL="0" indent="0">
              <a:buNone/>
            </a:pPr>
            <a:r>
              <a:rPr lang="en-US" sz="1800" dirty="0">
                <a:solidFill>
                  <a:srgbClr val="9AA5B1"/>
                </a:solidFill>
                <a:latin typeface="Calibri" pitchFamily="34" charset="0"/>
                <a:ea typeface="Calibri" pitchFamily="34" charset="-122"/>
                <a:cs typeface="Calibri" pitchFamily="34" charset="-120"/>
              </a:rPr>
              <a:t>Five AI reviewers rate every item against every scale — c-value and d-value</a:t>
            </a:r>
            <a:endParaRPr lang="en-US" sz="1800" dirty="0"/>
          </a:p>
        </p:txBody>
      </p:sp>
      <p:sp>
        <p:nvSpPr>
          <p:cNvPr id="5" name="Shape 2"/>
          <p:cNvSpPr/>
          <p:nvPr/>
        </p:nvSpPr>
        <p:spPr>
          <a:xfrm>
            <a:off x="731520" y="3291840"/>
            <a:ext cx="2286000" cy="36576"/>
          </a:xfrm>
          <a:prstGeom prst="rect">
            <a:avLst/>
          </a:prstGeom>
          <a:solidFill>
            <a:srgbClr val="028090"/>
          </a:solidFill>
          <a:ln/>
        </p:spPr>
        <p:txBody>
          <a:bodyPr/>
          <a:lstStyle/>
          <a:p>
            <a:endParaRPr lang="en-US"/>
          </a:p>
        </p:txBody>
      </p:sp>
      <p:sp>
        <p:nvSpPr>
          <p:cNvPr id="6" name="Shape 3"/>
          <p:cNvSpPr/>
          <p:nvPr/>
        </p:nvSpPr>
        <p:spPr>
          <a:xfrm>
            <a:off x="7772400" y="3474720"/>
            <a:ext cx="731520" cy="731520"/>
          </a:xfrm>
          <a:prstGeom prst="ellipse">
            <a:avLst/>
          </a:prstGeom>
          <a:solidFill>
            <a:srgbClr val="F5A623"/>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7933334" y="3635654"/>
            <a:ext cx="409651" cy="40965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p:cNvSpPr/>
          <p:nvPr/>
        </p:nvSpPr>
        <p:spPr>
          <a:xfrm>
            <a:off x="0" y="0"/>
            <a:ext cx="9144000" cy="73152"/>
          </a:xfrm>
          <a:prstGeom prst="rect">
            <a:avLst/>
          </a:prstGeom>
          <a:solidFill>
            <a:srgbClr val="028090"/>
          </a:solidFill>
          <a:ln/>
        </p:spPr>
        <p:txBody>
          <a:bodyPr/>
          <a:lstStyle/>
          <a:p>
            <a:endParaRPr lang="en-US"/>
          </a:p>
        </p:txBody>
      </p:sp>
      <p:sp>
        <p:nvSpPr>
          <p:cNvPr id="4" name="Text 1"/>
          <p:cNvSpPr/>
          <p:nvPr/>
        </p:nvSpPr>
        <p:spPr>
          <a:xfrm>
            <a:off x="548640" y="274320"/>
            <a:ext cx="8046720" cy="594360"/>
          </a:xfrm>
          <a:prstGeom prst="rect">
            <a:avLst/>
          </a:prstGeom>
          <a:noFill/>
          <a:ln/>
        </p:spPr>
        <p:txBody>
          <a:bodyPr wrap="square" lIns="0" tIns="0" rIns="0" bIns="0" rtlCol="0" anchor="ctr"/>
          <a:lstStyle/>
          <a:p>
            <a:pPr marL="0" indent="0">
              <a:buNone/>
            </a:pPr>
            <a:r>
              <a:rPr lang="en-US" sz="2400" b="1" dirty="0">
                <a:solidFill>
                  <a:srgbClr val="323F4B"/>
                </a:solidFill>
                <a:latin typeface="Trebuchet MS" pitchFamily="34" charset="0"/>
                <a:ea typeface="Trebuchet MS" pitchFamily="34" charset="-122"/>
                <a:cs typeface="Trebuchet MS" pitchFamily="34" charset="-120"/>
              </a:rPr>
              <a:t>Phase 4: Correspondence &amp; Distinctiveness</a:t>
            </a:r>
            <a:endParaRPr lang="en-US" sz="2400" dirty="0"/>
          </a:p>
        </p:txBody>
      </p:sp>
      <p:sp>
        <p:nvSpPr>
          <p:cNvPr id="5" name="Text 2"/>
          <p:cNvSpPr/>
          <p:nvPr/>
        </p:nvSpPr>
        <p:spPr>
          <a:xfrm>
            <a:off x="548640" y="822960"/>
            <a:ext cx="8046720" cy="32004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Tariq Shaban</a:t>
            </a:r>
            <a:endParaRPr lang="en-US" sz="1100" dirty="0"/>
          </a:p>
        </p:txBody>
      </p:sp>
      <p:sp>
        <p:nvSpPr>
          <p:cNvPr id="6" name="Shape 3"/>
          <p:cNvSpPr/>
          <p:nvPr/>
        </p:nvSpPr>
        <p:spPr>
          <a:xfrm>
            <a:off x="548640" y="1234440"/>
            <a:ext cx="1554480" cy="502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7" name="Shape 4"/>
          <p:cNvSpPr/>
          <p:nvPr/>
        </p:nvSpPr>
        <p:spPr>
          <a:xfrm>
            <a:off x="548640" y="1234440"/>
            <a:ext cx="1554480" cy="45720"/>
          </a:xfrm>
          <a:prstGeom prst="rect">
            <a:avLst/>
          </a:prstGeom>
          <a:solidFill>
            <a:srgbClr val="028090"/>
          </a:solidFill>
          <a:ln/>
        </p:spPr>
        <p:txBody>
          <a:bodyPr/>
          <a:lstStyle/>
          <a:p>
            <a:endParaRPr lang="en-US"/>
          </a:p>
        </p:txBody>
      </p:sp>
      <p:sp>
        <p:nvSpPr>
          <p:cNvPr id="8" name="Text 5"/>
          <p:cNvSpPr/>
          <p:nvPr/>
        </p:nvSpPr>
        <p:spPr>
          <a:xfrm>
            <a:off x="640080" y="1298448"/>
            <a:ext cx="1371600" cy="365760"/>
          </a:xfrm>
          <a:prstGeom prst="rect">
            <a:avLst/>
          </a:prstGeom>
          <a:noFill/>
          <a:ln/>
        </p:spPr>
        <p:txBody>
          <a:bodyPr wrap="square" lIns="0" tIns="0" rIns="0" bIns="0" rtlCol="0" anchor="ctr"/>
          <a:lstStyle/>
          <a:p>
            <a:pPr marL="0" indent="0" algn="ctr">
              <a:buNone/>
            </a:pPr>
            <a:r>
              <a:rPr lang="en-US" sz="900" dirty="0">
                <a:solidFill>
                  <a:srgbClr val="323F4B"/>
                </a:solidFill>
                <a:latin typeface="Calibri" pitchFamily="34" charset="0"/>
                <a:ea typeface="Calibri" pitchFamily="34" charset="-122"/>
                <a:cs typeface="Calibri" pitchFamily="34" charset="-120"/>
              </a:rPr>
              <a:t>SME 1: Claude Haiku</a:t>
            </a:r>
            <a:endParaRPr lang="en-US" sz="900" dirty="0"/>
          </a:p>
        </p:txBody>
      </p:sp>
      <p:sp>
        <p:nvSpPr>
          <p:cNvPr id="9" name="Shape 6"/>
          <p:cNvSpPr/>
          <p:nvPr/>
        </p:nvSpPr>
        <p:spPr>
          <a:xfrm>
            <a:off x="2231136" y="1234440"/>
            <a:ext cx="1554480" cy="502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0" name="Shape 7"/>
          <p:cNvSpPr/>
          <p:nvPr/>
        </p:nvSpPr>
        <p:spPr>
          <a:xfrm>
            <a:off x="2231136" y="1234440"/>
            <a:ext cx="1554480" cy="45720"/>
          </a:xfrm>
          <a:prstGeom prst="rect">
            <a:avLst/>
          </a:prstGeom>
          <a:solidFill>
            <a:srgbClr val="028090"/>
          </a:solidFill>
          <a:ln/>
        </p:spPr>
        <p:txBody>
          <a:bodyPr/>
          <a:lstStyle/>
          <a:p>
            <a:endParaRPr lang="en-US"/>
          </a:p>
        </p:txBody>
      </p:sp>
      <p:sp>
        <p:nvSpPr>
          <p:cNvPr id="11" name="Text 8"/>
          <p:cNvSpPr/>
          <p:nvPr/>
        </p:nvSpPr>
        <p:spPr>
          <a:xfrm>
            <a:off x="2322576" y="1298448"/>
            <a:ext cx="1371600" cy="365760"/>
          </a:xfrm>
          <a:prstGeom prst="rect">
            <a:avLst/>
          </a:prstGeom>
          <a:noFill/>
          <a:ln/>
        </p:spPr>
        <p:txBody>
          <a:bodyPr wrap="square" lIns="0" tIns="0" rIns="0" bIns="0" rtlCol="0" anchor="ctr"/>
          <a:lstStyle/>
          <a:p>
            <a:pPr marL="0" indent="0" algn="ctr">
              <a:buNone/>
            </a:pPr>
            <a:r>
              <a:rPr lang="en-US" sz="900" dirty="0">
                <a:solidFill>
                  <a:srgbClr val="323F4B"/>
                </a:solidFill>
                <a:latin typeface="Calibri" pitchFamily="34" charset="0"/>
                <a:ea typeface="Calibri" pitchFamily="34" charset="-122"/>
                <a:cs typeface="Calibri" pitchFamily="34" charset="-120"/>
              </a:rPr>
              <a:t>SME 2: GPT-4o</a:t>
            </a:r>
            <a:endParaRPr lang="en-US" sz="900" dirty="0"/>
          </a:p>
        </p:txBody>
      </p:sp>
      <p:sp>
        <p:nvSpPr>
          <p:cNvPr id="12" name="Shape 9"/>
          <p:cNvSpPr/>
          <p:nvPr/>
        </p:nvSpPr>
        <p:spPr>
          <a:xfrm>
            <a:off x="3913632" y="1234440"/>
            <a:ext cx="1554480" cy="502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3" name="Shape 10"/>
          <p:cNvSpPr/>
          <p:nvPr/>
        </p:nvSpPr>
        <p:spPr>
          <a:xfrm>
            <a:off x="3913632" y="1234440"/>
            <a:ext cx="1554480" cy="45720"/>
          </a:xfrm>
          <a:prstGeom prst="rect">
            <a:avLst/>
          </a:prstGeom>
          <a:solidFill>
            <a:srgbClr val="028090"/>
          </a:solidFill>
          <a:ln/>
        </p:spPr>
        <p:txBody>
          <a:bodyPr/>
          <a:lstStyle/>
          <a:p>
            <a:endParaRPr lang="en-US"/>
          </a:p>
        </p:txBody>
      </p:sp>
      <p:sp>
        <p:nvSpPr>
          <p:cNvPr id="14" name="Text 11"/>
          <p:cNvSpPr/>
          <p:nvPr/>
        </p:nvSpPr>
        <p:spPr>
          <a:xfrm>
            <a:off x="4005072" y="1298448"/>
            <a:ext cx="1371600" cy="365760"/>
          </a:xfrm>
          <a:prstGeom prst="rect">
            <a:avLst/>
          </a:prstGeom>
          <a:noFill/>
          <a:ln/>
        </p:spPr>
        <p:txBody>
          <a:bodyPr wrap="square" lIns="0" tIns="0" rIns="0" bIns="0" rtlCol="0" anchor="ctr"/>
          <a:lstStyle/>
          <a:p>
            <a:pPr marL="0" indent="0" algn="ctr">
              <a:buNone/>
            </a:pPr>
            <a:r>
              <a:rPr lang="en-US" sz="900" dirty="0">
                <a:solidFill>
                  <a:srgbClr val="323F4B"/>
                </a:solidFill>
                <a:latin typeface="Calibri" pitchFamily="34" charset="0"/>
                <a:ea typeface="Calibri" pitchFamily="34" charset="-122"/>
                <a:cs typeface="Calibri" pitchFamily="34" charset="-120"/>
              </a:rPr>
              <a:t>SME 3: Gemini Flash</a:t>
            </a:r>
            <a:endParaRPr lang="en-US" sz="900" dirty="0"/>
          </a:p>
        </p:txBody>
      </p:sp>
      <p:sp>
        <p:nvSpPr>
          <p:cNvPr id="15" name="Shape 12"/>
          <p:cNvSpPr/>
          <p:nvPr/>
        </p:nvSpPr>
        <p:spPr>
          <a:xfrm>
            <a:off x="5596128" y="1234440"/>
            <a:ext cx="1554480" cy="502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6" name="Shape 13"/>
          <p:cNvSpPr/>
          <p:nvPr/>
        </p:nvSpPr>
        <p:spPr>
          <a:xfrm>
            <a:off x="5596128" y="1234440"/>
            <a:ext cx="1554480" cy="45720"/>
          </a:xfrm>
          <a:prstGeom prst="rect">
            <a:avLst/>
          </a:prstGeom>
          <a:solidFill>
            <a:srgbClr val="028090"/>
          </a:solidFill>
          <a:ln/>
        </p:spPr>
        <p:txBody>
          <a:bodyPr/>
          <a:lstStyle/>
          <a:p>
            <a:endParaRPr lang="en-US"/>
          </a:p>
        </p:txBody>
      </p:sp>
      <p:sp>
        <p:nvSpPr>
          <p:cNvPr id="17" name="Text 14"/>
          <p:cNvSpPr/>
          <p:nvPr/>
        </p:nvSpPr>
        <p:spPr>
          <a:xfrm>
            <a:off x="5687568" y="1298448"/>
            <a:ext cx="1371600" cy="365760"/>
          </a:xfrm>
          <a:prstGeom prst="rect">
            <a:avLst/>
          </a:prstGeom>
          <a:noFill/>
          <a:ln/>
        </p:spPr>
        <p:txBody>
          <a:bodyPr wrap="square" lIns="0" tIns="0" rIns="0" bIns="0" rtlCol="0" anchor="ctr"/>
          <a:lstStyle/>
          <a:p>
            <a:pPr marL="0" indent="0" algn="ctr">
              <a:buNone/>
            </a:pPr>
            <a:r>
              <a:rPr lang="en-US" sz="900" dirty="0">
                <a:solidFill>
                  <a:srgbClr val="323F4B"/>
                </a:solidFill>
                <a:latin typeface="Calibri" pitchFamily="34" charset="0"/>
                <a:ea typeface="Calibri" pitchFamily="34" charset="-122"/>
                <a:cs typeface="Calibri" pitchFamily="34" charset="-120"/>
              </a:rPr>
              <a:t>SME 4: Grok 3 Mini</a:t>
            </a:r>
            <a:endParaRPr lang="en-US" sz="900" dirty="0"/>
          </a:p>
        </p:txBody>
      </p:sp>
      <p:sp>
        <p:nvSpPr>
          <p:cNvPr id="18" name="Shape 15"/>
          <p:cNvSpPr/>
          <p:nvPr/>
        </p:nvSpPr>
        <p:spPr>
          <a:xfrm>
            <a:off x="7278624" y="1234440"/>
            <a:ext cx="1554480" cy="502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9" name="Shape 16"/>
          <p:cNvSpPr/>
          <p:nvPr/>
        </p:nvSpPr>
        <p:spPr>
          <a:xfrm>
            <a:off x="7278624" y="1234440"/>
            <a:ext cx="1554480" cy="45720"/>
          </a:xfrm>
          <a:prstGeom prst="rect">
            <a:avLst/>
          </a:prstGeom>
          <a:solidFill>
            <a:srgbClr val="028090"/>
          </a:solidFill>
          <a:ln/>
        </p:spPr>
        <p:txBody>
          <a:bodyPr/>
          <a:lstStyle/>
          <a:p>
            <a:endParaRPr lang="en-US"/>
          </a:p>
        </p:txBody>
      </p:sp>
      <p:sp>
        <p:nvSpPr>
          <p:cNvPr id="20" name="Text 17"/>
          <p:cNvSpPr/>
          <p:nvPr/>
        </p:nvSpPr>
        <p:spPr>
          <a:xfrm>
            <a:off x="7370064" y="1298448"/>
            <a:ext cx="1371600" cy="365760"/>
          </a:xfrm>
          <a:prstGeom prst="rect">
            <a:avLst/>
          </a:prstGeom>
          <a:noFill/>
          <a:ln/>
        </p:spPr>
        <p:txBody>
          <a:bodyPr wrap="square" lIns="0" tIns="0" rIns="0" bIns="0" rtlCol="0" anchor="ctr"/>
          <a:lstStyle/>
          <a:p>
            <a:pPr marL="0" indent="0" algn="ctr">
              <a:buNone/>
            </a:pPr>
            <a:r>
              <a:rPr lang="en-US" sz="900" dirty="0">
                <a:solidFill>
                  <a:srgbClr val="323F4B"/>
                </a:solidFill>
                <a:latin typeface="Calibri" pitchFamily="34" charset="0"/>
                <a:ea typeface="Calibri" pitchFamily="34" charset="-122"/>
                <a:cs typeface="Calibri" pitchFamily="34" charset="-120"/>
              </a:rPr>
              <a:t>SME 5: DeepSeek</a:t>
            </a:r>
            <a:endParaRPr lang="en-US" sz="900" dirty="0"/>
          </a:p>
        </p:txBody>
      </p:sp>
      <p:sp>
        <p:nvSpPr>
          <p:cNvPr id="21" name="Text 18"/>
          <p:cNvSpPr/>
          <p:nvPr/>
        </p:nvSpPr>
        <p:spPr>
          <a:xfrm>
            <a:off x="548640" y="1874520"/>
            <a:ext cx="8046720" cy="320040"/>
          </a:xfrm>
          <a:prstGeom prst="rect">
            <a:avLst/>
          </a:prstGeom>
          <a:noFill/>
          <a:ln/>
        </p:spPr>
        <p:txBody>
          <a:bodyPr wrap="square" lIns="0" tIns="0" rIns="0" bIns="0" rtlCol="0" anchor="ctr"/>
          <a:lstStyle/>
          <a:p>
            <a:pPr marL="0" indent="0">
              <a:buNone/>
            </a:pPr>
            <a:r>
              <a:rPr lang="en-US" sz="1300" b="1" dirty="0">
                <a:solidFill>
                  <a:srgbClr val="028090"/>
                </a:solidFill>
                <a:latin typeface="Trebuchet MS" pitchFamily="34" charset="0"/>
                <a:ea typeface="Trebuchet MS" pitchFamily="34" charset="-122"/>
                <a:cs typeface="Trebuchet MS" pitchFamily="34" charset="-120"/>
              </a:rPr>
              <a:t>Each SME rates the item against ALL scales on a 1–7 Likert scale</a:t>
            </a:r>
            <a:endParaRPr lang="en-US" sz="1300" dirty="0"/>
          </a:p>
        </p:txBody>
      </p:sp>
      <p:sp>
        <p:nvSpPr>
          <p:cNvPr id="22" name="Shape 19"/>
          <p:cNvSpPr/>
          <p:nvPr/>
        </p:nvSpPr>
        <p:spPr>
          <a:xfrm>
            <a:off x="548640" y="2286000"/>
            <a:ext cx="3840480" cy="15544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3" name="Shape 20"/>
          <p:cNvSpPr/>
          <p:nvPr/>
        </p:nvSpPr>
        <p:spPr>
          <a:xfrm>
            <a:off x="548640" y="2286000"/>
            <a:ext cx="54864" cy="1554480"/>
          </a:xfrm>
          <a:prstGeom prst="rect">
            <a:avLst/>
          </a:prstGeom>
          <a:solidFill>
            <a:srgbClr val="028090"/>
          </a:solidFill>
          <a:ln/>
        </p:spPr>
        <p:txBody>
          <a:bodyPr/>
          <a:lstStyle/>
          <a:p>
            <a:endParaRPr lang="en-US"/>
          </a:p>
        </p:txBody>
      </p:sp>
      <p:sp>
        <p:nvSpPr>
          <p:cNvPr id="24" name="Text 21"/>
          <p:cNvSpPr/>
          <p:nvPr/>
        </p:nvSpPr>
        <p:spPr>
          <a:xfrm>
            <a:off x="777240" y="2331720"/>
            <a:ext cx="3474720" cy="320040"/>
          </a:xfrm>
          <a:prstGeom prst="rect">
            <a:avLst/>
          </a:prstGeom>
          <a:noFill/>
          <a:ln/>
        </p:spPr>
        <p:txBody>
          <a:bodyPr wrap="square" lIns="0" tIns="0" rIns="0" bIns="0" rtlCol="0" anchor="ctr"/>
          <a:lstStyle/>
          <a:p>
            <a:pPr marL="0" indent="0">
              <a:buNone/>
            </a:pPr>
            <a:r>
              <a:rPr lang="en-US" sz="1400" b="1" dirty="0">
                <a:solidFill>
                  <a:srgbClr val="028090"/>
                </a:solidFill>
                <a:latin typeface="Trebuchet MS" pitchFamily="34" charset="0"/>
                <a:ea typeface="Trebuchet MS" pitchFamily="34" charset="-122"/>
                <a:cs typeface="Trebuchet MS" pitchFamily="34" charset="-120"/>
              </a:rPr>
              <a:t>c-value (Correspondence)</a:t>
            </a:r>
            <a:endParaRPr lang="en-US" sz="1400" dirty="0"/>
          </a:p>
        </p:txBody>
      </p:sp>
      <p:sp>
        <p:nvSpPr>
          <p:cNvPr id="25" name="Text 22"/>
          <p:cNvSpPr/>
          <p:nvPr/>
        </p:nvSpPr>
        <p:spPr>
          <a:xfrm>
            <a:off x="777240" y="2651760"/>
            <a:ext cx="2560320" cy="1005840"/>
          </a:xfrm>
          <a:prstGeom prst="rect">
            <a:avLst/>
          </a:prstGeom>
          <a:noFill/>
          <a:ln/>
        </p:spPr>
        <p:txBody>
          <a:bodyPr wrap="square" lIns="0" tIns="0" rIns="0" bIns="0" rtlCol="0" anchor="ctr"/>
          <a:lstStyle/>
          <a:p>
            <a:pPr marL="0" indent="0">
              <a:buNone/>
            </a:pPr>
            <a:r>
              <a:rPr lang="en-US" sz="1100" dirty="0">
                <a:solidFill>
                  <a:srgbClr val="323F4B"/>
                </a:solidFill>
                <a:latin typeface="Calibri" pitchFamily="34" charset="0"/>
                <a:ea typeface="Calibri" pitchFamily="34" charset="-122"/>
                <a:cs typeface="Calibri" pitchFamily="34" charset="-120"/>
              </a:rPr>
              <a:t>Average target scale rating / 7</a:t>
            </a:r>
            <a:endParaRPr lang="en-US" sz="1100" dirty="0"/>
          </a:p>
          <a:p>
            <a:pPr marL="0" indent="0">
              <a:buNone/>
            </a:pPr>
            <a:r>
              <a:rPr lang="en-US" sz="1100" dirty="0">
                <a:solidFill>
                  <a:srgbClr val="323F4B"/>
                </a:solidFill>
                <a:latin typeface="Calibri" pitchFamily="34" charset="0"/>
                <a:ea typeface="Calibri" pitchFamily="34" charset="-122"/>
                <a:cs typeface="Calibri" pitchFamily="34" charset="-120"/>
              </a:rPr>
              <a:t>normalized to 0–1</a:t>
            </a:r>
            <a:endParaRPr lang="en-US" sz="1100" dirty="0"/>
          </a:p>
          <a:p>
            <a:pPr marL="0" indent="0">
              <a:buNone/>
            </a:pPr>
            <a:endParaRPr lang="en-US" sz="1100" dirty="0"/>
          </a:p>
          <a:p>
            <a:pPr marL="0" indent="0">
              <a:buNone/>
            </a:pPr>
            <a:r>
              <a:rPr lang="en-US" sz="1100" dirty="0">
                <a:solidFill>
                  <a:srgbClr val="323F4B"/>
                </a:solidFill>
                <a:latin typeface="Calibri" pitchFamily="34" charset="0"/>
                <a:ea typeface="Calibri" pitchFamily="34" charset="-122"/>
                <a:cs typeface="Calibri" pitchFamily="34" charset="-120"/>
              </a:rPr>
              <a:t>How well does the item measure</a:t>
            </a:r>
            <a:endParaRPr lang="en-US" sz="1100" dirty="0"/>
          </a:p>
          <a:p>
            <a:pPr marL="0" indent="0">
              <a:buNone/>
            </a:pPr>
            <a:r>
              <a:rPr lang="en-US" sz="1100" dirty="0">
                <a:solidFill>
                  <a:srgbClr val="323F4B"/>
                </a:solidFill>
                <a:latin typeface="Calibri" pitchFamily="34" charset="0"/>
                <a:ea typeface="Calibri" pitchFamily="34" charset="-122"/>
                <a:cs typeface="Calibri" pitchFamily="34" charset="-120"/>
              </a:rPr>
              <a:t>what it's supposed to measure?</a:t>
            </a:r>
            <a:endParaRPr lang="en-US" sz="1100" dirty="0"/>
          </a:p>
        </p:txBody>
      </p:sp>
      <p:sp>
        <p:nvSpPr>
          <p:cNvPr id="26" name="Text 23"/>
          <p:cNvSpPr/>
          <p:nvPr/>
        </p:nvSpPr>
        <p:spPr>
          <a:xfrm>
            <a:off x="3291840" y="2651760"/>
            <a:ext cx="1005840" cy="1005840"/>
          </a:xfrm>
          <a:prstGeom prst="rect">
            <a:avLst/>
          </a:prstGeom>
          <a:noFill/>
          <a:ln/>
        </p:spPr>
        <p:txBody>
          <a:bodyPr wrap="square" lIns="0" tIns="0" rIns="0" bIns="0" rtlCol="0" anchor="ctr"/>
          <a:lstStyle/>
          <a:p>
            <a:pPr marL="0" indent="0" algn="ctr">
              <a:buNone/>
            </a:pPr>
            <a:r>
              <a:rPr lang="en-US" sz="2800" b="1" dirty="0">
                <a:solidFill>
                  <a:srgbClr val="028090"/>
                </a:solidFill>
                <a:latin typeface="Trebuchet MS" pitchFamily="34" charset="0"/>
                <a:ea typeface="Trebuchet MS" pitchFamily="34" charset="-122"/>
                <a:cs typeface="Trebuchet MS" pitchFamily="34" charset="-120"/>
              </a:rPr>
              <a:t>≥ 0.88</a:t>
            </a:r>
            <a:endParaRPr lang="en-US" sz="2800" dirty="0"/>
          </a:p>
        </p:txBody>
      </p:sp>
      <p:sp>
        <p:nvSpPr>
          <p:cNvPr id="27" name="Shape 24"/>
          <p:cNvSpPr/>
          <p:nvPr/>
        </p:nvSpPr>
        <p:spPr>
          <a:xfrm>
            <a:off x="4754880" y="2286000"/>
            <a:ext cx="3840480" cy="15544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8" name="Shape 25"/>
          <p:cNvSpPr/>
          <p:nvPr/>
        </p:nvSpPr>
        <p:spPr>
          <a:xfrm>
            <a:off x="4754880" y="2286000"/>
            <a:ext cx="54864" cy="1554480"/>
          </a:xfrm>
          <a:prstGeom prst="rect">
            <a:avLst/>
          </a:prstGeom>
          <a:solidFill>
            <a:srgbClr val="00A896"/>
          </a:solidFill>
          <a:ln/>
        </p:spPr>
        <p:txBody>
          <a:bodyPr/>
          <a:lstStyle/>
          <a:p>
            <a:endParaRPr lang="en-US"/>
          </a:p>
        </p:txBody>
      </p:sp>
      <p:sp>
        <p:nvSpPr>
          <p:cNvPr id="29" name="Text 26"/>
          <p:cNvSpPr/>
          <p:nvPr/>
        </p:nvSpPr>
        <p:spPr>
          <a:xfrm>
            <a:off x="4983480" y="2331720"/>
            <a:ext cx="3474720" cy="320040"/>
          </a:xfrm>
          <a:prstGeom prst="rect">
            <a:avLst/>
          </a:prstGeom>
          <a:noFill/>
          <a:ln/>
        </p:spPr>
        <p:txBody>
          <a:bodyPr wrap="square" lIns="0" tIns="0" rIns="0" bIns="0" rtlCol="0" anchor="ctr"/>
          <a:lstStyle/>
          <a:p>
            <a:pPr marL="0" indent="0">
              <a:buNone/>
            </a:pPr>
            <a:r>
              <a:rPr lang="en-US" sz="1400" b="1" dirty="0">
                <a:solidFill>
                  <a:srgbClr val="00A896"/>
                </a:solidFill>
                <a:latin typeface="Trebuchet MS" pitchFamily="34" charset="0"/>
                <a:ea typeface="Trebuchet MS" pitchFamily="34" charset="-122"/>
                <a:cs typeface="Trebuchet MS" pitchFamily="34" charset="-120"/>
              </a:rPr>
              <a:t>d-value (Distinctiveness)</a:t>
            </a:r>
            <a:endParaRPr lang="en-US" sz="1400" dirty="0"/>
          </a:p>
        </p:txBody>
      </p:sp>
      <p:sp>
        <p:nvSpPr>
          <p:cNvPr id="30" name="Text 27"/>
          <p:cNvSpPr/>
          <p:nvPr/>
        </p:nvSpPr>
        <p:spPr>
          <a:xfrm>
            <a:off x="4983480" y="2651760"/>
            <a:ext cx="2560320" cy="1005840"/>
          </a:xfrm>
          <a:prstGeom prst="rect">
            <a:avLst/>
          </a:prstGeom>
          <a:noFill/>
          <a:ln/>
        </p:spPr>
        <p:txBody>
          <a:bodyPr wrap="square" lIns="0" tIns="0" rIns="0" bIns="0" rtlCol="0" anchor="ctr"/>
          <a:lstStyle/>
          <a:p>
            <a:pPr marL="0" indent="0">
              <a:buNone/>
            </a:pPr>
            <a:r>
              <a:rPr lang="en-US" sz="1100" dirty="0">
                <a:solidFill>
                  <a:srgbClr val="323F4B"/>
                </a:solidFill>
                <a:latin typeface="Calibri" pitchFamily="34" charset="0"/>
                <a:ea typeface="Calibri" pitchFamily="34" charset="-122"/>
                <a:cs typeface="Calibri" pitchFamily="34" charset="-120"/>
              </a:rPr>
              <a:t>Mean (target − orbiting) / (a − 1)</a:t>
            </a:r>
            <a:endParaRPr lang="en-US" sz="1100" dirty="0"/>
          </a:p>
          <a:p>
            <a:pPr marL="0" indent="0">
              <a:buNone/>
            </a:pPr>
            <a:r>
              <a:rPr lang="en-US" sz="1100" dirty="0">
                <a:solidFill>
                  <a:srgbClr val="323F4B"/>
                </a:solidFill>
                <a:latin typeface="Calibri" pitchFamily="34" charset="0"/>
                <a:ea typeface="Calibri" pitchFamily="34" charset="-122"/>
                <a:cs typeface="Calibri" pitchFamily="34" charset="-120"/>
              </a:rPr>
              <a:t>across all non-target scales</a:t>
            </a:r>
            <a:endParaRPr lang="en-US" sz="1100" dirty="0"/>
          </a:p>
          <a:p>
            <a:pPr marL="0" indent="0">
              <a:buNone/>
            </a:pPr>
            <a:endParaRPr lang="en-US" sz="1100" dirty="0"/>
          </a:p>
          <a:p>
            <a:pPr marL="0" indent="0">
              <a:buNone/>
            </a:pPr>
            <a:r>
              <a:rPr lang="en-US" sz="1100" dirty="0">
                <a:solidFill>
                  <a:srgbClr val="323F4B"/>
                </a:solidFill>
                <a:latin typeface="Calibri" pitchFamily="34" charset="0"/>
                <a:ea typeface="Calibri" pitchFamily="34" charset="-122"/>
                <a:cs typeface="Calibri" pitchFamily="34" charset="-120"/>
              </a:rPr>
              <a:t>How clearly does the item separate</a:t>
            </a:r>
            <a:endParaRPr lang="en-US" sz="1100" dirty="0"/>
          </a:p>
          <a:p>
            <a:pPr marL="0" indent="0">
              <a:buNone/>
            </a:pPr>
            <a:r>
              <a:rPr lang="en-US" sz="1100" dirty="0">
                <a:solidFill>
                  <a:srgbClr val="323F4B"/>
                </a:solidFill>
                <a:latin typeface="Calibri" pitchFamily="34" charset="0"/>
                <a:ea typeface="Calibri" pitchFamily="34" charset="-122"/>
                <a:cs typeface="Calibri" pitchFamily="34" charset="-120"/>
              </a:rPr>
              <a:t>from constructs it shouldn't measure?</a:t>
            </a:r>
            <a:endParaRPr lang="en-US" sz="1100" dirty="0"/>
          </a:p>
        </p:txBody>
      </p:sp>
      <p:sp>
        <p:nvSpPr>
          <p:cNvPr id="31" name="Text 28"/>
          <p:cNvSpPr/>
          <p:nvPr/>
        </p:nvSpPr>
        <p:spPr>
          <a:xfrm>
            <a:off x="7498080" y="2651760"/>
            <a:ext cx="1005840" cy="1005840"/>
          </a:xfrm>
          <a:prstGeom prst="rect">
            <a:avLst/>
          </a:prstGeom>
          <a:noFill/>
          <a:ln/>
        </p:spPr>
        <p:txBody>
          <a:bodyPr wrap="square" lIns="0" tIns="0" rIns="0" bIns="0" rtlCol="0" anchor="ctr"/>
          <a:lstStyle/>
          <a:p>
            <a:pPr marL="0" indent="0" algn="ctr">
              <a:buNone/>
            </a:pPr>
            <a:r>
              <a:rPr lang="en-US" sz="2800" b="1" dirty="0">
                <a:solidFill>
                  <a:srgbClr val="00A896"/>
                </a:solidFill>
                <a:latin typeface="Trebuchet MS" pitchFamily="34" charset="0"/>
                <a:ea typeface="Trebuchet MS" pitchFamily="34" charset="-122"/>
                <a:cs typeface="Trebuchet MS" pitchFamily="34" charset="-120"/>
              </a:rPr>
              <a:t>≥ 0.35</a:t>
            </a:r>
            <a:endParaRPr lang="en-US" sz="2800" dirty="0"/>
          </a:p>
        </p:txBody>
      </p:sp>
      <p:sp>
        <p:nvSpPr>
          <p:cNvPr id="32" name="Text 29"/>
          <p:cNvSpPr/>
          <p:nvPr/>
        </p:nvSpPr>
        <p:spPr>
          <a:xfrm>
            <a:off x="548640" y="4023360"/>
            <a:ext cx="5486400" cy="320040"/>
          </a:xfrm>
          <a:prstGeom prst="rect">
            <a:avLst/>
          </a:prstGeom>
          <a:noFill/>
          <a:ln/>
        </p:spPr>
        <p:txBody>
          <a:bodyPr wrap="square" lIns="0" tIns="0" rIns="0" bIns="0" rtlCol="0" anchor="ctr"/>
          <a:lstStyle/>
          <a:p>
            <a:pPr marL="0" indent="0">
              <a:buNone/>
            </a:pPr>
            <a:r>
              <a:rPr lang="en-US" sz="1300" b="1" dirty="0">
                <a:solidFill>
                  <a:srgbClr val="323F4B"/>
                </a:solidFill>
                <a:latin typeface="Trebuchet MS" pitchFamily="34" charset="0"/>
                <a:ea typeface="Trebuchet MS" pitchFamily="34" charset="-122"/>
                <a:cs typeface="Trebuchet MS" pitchFamily="34" charset="-120"/>
              </a:rPr>
              <a:t>Pass rule: c-value ≥ 0.88 AND d-value ≥ 0.35 — both must be met</a:t>
            </a:r>
            <a:endParaRPr lang="en-US" sz="1300" dirty="0"/>
          </a:p>
        </p:txBody>
      </p:sp>
      <p:sp>
        <p:nvSpPr>
          <p:cNvPr id="33" name="Text 30"/>
          <p:cNvSpPr/>
          <p:nvPr/>
        </p:nvSpPr>
        <p:spPr>
          <a:xfrm>
            <a:off x="548640" y="4389120"/>
            <a:ext cx="8046720" cy="320040"/>
          </a:xfrm>
          <a:prstGeom prst="rect">
            <a:avLst/>
          </a:prstGeom>
          <a:noFill/>
          <a:ln/>
        </p:spPr>
        <p:txBody>
          <a:bodyPr wrap="square" lIns="0" tIns="0" rIns="0" bIns="0" rtlCol="0" anchor="ctr"/>
          <a:lstStyle/>
          <a:p>
            <a:pPr marL="0" indent="0">
              <a:buNone/>
            </a:pPr>
            <a:r>
              <a:rPr lang="en-US" sz="1000" i="1" dirty="0">
                <a:solidFill>
                  <a:srgbClr val="7B8794"/>
                </a:solidFill>
                <a:latin typeface="Calibri" pitchFamily="34" charset="0"/>
                <a:ea typeface="Calibri" pitchFamily="34" charset="-122"/>
                <a:cs typeface="Calibri" pitchFamily="34" charset="-120"/>
              </a:rPr>
              <a:t>Hinkin &amp; Tracey (1999)  •  Colquitt et al. (2019)  •  Lee, Son, &amp; Jia (2025) LM-AIG</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p:cNvSpPr/>
          <p:nvPr/>
        </p:nvSpPr>
        <p:spPr>
          <a:xfrm>
            <a:off x="0" y="0"/>
            <a:ext cx="9144000" cy="73152"/>
          </a:xfrm>
          <a:prstGeom prst="rect">
            <a:avLst/>
          </a:prstGeom>
          <a:solidFill>
            <a:srgbClr val="028090"/>
          </a:solidFill>
          <a:ln/>
        </p:spPr>
        <p:txBody>
          <a:bodyPr/>
          <a:lstStyle/>
          <a:p>
            <a:endParaRPr lang="en-US"/>
          </a:p>
        </p:txBody>
      </p:sp>
      <p:sp>
        <p:nvSpPr>
          <p:cNvPr id="4" name="Text 1"/>
          <p:cNvSpPr/>
          <p:nvPr/>
        </p:nvSpPr>
        <p:spPr>
          <a:xfrm>
            <a:off x="548640" y="274320"/>
            <a:ext cx="8046720" cy="594360"/>
          </a:xfrm>
          <a:prstGeom prst="rect">
            <a:avLst/>
          </a:prstGeom>
          <a:noFill/>
          <a:ln/>
        </p:spPr>
        <p:txBody>
          <a:bodyPr wrap="square" lIns="0" tIns="0" rIns="0" bIns="0" rtlCol="0" anchor="ctr"/>
          <a:lstStyle/>
          <a:p>
            <a:pPr marL="0" indent="0">
              <a:buNone/>
            </a:pPr>
            <a:r>
              <a:rPr lang="en-US" sz="2400" b="1" dirty="0">
                <a:solidFill>
                  <a:srgbClr val="323F4B"/>
                </a:solidFill>
                <a:latin typeface="Trebuchet MS" pitchFamily="34" charset="0"/>
                <a:ea typeface="Trebuchet MS" pitchFamily="34" charset="-122"/>
                <a:cs typeface="Trebuchet MS" pitchFamily="34" charset="-120"/>
              </a:rPr>
              <a:t>Implications for Forced-Choice Test Design</a:t>
            </a:r>
            <a:endParaRPr lang="en-US" sz="2400" dirty="0"/>
          </a:p>
        </p:txBody>
      </p:sp>
      <p:sp>
        <p:nvSpPr>
          <p:cNvPr id="5" name="Text 2"/>
          <p:cNvSpPr/>
          <p:nvPr/>
        </p:nvSpPr>
        <p:spPr>
          <a:xfrm>
            <a:off x="548640" y="822960"/>
            <a:ext cx="8046720" cy="32004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Dr. Philseok Lee</a:t>
            </a:r>
            <a:endParaRPr lang="en-US" sz="1100" dirty="0"/>
          </a:p>
        </p:txBody>
      </p:sp>
      <p:sp>
        <p:nvSpPr>
          <p:cNvPr id="6" name="Text 3"/>
          <p:cNvSpPr/>
          <p:nvPr/>
        </p:nvSpPr>
        <p:spPr>
          <a:xfrm>
            <a:off x="548640" y="1188720"/>
            <a:ext cx="8046720" cy="365760"/>
          </a:xfrm>
          <a:prstGeom prst="rect">
            <a:avLst/>
          </a:prstGeom>
          <a:noFill/>
          <a:ln/>
        </p:spPr>
        <p:txBody>
          <a:bodyPr wrap="square" lIns="0" tIns="0" rIns="0" bIns="0" rtlCol="0" anchor="ctr"/>
          <a:lstStyle/>
          <a:p>
            <a:pPr marL="0" indent="0">
              <a:buNone/>
            </a:pPr>
            <a:r>
              <a:rPr lang="en-US" sz="1400" dirty="0">
                <a:solidFill>
                  <a:srgbClr val="323F4B"/>
                </a:solidFill>
                <a:latin typeface="Calibri" pitchFamily="34" charset="0"/>
                <a:ea typeface="Calibri" pitchFamily="34" charset="-122"/>
                <a:cs typeface="Calibri" pitchFamily="34" charset="-120"/>
              </a:rPr>
              <a:t>Item metadata from this pipeline directly enables FC block construction:</a:t>
            </a:r>
            <a:endParaRPr lang="en-US" sz="1400" dirty="0"/>
          </a:p>
        </p:txBody>
      </p:sp>
      <p:graphicFrame>
        <p:nvGraphicFramePr>
          <p:cNvPr id="2" name="Table 0"/>
          <p:cNvGraphicFramePr>
            <a:graphicFrameLocks noGrp="1"/>
          </p:cNvGraphicFramePr>
          <p:nvPr/>
        </p:nvGraphicFramePr>
        <p:xfrm>
          <a:off x="548640" y="1645920"/>
          <a:ext cx="8046720" cy="1630680"/>
        </p:xfrm>
        <a:graphic>
          <a:graphicData uri="http://schemas.openxmlformats.org/drawingml/2006/table">
            <a:tbl>
              <a:tblPr/>
              <a:tblGrid>
                <a:gridCol w="320040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tblGrid>
              <a:tr h="0">
                <a:tc>
                  <a:txBody>
                    <a:bodyP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Pipeline Metadata</a:t>
                      </a:r>
                      <a:endParaRPr lang="en-US" sz="1100" dirty="0">
                        <a:latin typeface="Trebuchet MS" charset="0"/>
                        <a:ea typeface="Trebuchet MS" charset="0"/>
                        <a:cs typeface="Trebuchet MS" charset="0"/>
                      </a:endParaRPr>
                    </a:p>
                  </a:txBody>
                  <a:tcP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028090"/>
                    </a:solidFill>
                  </a:tcPr>
                </a:tc>
                <a:tc>
                  <a:txBody>
                    <a:bodyP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FC Design Application</a:t>
                      </a:r>
                      <a:endParaRPr lang="en-US" sz="1100" dirty="0">
                        <a:latin typeface="Trebuchet MS" charset="0"/>
                        <a:ea typeface="Trebuchet MS" charset="0"/>
                        <a:cs typeface="Trebuchet MS" charset="0"/>
                      </a:endParaRPr>
                    </a:p>
                  </a:txBody>
                  <a:tcP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0">
                <a:tc>
                  <a:txBody>
                    <a:bodyPr/>
                    <a:lstStyle/>
                    <a:p>
                      <a:pPr marL="0" indent="0">
                        <a:buNone/>
                      </a:pPr>
                      <a:r>
                        <a:rPr lang="en-US" sz="1000" dirty="0">
                          <a:solidFill>
                            <a:srgbClr val="323F4B"/>
                          </a:solidFill>
                          <a:latin typeface="Consolas" pitchFamily="34" charset="0"/>
                          <a:ea typeface="Consolas" pitchFamily="34" charset="-122"/>
                          <a:cs typeface="Consolas" pitchFamily="34" charset="-120"/>
                        </a:rPr>
                        <a:t>cv_c_value</a:t>
                      </a:r>
                      <a:endParaRPr lang="en-US" sz="1000" dirty="0">
                        <a:latin typeface="Consolas" charset="0"/>
                        <a:ea typeface="Consolas" charset="0"/>
                        <a:cs typeface="Consolas" charset="0"/>
                      </a:endParaRPr>
                    </a:p>
                  </a:txBody>
                  <a:tcP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marL="0" indent="0">
                        <a:buNone/>
                      </a:pPr>
                      <a:r>
                        <a:rPr lang="en-US" sz="1100" dirty="0">
                          <a:solidFill>
                            <a:srgbClr val="323F4B"/>
                          </a:solidFill>
                          <a:latin typeface="Calibri" pitchFamily="34" charset="0"/>
                          <a:ea typeface="Calibri" pitchFamily="34" charset="-122"/>
                          <a:cs typeface="Calibri" pitchFamily="34" charset="-120"/>
                        </a:rPr>
                        <a:t>Correspondence strength — items with similar c-values for social desirability matching</a:t>
                      </a:r>
                      <a:endParaRPr lang="en-US" sz="1100" dirty="0">
                        <a:latin typeface="Calibri" charset="0"/>
                        <a:ea typeface="Calibri" charset="0"/>
                        <a:cs typeface="Calibri" charset="0"/>
                      </a:endParaRPr>
                    </a:p>
                  </a:txBody>
                  <a:tcP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00" dirty="0">
                          <a:solidFill>
                            <a:srgbClr val="323F4B"/>
                          </a:solidFill>
                          <a:latin typeface="Consolas" pitchFamily="34" charset="0"/>
                          <a:ea typeface="Consolas" pitchFamily="34" charset="-122"/>
                          <a:cs typeface="Consolas" pitchFamily="34" charset="-120"/>
                        </a:rPr>
                        <a:t>cv_d_value</a:t>
                      </a:r>
                      <a:endParaRPr lang="en-US" sz="1000" dirty="0">
                        <a:latin typeface="Consolas" charset="0"/>
                        <a:ea typeface="Consolas" charset="0"/>
                        <a:cs typeface="Consolas" charset="0"/>
                      </a:endParaRPr>
                    </a:p>
                  </a:txBody>
                  <a:tcP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marL="0" indent="0">
                        <a:buNone/>
                      </a:pPr>
                      <a:r>
                        <a:rPr lang="en-US" sz="1100" dirty="0">
                          <a:solidFill>
                            <a:srgbClr val="323F4B"/>
                          </a:solidFill>
                          <a:latin typeface="Calibri" pitchFamily="34" charset="0"/>
                          <a:ea typeface="Calibri" pitchFamily="34" charset="-122"/>
                          <a:cs typeface="Calibri" pitchFamily="34" charset="-120"/>
                        </a:rPr>
                        <a:t>Distinctiveness — high d-value items confirmed as measuring only their target construct</a:t>
                      </a:r>
                      <a:endParaRPr lang="en-US" sz="1100" dirty="0">
                        <a:latin typeface="Calibri" charset="0"/>
                        <a:ea typeface="Calibri" charset="0"/>
                        <a:cs typeface="Calibri" charset="0"/>
                      </a:endParaRPr>
                    </a:p>
                  </a:txBody>
                  <a:tcP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000" dirty="0">
                          <a:solidFill>
                            <a:srgbClr val="323F4B"/>
                          </a:solidFill>
                          <a:latin typeface="Consolas" pitchFamily="34" charset="0"/>
                          <a:ea typeface="Consolas" pitchFamily="34" charset="-122"/>
                          <a:cs typeface="Consolas" pitchFamily="34" charset="-120"/>
                        </a:rPr>
                        <a:t>discriminant_pass</a:t>
                      </a:r>
                      <a:endParaRPr lang="en-US" sz="1000" dirty="0">
                        <a:latin typeface="Consolas" charset="0"/>
                        <a:ea typeface="Consolas" charset="0"/>
                        <a:cs typeface="Consolas" charset="0"/>
                      </a:endParaRPr>
                    </a:p>
                  </a:txBody>
                  <a:tcP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marL="0" indent="0">
                        <a:buNone/>
                      </a:pPr>
                      <a:r>
                        <a:rPr lang="en-US" sz="1100" dirty="0">
                          <a:solidFill>
                            <a:srgbClr val="323F4B"/>
                          </a:solidFill>
                          <a:latin typeface="Calibri" pitchFamily="34" charset="0"/>
                          <a:ea typeface="Calibri" pitchFamily="34" charset="-122"/>
                          <a:cs typeface="Calibri" pitchFamily="34" charset="-120"/>
                        </a:rPr>
                        <a:t>PFA-confirmed distinctness across constructs within block</a:t>
                      </a:r>
                      <a:endParaRPr lang="en-US" sz="1100" dirty="0">
                        <a:latin typeface="Calibri" charset="0"/>
                        <a:ea typeface="Calibri" charset="0"/>
                        <a:cs typeface="Calibri" charset="0"/>
                      </a:endParaRPr>
                    </a:p>
                  </a:txBody>
                  <a:tcP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000" dirty="0">
                          <a:solidFill>
                            <a:srgbClr val="323F4B"/>
                          </a:solidFill>
                          <a:latin typeface="Consolas" pitchFamily="34" charset="0"/>
                          <a:ea typeface="Consolas" pitchFamily="34" charset="-122"/>
                          <a:cs typeface="Consolas" pitchFamily="34" charset="-120"/>
                        </a:rPr>
                        <a:t>occurrence_likelihood</a:t>
                      </a:r>
                      <a:endParaRPr lang="en-US" sz="1000" dirty="0">
                        <a:latin typeface="Consolas" charset="0"/>
                        <a:ea typeface="Consolas" charset="0"/>
                        <a:cs typeface="Consolas" charset="0"/>
                      </a:endParaRPr>
                    </a:p>
                  </a:txBody>
                  <a:tcP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marL="0" indent="0">
                        <a:buNone/>
                      </a:pPr>
                      <a:r>
                        <a:rPr lang="en-US" sz="1100" dirty="0">
                          <a:solidFill>
                            <a:srgbClr val="323F4B"/>
                          </a:solidFill>
                          <a:latin typeface="Calibri" pitchFamily="34" charset="0"/>
                          <a:ea typeface="Calibri" pitchFamily="34" charset="-122"/>
                          <a:cs typeface="Calibri" pitchFamily="34" charset="-120"/>
                        </a:rPr>
                        <a:t>Additional matching dimension for block balance</a:t>
                      </a:r>
                      <a:endParaRPr lang="en-US" sz="1100" dirty="0">
                        <a:latin typeface="Calibri" charset="0"/>
                        <a:ea typeface="Calibri" charset="0"/>
                        <a:cs typeface="Calibri" charset="0"/>
                      </a:endParaRPr>
                    </a:p>
                  </a:txBody>
                  <a:tcP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Text 4"/>
          <p:cNvSpPr/>
          <p:nvPr/>
        </p:nvSpPr>
        <p:spPr>
          <a:xfrm>
            <a:off x="548640" y="4114800"/>
            <a:ext cx="8046720" cy="274320"/>
          </a:xfrm>
          <a:prstGeom prst="rect">
            <a:avLst/>
          </a:prstGeom>
          <a:noFill/>
          <a:ln/>
        </p:spPr>
        <p:txBody>
          <a:bodyPr wrap="square" lIns="0" tIns="0" rIns="0" bIns="0" rtlCol="0" anchor="ctr"/>
          <a:lstStyle/>
          <a:p>
            <a:pPr marL="0" indent="0">
              <a:buNone/>
            </a:pPr>
            <a:r>
              <a:rPr lang="en-US" sz="1000" i="1" dirty="0">
                <a:solidFill>
                  <a:srgbClr val="7B8794"/>
                </a:solidFill>
                <a:latin typeface="Calibri" pitchFamily="34" charset="0"/>
                <a:ea typeface="Calibri" pitchFamily="34" charset="-122"/>
                <a:cs typeface="Calibri" pitchFamily="34" charset="-120"/>
              </a:rPr>
              <a:t>~56% of HR professionals now use FC measures  •  Lee, Son, Zhou, Joo, Jia, &amp; Cheng (2025)</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1B2838"/>
        </a:solidFill>
        <a:effectLst/>
      </p:bgPr>
    </p:bg>
    <p:spTree>
      <p:nvGrpSpPr>
        <p:cNvPr id="1" name=""/>
        <p:cNvGrpSpPr/>
        <p:nvPr/>
      </p:nvGrpSpPr>
      <p:grpSpPr>
        <a:xfrm>
          <a:off x="0" y="0"/>
          <a:ext cx="0" cy="0"/>
          <a:chOff x="0" y="0"/>
          <a:chExt cx="0" cy="0"/>
        </a:xfrm>
      </p:grpSpPr>
      <p:sp>
        <p:nvSpPr>
          <p:cNvPr id="3" name="Text 0"/>
          <p:cNvSpPr/>
          <p:nvPr/>
        </p:nvSpPr>
        <p:spPr>
          <a:xfrm>
            <a:off x="731520" y="1463040"/>
            <a:ext cx="7680960" cy="1097280"/>
          </a:xfrm>
          <a:prstGeom prst="rect">
            <a:avLst/>
          </a:prstGeom>
          <a:noFill/>
          <a:ln/>
        </p:spPr>
        <p:txBody>
          <a:bodyPr wrap="square" lIns="0" tIns="0" rIns="0" bIns="0" rtlCol="0" anchor="ctr"/>
          <a:lstStyle/>
          <a:p>
            <a:pPr marL="0" indent="0">
              <a:buNone/>
            </a:pPr>
            <a:r>
              <a:rPr lang="en-US" sz="4000" b="1" dirty="0">
                <a:solidFill>
                  <a:srgbClr val="FFFFFF"/>
                </a:solidFill>
                <a:latin typeface="Trebuchet MS" pitchFamily="34" charset="0"/>
                <a:ea typeface="Trebuchet MS" pitchFamily="34" charset="-122"/>
                <a:cs typeface="Trebuchet MS" pitchFamily="34" charset="-120"/>
              </a:rPr>
              <a:t>Phase 5: Pseudo-Factor Analysis</a:t>
            </a:r>
            <a:endParaRPr lang="en-US" sz="4000" dirty="0"/>
          </a:p>
          <a:p>
            <a:pPr marL="0" indent="0">
              <a:buNone/>
            </a:pPr>
            <a:r>
              <a:rPr lang="en-US" sz="4000" b="1" dirty="0">
                <a:solidFill>
                  <a:srgbClr val="FFFFFF"/>
                </a:solidFill>
                <a:latin typeface="Trebuchet MS" pitchFamily="34" charset="0"/>
                <a:ea typeface="Trebuchet MS" pitchFamily="34" charset="-122"/>
                <a:cs typeface="Trebuchet MS" pitchFamily="34" charset="-120"/>
              </a:rPr>
              <a:t>&amp; Final Review</a:t>
            </a:r>
            <a:endParaRPr lang="en-US" sz="4000" dirty="0"/>
          </a:p>
        </p:txBody>
      </p:sp>
      <p:sp>
        <p:nvSpPr>
          <p:cNvPr id="4" name="Text 1"/>
          <p:cNvSpPr/>
          <p:nvPr/>
        </p:nvSpPr>
        <p:spPr>
          <a:xfrm>
            <a:off x="731520" y="2560320"/>
            <a:ext cx="7680960" cy="731520"/>
          </a:xfrm>
          <a:prstGeom prst="rect">
            <a:avLst/>
          </a:prstGeom>
          <a:noFill/>
          <a:ln/>
        </p:spPr>
        <p:txBody>
          <a:bodyPr wrap="square" lIns="0" tIns="0" rIns="0" bIns="0" rtlCol="0" anchor="ctr"/>
          <a:lstStyle/>
          <a:p>
            <a:pPr marL="0" indent="0">
              <a:buNone/>
            </a:pPr>
            <a:r>
              <a:rPr lang="en-US" sz="1800" dirty="0">
                <a:solidFill>
                  <a:srgbClr val="9AA5B1"/>
                </a:solidFill>
                <a:latin typeface="Calibri" pitchFamily="34" charset="0"/>
                <a:ea typeface="Calibri" pitchFamily="34" charset="-122"/>
                <a:cs typeface="Calibri" pitchFamily="34" charset="-120"/>
              </a:rPr>
              <a:t>Embedding-based factor analysis before any human data</a:t>
            </a:r>
            <a:endParaRPr lang="en-US" sz="1800" dirty="0"/>
          </a:p>
        </p:txBody>
      </p:sp>
      <p:sp>
        <p:nvSpPr>
          <p:cNvPr id="5" name="Shape 2"/>
          <p:cNvSpPr/>
          <p:nvPr/>
        </p:nvSpPr>
        <p:spPr>
          <a:xfrm>
            <a:off x="731520" y="3291840"/>
            <a:ext cx="2286000" cy="36576"/>
          </a:xfrm>
          <a:prstGeom prst="rect">
            <a:avLst/>
          </a:prstGeom>
          <a:solidFill>
            <a:srgbClr val="028090"/>
          </a:solidFill>
          <a:ln/>
        </p:spPr>
        <p:txBody>
          <a:bodyPr/>
          <a:lstStyle/>
          <a:p>
            <a:endParaRPr lang="en-US"/>
          </a:p>
        </p:txBody>
      </p:sp>
      <p:sp>
        <p:nvSpPr>
          <p:cNvPr id="6" name="Shape 3"/>
          <p:cNvSpPr/>
          <p:nvPr/>
        </p:nvSpPr>
        <p:spPr>
          <a:xfrm>
            <a:off x="7772400" y="3474720"/>
            <a:ext cx="731520" cy="731520"/>
          </a:xfrm>
          <a:prstGeom prst="ellipse">
            <a:avLst/>
          </a:prstGeom>
          <a:solidFill>
            <a:srgbClr val="E85D4A"/>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7933334" y="3635654"/>
            <a:ext cx="409651" cy="40965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0F4F8"/>
        </a:solidFill>
        <a:effectLst/>
      </p:bgPr>
    </p:bg>
    <p:spTree>
      <p:nvGrpSpPr>
        <p:cNvPr id="1" name=""/>
        <p:cNvGrpSpPr/>
        <p:nvPr/>
      </p:nvGrpSpPr>
      <p:grpSpPr>
        <a:xfrm>
          <a:off x="0" y="0"/>
          <a:ext cx="0" cy="0"/>
          <a:chOff x="0" y="0"/>
          <a:chExt cx="0" cy="0"/>
        </a:xfrm>
      </p:grpSpPr>
      <p:sp>
        <p:nvSpPr>
          <p:cNvPr id="3" name="Text 0"/>
          <p:cNvSpPr/>
          <p:nvPr/>
        </p:nvSpPr>
        <p:spPr>
          <a:xfrm>
            <a:off x="548640" y="274320"/>
            <a:ext cx="8046720" cy="594360"/>
          </a:xfrm>
          <a:prstGeom prst="rect">
            <a:avLst/>
          </a:prstGeom>
          <a:noFill/>
          <a:ln/>
        </p:spPr>
        <p:txBody>
          <a:bodyPr wrap="square" lIns="0" tIns="0" rIns="0" bIns="0" rtlCol="0" anchor="ctr"/>
          <a:lstStyle/>
          <a:p>
            <a:pPr marL="0" indent="0">
              <a:buNone/>
            </a:pPr>
            <a:r>
              <a:rPr lang="en-US" sz="2400" b="1" dirty="0">
                <a:solidFill>
                  <a:srgbClr val="323F4B"/>
                </a:solidFill>
                <a:latin typeface="Trebuchet MS" pitchFamily="34" charset="0"/>
                <a:ea typeface="Trebuchet MS" pitchFamily="34" charset="-122"/>
                <a:cs typeface="Trebuchet MS" pitchFamily="34" charset="-120"/>
              </a:rPr>
              <a:t>Phase 5: How PFA Works Mechanically</a:t>
            </a:r>
            <a:endParaRPr lang="en-US" sz="2400" dirty="0"/>
          </a:p>
        </p:txBody>
      </p:sp>
      <p:sp>
        <p:nvSpPr>
          <p:cNvPr id="4" name="Text 1"/>
          <p:cNvSpPr/>
          <p:nvPr/>
        </p:nvSpPr>
        <p:spPr>
          <a:xfrm>
            <a:off x="548640" y="822960"/>
            <a:ext cx="8046720" cy="32004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Tariq Shaban</a:t>
            </a:r>
            <a:endParaRPr lang="en-US" sz="1100" dirty="0"/>
          </a:p>
        </p:txBody>
      </p:sp>
      <p:sp>
        <p:nvSpPr>
          <p:cNvPr id="5" name="Shape 2"/>
          <p:cNvSpPr/>
          <p:nvPr/>
        </p:nvSpPr>
        <p:spPr>
          <a:xfrm>
            <a:off x="0" y="0"/>
            <a:ext cx="9144000" cy="73152"/>
          </a:xfrm>
          <a:prstGeom prst="rect">
            <a:avLst/>
          </a:prstGeom>
          <a:solidFill>
            <a:srgbClr val="028090"/>
          </a:solidFill>
          <a:ln/>
        </p:spPr>
        <p:txBody>
          <a:bodyPr/>
          <a:lstStyle/>
          <a:p>
            <a:endParaRPr lang="en-US"/>
          </a:p>
        </p:txBody>
      </p:sp>
      <p:sp>
        <p:nvSpPr>
          <p:cNvPr id="6" name="Shape 3"/>
          <p:cNvSpPr/>
          <p:nvPr/>
        </p:nvSpPr>
        <p:spPr>
          <a:xfrm>
            <a:off x="457200" y="1371600"/>
            <a:ext cx="1920240" cy="1645920"/>
          </a:xfrm>
          <a:prstGeom prst="rect">
            <a:avLst/>
          </a:prstGeom>
          <a:solidFill>
            <a:srgbClr val="028090"/>
          </a:solidFill>
          <a:ln/>
          <a:effectLst>
            <a:outerShdw blurRad="76200" dist="25400" dir="8100000" algn="bl" rotWithShape="0">
              <a:srgbClr val="000000">
                <a:alpha val="12000"/>
              </a:srgbClr>
            </a:outerShdw>
          </a:effectLst>
        </p:spPr>
        <p:txBody>
          <a:bodyPr/>
          <a:lstStyle/>
          <a:p>
            <a:endParaRPr lang="en-US"/>
          </a:p>
        </p:txBody>
      </p:sp>
      <p:sp>
        <p:nvSpPr>
          <p:cNvPr id="7" name="Text 4"/>
          <p:cNvSpPr/>
          <p:nvPr/>
        </p:nvSpPr>
        <p:spPr>
          <a:xfrm>
            <a:off x="548640" y="1463040"/>
            <a:ext cx="173736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Encode Items</a:t>
            </a:r>
            <a:endParaRPr lang="en-US" sz="1400" dirty="0"/>
          </a:p>
        </p:txBody>
      </p:sp>
      <p:sp>
        <p:nvSpPr>
          <p:cNvPr id="8" name="Text 5"/>
          <p:cNvSpPr/>
          <p:nvPr/>
        </p:nvSpPr>
        <p:spPr>
          <a:xfrm>
            <a:off x="548640" y="2194560"/>
            <a:ext cx="1737360" cy="640080"/>
          </a:xfrm>
          <a:prstGeom prst="rect">
            <a:avLst/>
          </a:prstGeom>
          <a:noFill/>
          <a:ln/>
        </p:spPr>
        <p:txBody>
          <a:bodyPr wrap="square" lIns="0" tIns="0" rIns="0" bIns="0" rtlCol="0" anchor="ctr"/>
          <a:lstStyle/>
          <a:p>
            <a:pPr marL="0" indent="0" algn="ctr">
              <a:buNone/>
            </a:pPr>
            <a:r>
              <a:rPr lang="en-US" sz="1000" dirty="0">
                <a:solidFill>
                  <a:srgbClr val="F0F4F8"/>
                </a:solidFill>
                <a:latin typeface="Calibri" pitchFamily="34" charset="0"/>
                <a:ea typeface="Calibri" pitchFamily="34" charset="-122"/>
                <a:cs typeface="Calibri" pitchFamily="34" charset="-120"/>
              </a:rPr>
              <a:t>Sentence transformers</a:t>
            </a:r>
            <a:endParaRPr lang="en-US" sz="1000" dirty="0"/>
          </a:p>
          <a:p>
            <a:pPr marL="0" indent="0" algn="ctr">
              <a:buNone/>
            </a:pPr>
            <a:r>
              <a:rPr lang="en-US" sz="1000" dirty="0">
                <a:solidFill>
                  <a:srgbClr val="F0F4F8"/>
                </a:solidFill>
                <a:latin typeface="Calibri" pitchFamily="34" charset="0"/>
                <a:ea typeface="Calibri" pitchFamily="34" charset="-122"/>
                <a:cs typeface="Calibri" pitchFamily="34" charset="-120"/>
              </a:rPr>
              <a:t>(configurable list)</a:t>
            </a:r>
            <a:endParaRPr lang="en-US" sz="1000" dirty="0"/>
          </a:p>
        </p:txBody>
      </p:sp>
      <p:pic>
        <p:nvPicPr>
          <p:cNvPr id="9" name="Image 0" descr="preencoded.png"/>
          <p:cNvPicPr>
            <a:picLocks noChangeAspect="1"/>
          </p:cNvPicPr>
          <p:nvPr/>
        </p:nvPicPr>
        <p:blipFill>
          <a:blip r:embed="rId3"/>
          <a:stretch>
            <a:fillRect/>
          </a:stretch>
        </p:blipFill>
        <p:spPr>
          <a:xfrm>
            <a:off x="2423160" y="1920240"/>
            <a:ext cx="182880" cy="182880"/>
          </a:xfrm>
          <a:prstGeom prst="rect">
            <a:avLst/>
          </a:prstGeom>
        </p:spPr>
      </p:pic>
      <p:sp>
        <p:nvSpPr>
          <p:cNvPr id="10" name="Shape 6"/>
          <p:cNvSpPr/>
          <p:nvPr/>
        </p:nvSpPr>
        <p:spPr>
          <a:xfrm>
            <a:off x="2606040" y="1371600"/>
            <a:ext cx="1920240" cy="1645920"/>
          </a:xfrm>
          <a:prstGeom prst="rect">
            <a:avLst/>
          </a:prstGeom>
          <a:solidFill>
            <a:srgbClr val="00A896"/>
          </a:solidFill>
          <a:ln/>
          <a:effectLst>
            <a:outerShdw blurRad="76200" dist="25400" dir="8100000" algn="bl" rotWithShape="0">
              <a:srgbClr val="000000">
                <a:alpha val="12000"/>
              </a:srgbClr>
            </a:outerShdw>
          </a:effectLst>
        </p:spPr>
        <p:txBody>
          <a:bodyPr/>
          <a:lstStyle/>
          <a:p>
            <a:endParaRPr lang="en-US"/>
          </a:p>
        </p:txBody>
      </p:sp>
      <p:sp>
        <p:nvSpPr>
          <p:cNvPr id="11" name="Text 7"/>
          <p:cNvSpPr/>
          <p:nvPr/>
        </p:nvSpPr>
        <p:spPr>
          <a:xfrm>
            <a:off x="2697480" y="1463040"/>
            <a:ext cx="173736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Similarity</a:t>
            </a:r>
            <a:endParaRPr lang="en-US" sz="1400" dirty="0"/>
          </a:p>
          <a:p>
            <a:pPr marL="0" indent="0" algn="ctr">
              <a:buNone/>
            </a:pPr>
            <a:r>
              <a:rPr lang="en-US" sz="1400" b="1" dirty="0">
                <a:solidFill>
                  <a:srgbClr val="FFFFFF"/>
                </a:solidFill>
                <a:latin typeface="Trebuchet MS" pitchFamily="34" charset="0"/>
                <a:ea typeface="Trebuchet MS" pitchFamily="34" charset="-122"/>
                <a:cs typeface="Trebuchet MS" pitchFamily="34" charset="-120"/>
              </a:rPr>
              <a:t>Matrices</a:t>
            </a:r>
            <a:endParaRPr lang="en-US" sz="1400" dirty="0"/>
          </a:p>
        </p:txBody>
      </p:sp>
      <p:sp>
        <p:nvSpPr>
          <p:cNvPr id="12" name="Text 8"/>
          <p:cNvSpPr/>
          <p:nvPr/>
        </p:nvSpPr>
        <p:spPr>
          <a:xfrm>
            <a:off x="2697480" y="2194560"/>
            <a:ext cx="1737360" cy="640080"/>
          </a:xfrm>
          <a:prstGeom prst="rect">
            <a:avLst/>
          </a:prstGeom>
          <a:noFill/>
          <a:ln/>
        </p:spPr>
        <p:txBody>
          <a:bodyPr wrap="square" lIns="0" tIns="0" rIns="0" bIns="0" rtlCol="0" anchor="ctr"/>
          <a:lstStyle/>
          <a:p>
            <a:pPr marL="0" indent="0" algn="ctr">
              <a:buNone/>
            </a:pPr>
            <a:r>
              <a:rPr lang="en-US" sz="1000" dirty="0">
                <a:solidFill>
                  <a:srgbClr val="F0F4F8"/>
                </a:solidFill>
                <a:latin typeface="Calibri" pitchFamily="34" charset="0"/>
                <a:ea typeface="Calibri" pitchFamily="34" charset="-122"/>
                <a:cs typeface="Calibri" pitchFamily="34" charset="-120"/>
              </a:rPr>
              <a:t>Cosine sim per model</a:t>
            </a:r>
            <a:endParaRPr lang="en-US" sz="1000" dirty="0"/>
          </a:p>
          <a:p>
            <a:pPr marL="0" indent="0" algn="ctr">
              <a:buNone/>
            </a:pPr>
            <a:r>
              <a:rPr lang="en-US" sz="1000" dirty="0">
                <a:solidFill>
                  <a:srgbClr val="F0F4F8"/>
                </a:solidFill>
                <a:latin typeface="Calibri" pitchFamily="34" charset="0"/>
                <a:ea typeface="Calibri" pitchFamily="34" charset="-122"/>
                <a:cs typeface="Calibri" pitchFamily="34" charset="-120"/>
              </a:rPr>
              <a:t>then average</a:t>
            </a:r>
            <a:endParaRPr lang="en-US" sz="1000" dirty="0"/>
          </a:p>
        </p:txBody>
      </p:sp>
      <p:pic>
        <p:nvPicPr>
          <p:cNvPr id="13" name="Image 1" descr="preencoded.png"/>
          <p:cNvPicPr>
            <a:picLocks noChangeAspect="1"/>
          </p:cNvPicPr>
          <p:nvPr/>
        </p:nvPicPr>
        <p:blipFill>
          <a:blip r:embed="rId3"/>
          <a:stretch>
            <a:fillRect/>
          </a:stretch>
        </p:blipFill>
        <p:spPr>
          <a:xfrm>
            <a:off x="4572000" y="1920240"/>
            <a:ext cx="182880" cy="182880"/>
          </a:xfrm>
          <a:prstGeom prst="rect">
            <a:avLst/>
          </a:prstGeom>
        </p:spPr>
      </p:pic>
      <p:sp>
        <p:nvSpPr>
          <p:cNvPr id="14" name="Shape 9"/>
          <p:cNvSpPr/>
          <p:nvPr/>
        </p:nvSpPr>
        <p:spPr>
          <a:xfrm>
            <a:off x="4754880" y="1371600"/>
            <a:ext cx="1920240" cy="1645920"/>
          </a:xfrm>
          <a:prstGeom prst="rect">
            <a:avLst/>
          </a:prstGeom>
          <a:solidFill>
            <a:srgbClr val="02C39A"/>
          </a:solidFill>
          <a:ln/>
          <a:effectLst>
            <a:outerShdw blurRad="76200" dist="25400" dir="8100000" algn="bl" rotWithShape="0">
              <a:srgbClr val="000000">
                <a:alpha val="12000"/>
              </a:srgbClr>
            </a:outerShdw>
          </a:effectLst>
        </p:spPr>
        <p:txBody>
          <a:bodyPr/>
          <a:lstStyle/>
          <a:p>
            <a:endParaRPr lang="en-US"/>
          </a:p>
        </p:txBody>
      </p:sp>
      <p:sp>
        <p:nvSpPr>
          <p:cNvPr id="15" name="Text 10"/>
          <p:cNvSpPr/>
          <p:nvPr/>
        </p:nvSpPr>
        <p:spPr>
          <a:xfrm>
            <a:off x="4846320" y="1463040"/>
            <a:ext cx="173736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Factor</a:t>
            </a:r>
            <a:endParaRPr lang="en-US" sz="1400" dirty="0"/>
          </a:p>
          <a:p>
            <a:pPr marL="0" indent="0" algn="ctr">
              <a:buNone/>
            </a:pPr>
            <a:r>
              <a:rPr lang="en-US" sz="1400" b="1" dirty="0">
                <a:solidFill>
                  <a:srgbClr val="FFFFFF"/>
                </a:solidFill>
                <a:latin typeface="Trebuchet MS" pitchFamily="34" charset="0"/>
                <a:ea typeface="Trebuchet MS" pitchFamily="34" charset="-122"/>
                <a:cs typeface="Trebuchet MS" pitchFamily="34" charset="-120"/>
              </a:rPr>
              <a:t>Analysis</a:t>
            </a:r>
            <a:endParaRPr lang="en-US" sz="1400" dirty="0"/>
          </a:p>
        </p:txBody>
      </p:sp>
      <p:sp>
        <p:nvSpPr>
          <p:cNvPr id="16" name="Text 11"/>
          <p:cNvSpPr/>
          <p:nvPr/>
        </p:nvSpPr>
        <p:spPr>
          <a:xfrm>
            <a:off x="4846320" y="2194560"/>
            <a:ext cx="1737360" cy="640080"/>
          </a:xfrm>
          <a:prstGeom prst="rect">
            <a:avLst/>
          </a:prstGeom>
          <a:noFill/>
          <a:ln/>
        </p:spPr>
        <p:txBody>
          <a:bodyPr wrap="square" lIns="0" tIns="0" rIns="0" bIns="0" rtlCol="0" anchor="ctr"/>
          <a:lstStyle/>
          <a:p>
            <a:pPr marL="0" indent="0" algn="ctr">
              <a:buNone/>
            </a:pPr>
            <a:r>
              <a:rPr lang="en-US" sz="1000" dirty="0">
                <a:solidFill>
                  <a:srgbClr val="F0F4F8"/>
                </a:solidFill>
                <a:latin typeface="Calibri" pitchFamily="34" charset="0"/>
                <a:ea typeface="Calibri" pitchFamily="34" charset="-122"/>
                <a:cs typeface="Calibri" pitchFamily="34" charset="-120"/>
              </a:rPr>
              <a:t>Applied to averaged</a:t>
            </a:r>
            <a:endParaRPr lang="en-US" sz="1000" dirty="0"/>
          </a:p>
          <a:p>
            <a:pPr marL="0" indent="0" algn="ctr">
              <a:buNone/>
            </a:pPr>
            <a:r>
              <a:rPr lang="en-US" sz="1000" dirty="0">
                <a:solidFill>
                  <a:srgbClr val="F0F4F8"/>
                </a:solidFill>
                <a:latin typeface="Calibri" pitchFamily="34" charset="0"/>
                <a:ea typeface="Calibri" pitchFamily="34" charset="-122"/>
                <a:cs typeface="Calibri" pitchFamily="34" charset="-120"/>
              </a:rPr>
              <a:t>similarity matrix</a:t>
            </a:r>
            <a:endParaRPr lang="en-US" sz="1000" dirty="0"/>
          </a:p>
        </p:txBody>
      </p:sp>
      <p:pic>
        <p:nvPicPr>
          <p:cNvPr id="17" name="Image 2" descr="preencoded.png"/>
          <p:cNvPicPr>
            <a:picLocks noChangeAspect="1"/>
          </p:cNvPicPr>
          <p:nvPr/>
        </p:nvPicPr>
        <p:blipFill>
          <a:blip r:embed="rId3"/>
          <a:stretch>
            <a:fillRect/>
          </a:stretch>
        </p:blipFill>
        <p:spPr>
          <a:xfrm>
            <a:off x="6720840" y="1920240"/>
            <a:ext cx="182880" cy="182880"/>
          </a:xfrm>
          <a:prstGeom prst="rect">
            <a:avLst/>
          </a:prstGeom>
        </p:spPr>
      </p:pic>
      <p:sp>
        <p:nvSpPr>
          <p:cNvPr id="18" name="Shape 12"/>
          <p:cNvSpPr/>
          <p:nvPr/>
        </p:nvSpPr>
        <p:spPr>
          <a:xfrm>
            <a:off x="6903720" y="1371600"/>
            <a:ext cx="1920240" cy="1645920"/>
          </a:xfrm>
          <a:prstGeom prst="rect">
            <a:avLst/>
          </a:prstGeom>
          <a:solidFill>
            <a:srgbClr val="F5A623"/>
          </a:solidFill>
          <a:ln/>
          <a:effectLst>
            <a:outerShdw blurRad="76200" dist="25400" dir="8100000" algn="bl" rotWithShape="0">
              <a:srgbClr val="000000">
                <a:alpha val="12000"/>
              </a:srgbClr>
            </a:outerShdw>
          </a:effectLst>
        </p:spPr>
        <p:txBody>
          <a:bodyPr/>
          <a:lstStyle/>
          <a:p>
            <a:endParaRPr lang="en-US"/>
          </a:p>
        </p:txBody>
      </p:sp>
      <p:sp>
        <p:nvSpPr>
          <p:cNvPr id="19" name="Text 13"/>
          <p:cNvSpPr/>
          <p:nvPr/>
        </p:nvSpPr>
        <p:spPr>
          <a:xfrm>
            <a:off x="6995160" y="1463040"/>
            <a:ext cx="173736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6 Pass/Fail</a:t>
            </a:r>
            <a:endParaRPr lang="en-US" sz="1400" dirty="0"/>
          </a:p>
          <a:p>
            <a:pPr marL="0" indent="0" algn="ctr">
              <a:buNone/>
            </a:pPr>
            <a:r>
              <a:rPr lang="en-US" sz="1400" b="1" dirty="0">
                <a:solidFill>
                  <a:srgbClr val="FFFFFF"/>
                </a:solidFill>
                <a:latin typeface="Trebuchet MS" pitchFamily="34" charset="0"/>
                <a:ea typeface="Trebuchet MS" pitchFamily="34" charset="-122"/>
                <a:cs typeface="Trebuchet MS" pitchFamily="34" charset="-120"/>
              </a:rPr>
              <a:t>Rules</a:t>
            </a:r>
            <a:endParaRPr lang="en-US" sz="1400" dirty="0"/>
          </a:p>
        </p:txBody>
      </p:sp>
      <p:sp>
        <p:nvSpPr>
          <p:cNvPr id="20" name="Text 14"/>
          <p:cNvSpPr/>
          <p:nvPr/>
        </p:nvSpPr>
        <p:spPr>
          <a:xfrm>
            <a:off x="6995160" y="2194560"/>
            <a:ext cx="1737360" cy="640080"/>
          </a:xfrm>
          <a:prstGeom prst="rect">
            <a:avLst/>
          </a:prstGeom>
          <a:noFill/>
          <a:ln/>
        </p:spPr>
        <p:txBody>
          <a:bodyPr wrap="square" lIns="0" tIns="0" rIns="0" bIns="0" rtlCol="0" anchor="ctr"/>
          <a:lstStyle/>
          <a:p>
            <a:pPr marL="0" indent="0" algn="ctr">
              <a:buNone/>
            </a:pPr>
            <a:r>
              <a:rPr lang="en-US" sz="1000" dirty="0">
                <a:solidFill>
                  <a:srgbClr val="F0F4F8"/>
                </a:solidFill>
                <a:latin typeface="Calibri" pitchFamily="34" charset="0"/>
                <a:ea typeface="Calibri" pitchFamily="34" charset="-122"/>
                <a:cs typeface="Calibri" pitchFamily="34" charset="-120"/>
              </a:rPr>
              <a:t>HIGH_PASS or</a:t>
            </a:r>
            <a:endParaRPr lang="en-US" sz="1000" dirty="0"/>
          </a:p>
          <a:p>
            <a:pPr marL="0" indent="0" algn="ctr">
              <a:buNone/>
            </a:pPr>
            <a:r>
              <a:rPr lang="en-US" sz="1000" dirty="0">
                <a:solidFill>
                  <a:srgbClr val="F0F4F8"/>
                </a:solidFill>
                <a:latin typeface="Calibri" pitchFamily="34" charset="0"/>
                <a:ea typeface="Calibri" pitchFamily="34" charset="-122"/>
                <a:cs typeface="Calibri" pitchFamily="34" charset="-120"/>
              </a:rPr>
              <a:t>STANDARD_PASS</a:t>
            </a:r>
            <a:endParaRPr lang="en-US" sz="1000" dirty="0"/>
          </a:p>
        </p:txBody>
      </p:sp>
      <p:sp>
        <p:nvSpPr>
          <p:cNvPr id="21" name="Shape 15"/>
          <p:cNvSpPr/>
          <p:nvPr/>
        </p:nvSpPr>
        <p:spPr>
          <a:xfrm>
            <a:off x="548640" y="3383280"/>
            <a:ext cx="8046720" cy="1371600"/>
          </a:xfrm>
          <a:prstGeom prst="rect">
            <a:avLst/>
          </a:prstGeom>
          <a:solidFill>
            <a:srgbClr val="1B2838"/>
          </a:solidFill>
          <a:ln/>
        </p:spPr>
        <p:txBody>
          <a:bodyPr/>
          <a:lstStyle/>
          <a:p>
            <a:endParaRPr lang="en-US"/>
          </a:p>
        </p:txBody>
      </p:sp>
      <p:sp>
        <p:nvSpPr>
          <p:cNvPr id="22" name="Text 16"/>
          <p:cNvSpPr/>
          <p:nvPr/>
        </p:nvSpPr>
        <p:spPr>
          <a:xfrm>
            <a:off x="731520" y="3474720"/>
            <a:ext cx="7680960" cy="1188720"/>
          </a:xfrm>
          <a:prstGeom prst="rect">
            <a:avLst/>
          </a:prstGeom>
          <a:noFill/>
          <a:ln/>
        </p:spPr>
        <p:txBody>
          <a:bodyPr wrap="square" lIns="0" tIns="0" rIns="0" bIns="0" rtlCol="0" anchor="t"/>
          <a:lstStyle/>
          <a:p>
            <a:pPr marL="0" indent="0">
              <a:buNone/>
            </a:pPr>
            <a:r>
              <a:rPr lang="en-US" sz="900" dirty="0">
                <a:solidFill>
                  <a:srgbClr val="02C39A"/>
                </a:solidFill>
                <a:latin typeface="Consolas" pitchFamily="34" charset="0"/>
                <a:ea typeface="Consolas" pitchFamily="34" charset="-122"/>
                <a:cs typeface="Consolas" pitchFamily="34" charset="-120"/>
              </a:rPr>
              <a:t>"transformer_models": ["all-MiniLM-L6-v2"]  // add "all-mpnet-base-v2" for dual-model averaging</a:t>
            </a:r>
            <a:endParaRPr lang="en-US" sz="900" dirty="0"/>
          </a:p>
          <a:p>
            <a:pPr marL="0" indent="0">
              <a:buNone/>
            </a:pPr>
            <a:endParaRPr lang="en-US" sz="900" dirty="0"/>
          </a:p>
          <a:p>
            <a:pPr marL="0" indent="0">
              <a:buNone/>
            </a:pPr>
            <a:r>
              <a:rPr lang="en-US" sz="900" dirty="0">
                <a:solidFill>
                  <a:srgbClr val="02C39A"/>
                </a:solidFill>
                <a:latin typeface="Consolas" pitchFamily="34" charset="0"/>
                <a:ea typeface="Consolas" pitchFamily="34" charset="-122"/>
                <a:cs typeface="Consolas" pitchFamily="34" charset="-120"/>
              </a:rPr>
              <a:t>"pass_rules": {</a:t>
            </a:r>
            <a:endParaRPr lang="en-US" sz="900" dirty="0"/>
          </a:p>
          <a:p>
            <a:pPr marL="0" indent="0">
              <a:buNone/>
            </a:pPr>
            <a:r>
              <a:rPr lang="en-US" sz="900" dirty="0">
                <a:solidFill>
                  <a:srgbClr val="02C39A"/>
                </a:solidFill>
                <a:latin typeface="Consolas" pitchFamily="34" charset="0"/>
                <a:ea typeface="Consolas" pitchFamily="34" charset="-122"/>
                <a:cs typeface="Consolas" pitchFamily="34" charset="-120"/>
              </a:rPr>
              <a:t>    "Rule_1_Strong_Single_Factor":  { "threshold": 0.40 },   // HIGH_PASS requires Rules 1, 3, 4</a:t>
            </a:r>
            <a:endParaRPr lang="en-US" sz="900" dirty="0"/>
          </a:p>
          <a:p>
            <a:pPr marL="0" indent="0">
              <a:buNone/>
            </a:pPr>
            <a:r>
              <a:rPr lang="en-US" sz="900" dirty="0">
                <a:solidFill>
                  <a:srgbClr val="02C39A"/>
                </a:solidFill>
                <a:latin typeface="Consolas" pitchFamily="34" charset="0"/>
                <a:ea typeface="Consolas" pitchFamily="34" charset="-122"/>
                <a:cs typeface="Consolas" pitchFamily="34" charset="-120"/>
              </a:rPr>
              <a:t>    "Rule_3_Adequate_Communality":  { "threshold": 0.10 },   // STANDARD_PASS requires ≥ 3 of 6 rules</a:t>
            </a:r>
            <a:endParaRPr lang="en-US" sz="900" dirty="0"/>
          </a:p>
          <a:p>
            <a:pPr marL="0" indent="0">
              <a:buNone/>
            </a:pPr>
            <a:r>
              <a:rPr lang="en-US" sz="900" dirty="0">
                <a:solidFill>
                  <a:srgbClr val="02C39A"/>
                </a:solidFill>
                <a:latin typeface="Consolas" pitchFamily="34" charset="0"/>
                <a:ea typeface="Consolas" pitchFamily="34" charset="-122"/>
                <a:cs typeface="Consolas" pitchFamily="34" charset="-120"/>
              </a:rPr>
              <a:t>    "Rule_4_Clean_Factor_Structure": { "threshold": 0.35 }    // All thresholds configurable</a:t>
            </a:r>
            <a:endParaRPr lang="en-US" sz="900" dirty="0"/>
          </a:p>
          <a:p>
            <a:pPr marL="0" indent="0">
              <a:buNone/>
            </a:pPr>
            <a:r>
              <a:rPr lang="en-US" sz="900" dirty="0">
                <a:solidFill>
                  <a:srgbClr val="02C39A"/>
                </a:solidFill>
                <a:latin typeface="Consolas" pitchFamily="34" charset="0"/>
                <a:ea typeface="Consolas" pitchFamily="34" charset="-122"/>
                <a:cs typeface="Consolas" pitchFamily="34" charset="-120"/>
              </a:rPr>
              <a:t>}</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0F4F8"/>
        </a:solidFill>
        <a:effectLst/>
      </p:bgPr>
    </p:bg>
    <p:spTree>
      <p:nvGrpSpPr>
        <p:cNvPr id="1" name=""/>
        <p:cNvGrpSpPr/>
        <p:nvPr/>
      </p:nvGrpSpPr>
      <p:grpSpPr>
        <a:xfrm>
          <a:off x="0" y="0"/>
          <a:ext cx="0" cy="0"/>
          <a:chOff x="0" y="0"/>
          <a:chExt cx="0" cy="0"/>
        </a:xfrm>
      </p:grpSpPr>
      <p:sp>
        <p:nvSpPr>
          <p:cNvPr id="3" name="Text 0"/>
          <p:cNvSpPr/>
          <p:nvPr/>
        </p:nvSpPr>
        <p:spPr>
          <a:xfrm>
            <a:off x="548640" y="274320"/>
            <a:ext cx="8046720" cy="594360"/>
          </a:xfrm>
          <a:prstGeom prst="rect">
            <a:avLst/>
          </a:prstGeom>
          <a:noFill/>
          <a:ln/>
        </p:spPr>
        <p:txBody>
          <a:bodyPr wrap="square" lIns="0" tIns="0" rIns="0" bIns="0" rtlCol="0" anchor="ctr"/>
          <a:lstStyle/>
          <a:p>
            <a:pPr marL="0" indent="0">
              <a:buNone/>
            </a:pPr>
            <a:r>
              <a:rPr lang="en-US" sz="2400" b="1" dirty="0">
                <a:solidFill>
                  <a:srgbClr val="323F4B"/>
                </a:solidFill>
                <a:latin typeface="Trebuchet MS" pitchFamily="34" charset="0"/>
                <a:ea typeface="Trebuchet MS" pitchFamily="34" charset="-122"/>
                <a:cs typeface="Trebuchet MS" pitchFamily="34" charset="-120"/>
              </a:rPr>
              <a:t>Why PFA Works: Psychometric Foundations</a:t>
            </a:r>
            <a:endParaRPr lang="en-US" sz="2400" dirty="0"/>
          </a:p>
        </p:txBody>
      </p:sp>
      <p:sp>
        <p:nvSpPr>
          <p:cNvPr id="4" name="Text 1"/>
          <p:cNvSpPr/>
          <p:nvPr/>
        </p:nvSpPr>
        <p:spPr>
          <a:xfrm>
            <a:off x="548640" y="822960"/>
            <a:ext cx="8046720" cy="32004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Dr. Philseok Lee</a:t>
            </a:r>
            <a:endParaRPr lang="en-US" sz="1100" dirty="0"/>
          </a:p>
        </p:txBody>
      </p:sp>
      <p:sp>
        <p:nvSpPr>
          <p:cNvPr id="5" name="Shape 2"/>
          <p:cNvSpPr/>
          <p:nvPr/>
        </p:nvSpPr>
        <p:spPr>
          <a:xfrm>
            <a:off x="0" y="0"/>
            <a:ext cx="9144000" cy="73152"/>
          </a:xfrm>
          <a:prstGeom prst="rect">
            <a:avLst/>
          </a:prstGeom>
          <a:solidFill>
            <a:srgbClr val="028090"/>
          </a:solidFill>
          <a:ln/>
        </p:spPr>
        <p:txBody>
          <a:bodyPr/>
          <a:lstStyle/>
          <a:p>
            <a:endParaRPr lang="en-US"/>
          </a:p>
        </p:txBody>
      </p:sp>
      <p:sp>
        <p:nvSpPr>
          <p:cNvPr id="6" name="Shape 3"/>
          <p:cNvSpPr/>
          <p:nvPr/>
        </p:nvSpPr>
        <p:spPr>
          <a:xfrm>
            <a:off x="548640" y="1280160"/>
            <a:ext cx="3840480" cy="27432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7" name="Shape 4"/>
          <p:cNvSpPr/>
          <p:nvPr/>
        </p:nvSpPr>
        <p:spPr>
          <a:xfrm>
            <a:off x="548640" y="1280160"/>
            <a:ext cx="54864" cy="2743200"/>
          </a:xfrm>
          <a:prstGeom prst="rect">
            <a:avLst/>
          </a:prstGeom>
          <a:solidFill>
            <a:srgbClr val="028090"/>
          </a:solidFill>
          <a:ln/>
        </p:spPr>
        <p:txBody>
          <a:bodyPr/>
          <a:lstStyle/>
          <a:p>
            <a:endParaRPr lang="en-US"/>
          </a:p>
        </p:txBody>
      </p:sp>
      <p:sp>
        <p:nvSpPr>
          <p:cNvPr id="8" name="Text 5"/>
          <p:cNvSpPr/>
          <p:nvPr/>
        </p:nvSpPr>
        <p:spPr>
          <a:xfrm>
            <a:off x="777240" y="1371600"/>
            <a:ext cx="3474720" cy="274320"/>
          </a:xfrm>
          <a:prstGeom prst="rect">
            <a:avLst/>
          </a:prstGeom>
          <a:noFill/>
          <a:ln/>
        </p:spPr>
        <p:txBody>
          <a:bodyPr wrap="square" lIns="0" tIns="0" rIns="0" bIns="0" rtlCol="0" anchor="ctr"/>
          <a:lstStyle/>
          <a:p>
            <a:pPr marL="0" indent="0">
              <a:buNone/>
            </a:pPr>
            <a:r>
              <a:rPr lang="en-US" sz="1300" b="1" dirty="0">
                <a:solidFill>
                  <a:srgbClr val="028090"/>
                </a:solidFill>
                <a:latin typeface="Trebuchet MS" pitchFamily="34" charset="0"/>
                <a:ea typeface="Trebuchet MS" pitchFamily="34" charset="-122"/>
                <a:cs typeface="Trebuchet MS" pitchFamily="34" charset="-120"/>
              </a:rPr>
              <a:t>Traditional FA</a:t>
            </a:r>
            <a:endParaRPr lang="en-US" sz="1300" dirty="0"/>
          </a:p>
        </p:txBody>
      </p:sp>
      <p:sp>
        <p:nvSpPr>
          <p:cNvPr id="9" name="Text 6"/>
          <p:cNvSpPr/>
          <p:nvPr/>
        </p:nvSpPr>
        <p:spPr>
          <a:xfrm>
            <a:off x="777240" y="1737360"/>
            <a:ext cx="3474720" cy="1828800"/>
          </a:xfrm>
          <a:prstGeom prst="rect">
            <a:avLst/>
          </a:prstGeom>
          <a:noFill/>
          <a:ln/>
        </p:spPr>
        <p:txBody>
          <a:bodyPr wrap="square" lIns="0" tIns="0" rIns="0" bIns="0" rtlCol="0" anchor="ctr"/>
          <a:lstStyle/>
          <a:p>
            <a:pPr marL="0" indent="0">
              <a:buNone/>
            </a:pPr>
            <a:r>
              <a:rPr lang="en-US" sz="1100" dirty="0">
                <a:solidFill>
                  <a:srgbClr val="323F4B"/>
                </a:solidFill>
                <a:latin typeface="Calibri" pitchFamily="34" charset="0"/>
                <a:ea typeface="Calibri" pitchFamily="34" charset="-122"/>
                <a:cs typeface="Calibri" pitchFamily="34" charset="-120"/>
              </a:rPr>
              <a:t>Human responses → Correlation matrix → Factor analysis → Loadings</a:t>
            </a:r>
            <a:endParaRPr lang="en-US" sz="1100" dirty="0"/>
          </a:p>
          <a:p>
            <a:pPr marL="0" indent="0">
              <a:buNone/>
            </a:pPr>
            <a:endParaRPr lang="en-US" sz="1100" dirty="0"/>
          </a:p>
          <a:p>
            <a:pPr marL="0" indent="0">
              <a:buNone/>
            </a:pPr>
            <a:r>
              <a:rPr lang="en-US" sz="1100" dirty="0">
                <a:solidFill>
                  <a:srgbClr val="323F4B"/>
                </a:solidFill>
                <a:latin typeface="Calibri" pitchFamily="34" charset="0"/>
                <a:ea typeface="Calibri" pitchFamily="34" charset="-122"/>
                <a:cs typeface="Calibri" pitchFamily="34" charset="-120"/>
              </a:rPr>
              <a:t>Requires: 300–1000+ participants</a:t>
            </a:r>
            <a:endParaRPr lang="en-US" sz="1100" dirty="0"/>
          </a:p>
          <a:p>
            <a:pPr marL="0" indent="0">
              <a:buNone/>
            </a:pPr>
            <a:r>
              <a:rPr lang="en-US" sz="1100" dirty="0">
                <a:solidFill>
                  <a:srgbClr val="323F4B"/>
                </a:solidFill>
                <a:latin typeface="Calibri" pitchFamily="34" charset="0"/>
                <a:ea typeface="Calibri" pitchFamily="34" charset="-122"/>
                <a:cs typeface="Calibri" pitchFamily="34" charset="-120"/>
              </a:rPr>
              <a:t>Cost: $5,000–$50,000+</a:t>
            </a:r>
            <a:endParaRPr lang="en-US" sz="1100" dirty="0"/>
          </a:p>
          <a:p>
            <a:pPr marL="0" indent="0">
              <a:buNone/>
            </a:pPr>
            <a:r>
              <a:rPr lang="en-US" sz="1100" dirty="0">
                <a:solidFill>
                  <a:srgbClr val="323F4B"/>
                </a:solidFill>
                <a:latin typeface="Calibri" pitchFamily="34" charset="0"/>
                <a:ea typeface="Calibri" pitchFamily="34" charset="-122"/>
                <a:cs typeface="Calibri" pitchFamily="34" charset="-120"/>
              </a:rPr>
              <a:t>Time: Weeks to months</a:t>
            </a:r>
            <a:endParaRPr lang="en-US" sz="1100" dirty="0"/>
          </a:p>
        </p:txBody>
      </p:sp>
      <p:sp>
        <p:nvSpPr>
          <p:cNvPr id="10" name="Shape 7"/>
          <p:cNvSpPr/>
          <p:nvPr/>
        </p:nvSpPr>
        <p:spPr>
          <a:xfrm>
            <a:off x="4754880" y="1280160"/>
            <a:ext cx="3840480" cy="27432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1" name="Shape 8"/>
          <p:cNvSpPr/>
          <p:nvPr/>
        </p:nvSpPr>
        <p:spPr>
          <a:xfrm>
            <a:off x="4754880" y="1280160"/>
            <a:ext cx="54864" cy="2743200"/>
          </a:xfrm>
          <a:prstGeom prst="rect">
            <a:avLst/>
          </a:prstGeom>
          <a:solidFill>
            <a:srgbClr val="00A896"/>
          </a:solidFill>
          <a:ln/>
        </p:spPr>
        <p:txBody>
          <a:bodyPr/>
          <a:lstStyle/>
          <a:p>
            <a:endParaRPr lang="en-US"/>
          </a:p>
        </p:txBody>
      </p:sp>
      <p:sp>
        <p:nvSpPr>
          <p:cNvPr id="12" name="Text 9"/>
          <p:cNvSpPr/>
          <p:nvPr/>
        </p:nvSpPr>
        <p:spPr>
          <a:xfrm>
            <a:off x="4983480" y="1371600"/>
            <a:ext cx="3474720" cy="274320"/>
          </a:xfrm>
          <a:prstGeom prst="rect">
            <a:avLst/>
          </a:prstGeom>
          <a:noFill/>
          <a:ln/>
        </p:spPr>
        <p:txBody>
          <a:bodyPr wrap="square" lIns="0" tIns="0" rIns="0" bIns="0" rtlCol="0" anchor="ctr"/>
          <a:lstStyle/>
          <a:p>
            <a:pPr marL="0" indent="0">
              <a:buNone/>
            </a:pPr>
            <a:r>
              <a:rPr lang="en-US" sz="1300" b="1" dirty="0">
                <a:solidFill>
                  <a:srgbClr val="00A896"/>
                </a:solidFill>
                <a:latin typeface="Trebuchet MS" pitchFamily="34" charset="0"/>
                <a:ea typeface="Trebuchet MS" pitchFamily="34" charset="-122"/>
                <a:cs typeface="Trebuchet MS" pitchFamily="34" charset="-120"/>
              </a:rPr>
              <a:t>Pseudo-Factor Analysis</a:t>
            </a:r>
            <a:endParaRPr lang="en-US" sz="1300" dirty="0"/>
          </a:p>
        </p:txBody>
      </p:sp>
      <p:sp>
        <p:nvSpPr>
          <p:cNvPr id="13" name="Text 10"/>
          <p:cNvSpPr/>
          <p:nvPr/>
        </p:nvSpPr>
        <p:spPr>
          <a:xfrm>
            <a:off x="4983480" y="1737360"/>
            <a:ext cx="3474720" cy="1828800"/>
          </a:xfrm>
          <a:prstGeom prst="rect">
            <a:avLst/>
          </a:prstGeom>
          <a:noFill/>
          <a:ln/>
        </p:spPr>
        <p:txBody>
          <a:bodyPr wrap="square" lIns="0" tIns="0" rIns="0" bIns="0" rtlCol="0" anchor="ctr"/>
          <a:lstStyle/>
          <a:p>
            <a:pPr marL="0" indent="0">
              <a:buNone/>
            </a:pPr>
            <a:r>
              <a:rPr lang="en-US" sz="1100" dirty="0">
                <a:solidFill>
                  <a:srgbClr val="323F4B"/>
                </a:solidFill>
                <a:latin typeface="Calibri" pitchFamily="34" charset="0"/>
                <a:ea typeface="Calibri" pitchFamily="34" charset="-122"/>
                <a:cs typeface="Calibri" pitchFamily="34" charset="-120"/>
              </a:rPr>
              <a:t>Item embeddings → Cosine similarity matrix → Factor analysis → Loadings</a:t>
            </a:r>
            <a:endParaRPr lang="en-US" sz="1100" dirty="0"/>
          </a:p>
          <a:p>
            <a:pPr marL="0" indent="0">
              <a:buNone/>
            </a:pPr>
            <a:endParaRPr lang="en-US" sz="1100" dirty="0"/>
          </a:p>
          <a:p>
            <a:pPr marL="0" indent="0">
              <a:buNone/>
            </a:pPr>
            <a:r>
              <a:rPr lang="en-US" sz="1100" dirty="0">
                <a:solidFill>
                  <a:srgbClr val="323F4B"/>
                </a:solidFill>
                <a:latin typeface="Calibri" pitchFamily="34" charset="0"/>
                <a:ea typeface="Calibri" pitchFamily="34" charset="-122"/>
                <a:cs typeface="Calibri" pitchFamily="34" charset="-120"/>
              </a:rPr>
              <a:t>Requires: 0 participants</a:t>
            </a:r>
            <a:endParaRPr lang="en-US" sz="1100" dirty="0"/>
          </a:p>
          <a:p>
            <a:pPr marL="0" indent="0">
              <a:buNone/>
            </a:pPr>
            <a:r>
              <a:rPr lang="en-US" sz="1100" dirty="0">
                <a:solidFill>
                  <a:srgbClr val="323F4B"/>
                </a:solidFill>
                <a:latin typeface="Calibri" pitchFamily="34" charset="0"/>
                <a:ea typeface="Calibri" pitchFamily="34" charset="-122"/>
                <a:cs typeface="Calibri" pitchFamily="34" charset="-120"/>
              </a:rPr>
              <a:t>Cost: Compute only (~minutes)</a:t>
            </a:r>
            <a:endParaRPr lang="en-US" sz="1100" dirty="0"/>
          </a:p>
          <a:p>
            <a:pPr marL="0" indent="0">
              <a:buNone/>
            </a:pPr>
            <a:r>
              <a:rPr lang="en-US" sz="1100" dirty="0">
                <a:solidFill>
                  <a:srgbClr val="323F4B"/>
                </a:solidFill>
                <a:latin typeface="Calibri" pitchFamily="34" charset="0"/>
                <a:ea typeface="Calibri" pitchFamily="34" charset="-122"/>
                <a:cs typeface="Calibri" pitchFamily="34" charset="-120"/>
              </a:rPr>
              <a:t>Time: 15–40 minutes</a:t>
            </a:r>
            <a:endParaRPr lang="en-US" sz="1100" dirty="0"/>
          </a:p>
        </p:txBody>
      </p:sp>
      <p:sp>
        <p:nvSpPr>
          <p:cNvPr id="14" name="Text 11"/>
          <p:cNvSpPr/>
          <p:nvPr/>
        </p:nvSpPr>
        <p:spPr>
          <a:xfrm>
            <a:off x="548640" y="4297680"/>
            <a:ext cx="8046720" cy="365760"/>
          </a:xfrm>
          <a:prstGeom prst="rect">
            <a:avLst/>
          </a:prstGeom>
          <a:noFill/>
          <a:ln/>
        </p:spPr>
        <p:txBody>
          <a:bodyPr wrap="square" lIns="0" tIns="0" rIns="0" bIns="0" rtlCol="0" anchor="ctr"/>
          <a:lstStyle/>
          <a:p>
            <a:pPr marL="0" indent="0">
              <a:buNone/>
            </a:pPr>
            <a:r>
              <a:rPr lang="en-US" sz="1000" i="1" dirty="0">
                <a:solidFill>
                  <a:srgbClr val="7B8794"/>
                </a:solidFill>
                <a:latin typeface="Calibri" pitchFamily="34" charset="0"/>
                <a:ea typeface="Calibri" pitchFamily="34" charset="-122"/>
                <a:cs typeface="Calibri" pitchFamily="34" charset="-120"/>
              </a:rPr>
              <a:t>Fit metric: RMSR only — CFI/TLI/RMSEA not computed (require sample size)  •  Guenole et al. (2025); Suárez-Álvarez et al. (2026)</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0F4F8"/>
        </a:solidFill>
        <a:effectLst/>
      </p:bgPr>
    </p:bg>
    <p:spTree>
      <p:nvGrpSpPr>
        <p:cNvPr id="1" name=""/>
        <p:cNvGrpSpPr/>
        <p:nvPr/>
      </p:nvGrpSpPr>
      <p:grpSpPr>
        <a:xfrm>
          <a:off x="0" y="0"/>
          <a:ext cx="0" cy="0"/>
          <a:chOff x="0" y="0"/>
          <a:chExt cx="0" cy="0"/>
        </a:xfrm>
      </p:grpSpPr>
      <p:sp>
        <p:nvSpPr>
          <p:cNvPr id="3" name="Text 0"/>
          <p:cNvSpPr/>
          <p:nvPr/>
        </p:nvSpPr>
        <p:spPr>
          <a:xfrm>
            <a:off x="548640" y="274320"/>
            <a:ext cx="8046720" cy="594360"/>
          </a:xfrm>
          <a:prstGeom prst="rect">
            <a:avLst/>
          </a:prstGeom>
          <a:noFill/>
          <a:ln/>
        </p:spPr>
        <p:txBody>
          <a:bodyPr wrap="square" lIns="0" tIns="0" rIns="0" bIns="0" rtlCol="0" anchor="ctr"/>
          <a:lstStyle/>
          <a:p>
            <a:pPr marL="0" indent="0">
              <a:buNone/>
            </a:pPr>
            <a:r>
              <a:rPr lang="en-US" sz="2400" b="1" dirty="0">
                <a:solidFill>
                  <a:srgbClr val="323F4B"/>
                </a:solidFill>
                <a:latin typeface="Trebuchet MS" pitchFamily="34" charset="0"/>
                <a:ea typeface="Trebuchet MS" pitchFamily="34" charset="-122"/>
                <a:cs typeface="Trebuchet MS" pitchFamily="34" charset="-120"/>
              </a:rPr>
              <a:t>DAAL Factor Identity &amp; Discriminant Validity</a:t>
            </a:r>
            <a:endParaRPr lang="en-US" sz="2400" dirty="0"/>
          </a:p>
        </p:txBody>
      </p:sp>
      <p:sp>
        <p:nvSpPr>
          <p:cNvPr id="4" name="Text 1"/>
          <p:cNvSpPr/>
          <p:nvPr/>
        </p:nvSpPr>
        <p:spPr>
          <a:xfrm>
            <a:off x="548640" y="822960"/>
            <a:ext cx="8046720" cy="32004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Tariq Shaban</a:t>
            </a:r>
            <a:endParaRPr lang="en-US" sz="1100" dirty="0"/>
          </a:p>
        </p:txBody>
      </p:sp>
      <p:sp>
        <p:nvSpPr>
          <p:cNvPr id="5" name="Shape 2"/>
          <p:cNvSpPr/>
          <p:nvPr/>
        </p:nvSpPr>
        <p:spPr>
          <a:xfrm>
            <a:off x="0" y="0"/>
            <a:ext cx="9144000" cy="73152"/>
          </a:xfrm>
          <a:prstGeom prst="rect">
            <a:avLst/>
          </a:prstGeom>
          <a:solidFill>
            <a:srgbClr val="028090"/>
          </a:solidFill>
          <a:ln/>
        </p:spPr>
        <p:txBody>
          <a:bodyPr/>
          <a:lstStyle/>
          <a:p>
            <a:endParaRPr lang="en-US"/>
          </a:p>
        </p:txBody>
      </p:sp>
      <p:sp>
        <p:nvSpPr>
          <p:cNvPr id="6" name="Shape 3"/>
          <p:cNvSpPr/>
          <p:nvPr/>
        </p:nvSpPr>
        <p:spPr>
          <a:xfrm>
            <a:off x="548640" y="1280160"/>
            <a:ext cx="3840480" cy="2286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7" name="Shape 4"/>
          <p:cNvSpPr/>
          <p:nvPr/>
        </p:nvSpPr>
        <p:spPr>
          <a:xfrm>
            <a:off x="548640" y="1280160"/>
            <a:ext cx="54864" cy="2286000"/>
          </a:xfrm>
          <a:prstGeom prst="rect">
            <a:avLst/>
          </a:prstGeom>
          <a:solidFill>
            <a:srgbClr val="028090"/>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731520" y="1463040"/>
            <a:ext cx="320040" cy="320040"/>
          </a:xfrm>
          <a:prstGeom prst="rect">
            <a:avLst/>
          </a:prstGeom>
        </p:spPr>
      </p:pic>
      <p:sp>
        <p:nvSpPr>
          <p:cNvPr id="9" name="Text 5"/>
          <p:cNvSpPr/>
          <p:nvPr/>
        </p:nvSpPr>
        <p:spPr>
          <a:xfrm>
            <a:off x="1188720" y="1417320"/>
            <a:ext cx="3017520" cy="320040"/>
          </a:xfrm>
          <a:prstGeom prst="rect">
            <a:avLst/>
          </a:prstGeom>
          <a:noFill/>
          <a:ln/>
        </p:spPr>
        <p:txBody>
          <a:bodyPr wrap="square" lIns="0" tIns="0" rIns="0" bIns="0" rtlCol="0" anchor="ctr"/>
          <a:lstStyle/>
          <a:p>
            <a:pPr marL="0" indent="0">
              <a:buNone/>
            </a:pPr>
            <a:r>
              <a:rPr lang="en-US" sz="1300" b="1" dirty="0">
                <a:solidFill>
                  <a:srgbClr val="323F4B"/>
                </a:solidFill>
                <a:latin typeface="Trebuchet MS" pitchFamily="34" charset="0"/>
                <a:ea typeface="Trebuchet MS" pitchFamily="34" charset="-122"/>
                <a:cs typeface="Trebuchet MS" pitchFamily="34" charset="-120"/>
              </a:rPr>
              <a:t>DAAL Factor Identity</a:t>
            </a:r>
            <a:endParaRPr lang="en-US" sz="1300" dirty="0"/>
          </a:p>
        </p:txBody>
      </p:sp>
      <p:sp>
        <p:nvSpPr>
          <p:cNvPr id="10" name="Text 6"/>
          <p:cNvSpPr/>
          <p:nvPr/>
        </p:nvSpPr>
        <p:spPr>
          <a:xfrm>
            <a:off x="777240" y="1783080"/>
            <a:ext cx="3383280" cy="1645920"/>
          </a:xfrm>
          <a:prstGeom prst="rect">
            <a:avLst/>
          </a:prstGeom>
          <a:noFill/>
          <a:ln/>
        </p:spPr>
        <p:txBody>
          <a:bodyPr wrap="square" lIns="0" tIns="0" rIns="0" bIns="0" rtlCol="0" anchor="t"/>
          <a:lstStyle/>
          <a:p>
            <a:pPr marL="0" indent="0">
              <a:buNone/>
            </a:pPr>
            <a:r>
              <a:rPr lang="en-US" sz="1100" dirty="0">
                <a:solidFill>
                  <a:srgbClr val="7B8794"/>
                </a:solidFill>
                <a:latin typeface="Calibri" pitchFamily="34" charset="0"/>
                <a:ea typeface="Calibri" pitchFamily="34" charset="-122"/>
                <a:cs typeface="Calibri" pitchFamily="34" charset="-120"/>
              </a:rPr>
              <a:t>For each extracted factor, compute mean</a:t>
            </a: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absolute loading per scale. Highest = label.</a:t>
            </a:r>
            <a:endParaRPr lang="en-US" sz="1100" dirty="0"/>
          </a:p>
          <a:p>
            <a:pPr marL="0" indent="0">
              <a:buNone/>
            </a:pP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Identity confirmed: scale's items load most</a:t>
            </a: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strongly on their own factor.</a:t>
            </a:r>
            <a:endParaRPr lang="en-US" sz="1100" dirty="0"/>
          </a:p>
          <a:p>
            <a:pPr marL="0" indent="0">
              <a:buNone/>
            </a:pP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Unassigned: two scales tie on same factor.</a:t>
            </a: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Flags for review — not hard pass/fail.</a:t>
            </a:r>
            <a:endParaRPr lang="en-US" sz="1100" dirty="0"/>
          </a:p>
        </p:txBody>
      </p:sp>
      <p:sp>
        <p:nvSpPr>
          <p:cNvPr id="11" name="Shape 7"/>
          <p:cNvSpPr/>
          <p:nvPr/>
        </p:nvSpPr>
        <p:spPr>
          <a:xfrm>
            <a:off x="4754880" y="1280160"/>
            <a:ext cx="3840480" cy="2286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2" name="Shape 8"/>
          <p:cNvSpPr/>
          <p:nvPr/>
        </p:nvSpPr>
        <p:spPr>
          <a:xfrm>
            <a:off x="4754880" y="1280160"/>
            <a:ext cx="54864" cy="2286000"/>
          </a:xfrm>
          <a:prstGeom prst="rect">
            <a:avLst/>
          </a:prstGeom>
          <a:solidFill>
            <a:srgbClr val="028090"/>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937760" y="1463040"/>
            <a:ext cx="320040" cy="320040"/>
          </a:xfrm>
          <a:prstGeom prst="rect">
            <a:avLst/>
          </a:prstGeom>
        </p:spPr>
      </p:pic>
      <p:sp>
        <p:nvSpPr>
          <p:cNvPr id="14" name="Text 9"/>
          <p:cNvSpPr/>
          <p:nvPr/>
        </p:nvSpPr>
        <p:spPr>
          <a:xfrm>
            <a:off x="5394960" y="1417320"/>
            <a:ext cx="3017520" cy="320040"/>
          </a:xfrm>
          <a:prstGeom prst="rect">
            <a:avLst/>
          </a:prstGeom>
          <a:noFill/>
          <a:ln/>
        </p:spPr>
        <p:txBody>
          <a:bodyPr wrap="square" lIns="0" tIns="0" rIns="0" bIns="0" rtlCol="0" anchor="ctr"/>
          <a:lstStyle/>
          <a:p>
            <a:pPr marL="0" indent="0">
              <a:buNone/>
            </a:pPr>
            <a:r>
              <a:rPr lang="en-US" sz="1300" b="1" dirty="0">
                <a:solidFill>
                  <a:srgbClr val="323F4B"/>
                </a:solidFill>
                <a:latin typeface="Trebuchet MS" pitchFamily="34" charset="0"/>
                <a:ea typeface="Trebuchet MS" pitchFamily="34" charset="-122"/>
                <a:cs typeface="Trebuchet MS" pitchFamily="34" charset="-120"/>
              </a:rPr>
              <a:t>Discriminant Validity</a:t>
            </a:r>
            <a:endParaRPr lang="en-US" sz="1300" dirty="0"/>
          </a:p>
        </p:txBody>
      </p:sp>
      <p:sp>
        <p:nvSpPr>
          <p:cNvPr id="15" name="Text 10"/>
          <p:cNvSpPr/>
          <p:nvPr/>
        </p:nvSpPr>
        <p:spPr>
          <a:xfrm>
            <a:off x="4983480" y="1783080"/>
            <a:ext cx="3383280" cy="1645920"/>
          </a:xfrm>
          <a:prstGeom prst="rect">
            <a:avLst/>
          </a:prstGeom>
          <a:noFill/>
          <a:ln/>
        </p:spPr>
        <p:txBody>
          <a:bodyPr wrap="square" lIns="0" tIns="0" rIns="0" bIns="0" rtlCol="0" anchor="t"/>
          <a:lstStyle/>
          <a:p>
            <a:pPr marL="0" indent="0">
              <a:buNone/>
            </a:pPr>
            <a:r>
              <a:rPr lang="en-US" sz="1100" dirty="0">
                <a:solidFill>
                  <a:srgbClr val="7B8794"/>
                </a:solidFill>
                <a:latin typeface="Calibri" pitchFamily="34" charset="0"/>
                <a:ea typeface="Calibri" pitchFamily="34" charset="-122"/>
                <a:cs typeface="Calibri" pitchFamily="34" charset="-120"/>
              </a:rPr>
              <a:t>Target loading ÷ max cross-loading ≥ 1.5</a:t>
            </a:r>
            <a:endParaRPr lang="en-US" sz="1100" dirty="0"/>
          </a:p>
          <a:p>
            <a:pPr marL="0" indent="0">
              <a:buNone/>
            </a:pP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Absolute cross-loading ceiling: 0.45</a:t>
            </a: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(configurable, can be disabled)</a:t>
            </a:r>
            <a:endParaRPr lang="en-US" sz="1100" dirty="0"/>
          </a:p>
          <a:p>
            <a:pPr marL="0" indent="0">
              <a:buNone/>
            </a:pP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Items flagged for closest competing scale —</a:t>
            </a: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human reviewer decides final disposition.</a:t>
            </a:r>
            <a:endParaRPr lang="en-US" sz="1100" dirty="0"/>
          </a:p>
        </p:txBody>
      </p:sp>
      <p:sp>
        <p:nvSpPr>
          <p:cNvPr id="16" name="Text 11"/>
          <p:cNvSpPr/>
          <p:nvPr/>
        </p:nvSpPr>
        <p:spPr>
          <a:xfrm>
            <a:off x="548640" y="4114800"/>
            <a:ext cx="8046720" cy="274320"/>
          </a:xfrm>
          <a:prstGeom prst="rect">
            <a:avLst/>
          </a:prstGeom>
          <a:noFill/>
          <a:ln/>
        </p:spPr>
        <p:txBody>
          <a:bodyPr wrap="square" lIns="0" tIns="0" rIns="0" bIns="0" rtlCol="0" anchor="ctr"/>
          <a:lstStyle/>
          <a:p>
            <a:pPr marL="0" indent="0">
              <a:buNone/>
            </a:pPr>
            <a:r>
              <a:rPr lang="en-US" sz="1000" i="1" dirty="0">
                <a:solidFill>
                  <a:srgbClr val="7B8794"/>
                </a:solidFill>
                <a:latin typeface="Calibri" pitchFamily="34" charset="0"/>
                <a:ea typeface="Calibri" pitchFamily="34" charset="-122"/>
                <a:cs typeface="Calibri" pitchFamily="34" charset="-120"/>
              </a:rPr>
              <a:t>Guenole et al. (2025) — DAAL approach for factor labeling in joint multi-scale PFA</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0F4F8"/>
        </a:solidFill>
        <a:effectLst/>
      </p:bgPr>
    </p:bg>
    <p:spTree>
      <p:nvGrpSpPr>
        <p:cNvPr id="1" name=""/>
        <p:cNvGrpSpPr/>
        <p:nvPr/>
      </p:nvGrpSpPr>
      <p:grpSpPr>
        <a:xfrm>
          <a:off x="0" y="0"/>
          <a:ext cx="0" cy="0"/>
          <a:chOff x="0" y="0"/>
          <a:chExt cx="0" cy="0"/>
        </a:xfrm>
      </p:grpSpPr>
      <p:sp>
        <p:nvSpPr>
          <p:cNvPr id="3" name="Text 0"/>
          <p:cNvSpPr/>
          <p:nvPr/>
        </p:nvSpPr>
        <p:spPr>
          <a:xfrm>
            <a:off x="548640" y="274320"/>
            <a:ext cx="8046720" cy="594360"/>
          </a:xfrm>
          <a:prstGeom prst="rect">
            <a:avLst/>
          </a:prstGeom>
          <a:noFill/>
          <a:ln/>
        </p:spPr>
        <p:txBody>
          <a:bodyPr wrap="square" lIns="0" tIns="0" rIns="0" bIns="0" rtlCol="0" anchor="ctr"/>
          <a:lstStyle/>
          <a:p>
            <a:pPr marL="0" indent="0">
              <a:buNone/>
            </a:pPr>
            <a:r>
              <a:rPr lang="en-US" sz="2400" b="1" dirty="0">
                <a:solidFill>
                  <a:srgbClr val="323F4B"/>
                </a:solidFill>
                <a:latin typeface="Trebuchet MS" pitchFamily="34" charset="0"/>
                <a:ea typeface="Trebuchet MS" pitchFamily="34" charset="-122"/>
                <a:cs typeface="Trebuchet MS" pitchFamily="34" charset="-120"/>
              </a:rPr>
              <a:t>Negative Item Detection &amp; Reversal</a:t>
            </a:r>
            <a:endParaRPr lang="en-US" sz="2400" dirty="0"/>
          </a:p>
        </p:txBody>
      </p:sp>
      <p:sp>
        <p:nvSpPr>
          <p:cNvPr id="4" name="Text 1"/>
          <p:cNvSpPr/>
          <p:nvPr/>
        </p:nvSpPr>
        <p:spPr>
          <a:xfrm>
            <a:off x="548640" y="822960"/>
            <a:ext cx="8046720" cy="32004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Tariq Shaban</a:t>
            </a:r>
            <a:endParaRPr lang="en-US" sz="1100" dirty="0"/>
          </a:p>
        </p:txBody>
      </p:sp>
      <p:sp>
        <p:nvSpPr>
          <p:cNvPr id="5" name="Shape 2"/>
          <p:cNvSpPr/>
          <p:nvPr/>
        </p:nvSpPr>
        <p:spPr>
          <a:xfrm>
            <a:off x="0" y="0"/>
            <a:ext cx="9144000" cy="73152"/>
          </a:xfrm>
          <a:prstGeom prst="rect">
            <a:avLst/>
          </a:prstGeom>
          <a:solidFill>
            <a:srgbClr val="028090"/>
          </a:solidFill>
          <a:ln/>
        </p:spPr>
        <p:txBody>
          <a:bodyPr/>
          <a:lstStyle/>
          <a:p>
            <a:endParaRPr lang="en-US"/>
          </a:p>
        </p:txBody>
      </p:sp>
      <p:sp>
        <p:nvSpPr>
          <p:cNvPr id="6" name="Shape 3"/>
          <p:cNvSpPr/>
          <p:nvPr/>
        </p:nvSpPr>
        <p:spPr>
          <a:xfrm>
            <a:off x="548640" y="1280160"/>
            <a:ext cx="8046720" cy="1463040"/>
          </a:xfrm>
          <a:prstGeom prst="rect">
            <a:avLst/>
          </a:prstGeom>
          <a:solidFill>
            <a:srgbClr val="1B2838"/>
          </a:solidFill>
          <a:ln/>
        </p:spPr>
        <p:txBody>
          <a:bodyPr/>
          <a:lstStyle/>
          <a:p>
            <a:endParaRPr lang="en-US"/>
          </a:p>
        </p:txBody>
      </p:sp>
      <p:sp>
        <p:nvSpPr>
          <p:cNvPr id="7" name="Text 4"/>
          <p:cNvSpPr/>
          <p:nvPr/>
        </p:nvSpPr>
        <p:spPr>
          <a:xfrm>
            <a:off x="731520" y="1371600"/>
            <a:ext cx="7680960" cy="1280160"/>
          </a:xfrm>
          <a:prstGeom prst="rect">
            <a:avLst/>
          </a:prstGeom>
          <a:noFill/>
          <a:ln/>
        </p:spPr>
        <p:txBody>
          <a:bodyPr wrap="square" lIns="0" tIns="0" rIns="0" bIns="0" rtlCol="0" anchor="ctr"/>
          <a:lstStyle/>
          <a:p>
            <a:pPr marL="0" indent="0">
              <a:buNone/>
            </a:pPr>
            <a:r>
              <a:rPr lang="en-US" sz="1000" dirty="0">
                <a:solidFill>
                  <a:srgbClr val="02C39A"/>
                </a:solidFill>
                <a:latin typeface="Consolas" pitchFamily="34" charset="0"/>
                <a:ea typeface="Consolas" pitchFamily="34" charset="-122"/>
                <a:cs typeface="Consolas" pitchFamily="34" charset="-120"/>
              </a:rPr>
              <a:t># Stage 1: Regex heuristic</a:t>
            </a:r>
            <a:endParaRPr lang="en-US" sz="1000" dirty="0"/>
          </a:p>
          <a:p>
            <a:pPr marL="0" indent="0">
              <a:buNone/>
            </a:pPr>
            <a:r>
              <a:rPr lang="en-US" sz="1000" dirty="0">
                <a:solidFill>
                  <a:srgbClr val="02C39A"/>
                </a:solidFill>
                <a:latin typeface="Consolas" pitchFamily="34" charset="0"/>
                <a:ea typeface="Consolas" pitchFamily="34" charset="-122"/>
                <a:cs typeface="Consolas" pitchFamily="34" charset="-120"/>
              </a:rPr>
              <a:t>avoidance_patterns = [r'\b(avoid|never|rarely|seldom|struggle|fail|lack|...)\b']</a:t>
            </a:r>
            <a:endParaRPr lang="en-US" sz="1000" dirty="0"/>
          </a:p>
          <a:p>
            <a:pPr marL="0" indent="0">
              <a:buNone/>
            </a:pPr>
            <a:endParaRPr lang="en-US" sz="1000" dirty="0"/>
          </a:p>
          <a:p>
            <a:pPr marL="0" indent="0">
              <a:buNone/>
            </a:pPr>
            <a:r>
              <a:rPr lang="en-US" sz="1000" dirty="0">
                <a:solidFill>
                  <a:srgbClr val="02C39A"/>
                </a:solidFill>
                <a:latin typeface="Consolas" pitchFamily="34" charset="0"/>
                <a:ea typeface="Consolas" pitchFamily="34" charset="-122"/>
                <a:cs typeface="Consolas" pitchFamily="34" charset="-120"/>
              </a:rPr>
              <a:t># Stage 2: LLM call for borderline cases</a:t>
            </a:r>
            <a:endParaRPr lang="en-US" sz="1000" dirty="0"/>
          </a:p>
          <a:p>
            <a:pPr marL="0" indent="0">
              <a:buNone/>
            </a:pPr>
            <a:r>
              <a:rPr lang="en-US" sz="1000" dirty="0">
                <a:solidFill>
                  <a:srgbClr val="02C39A"/>
                </a:solidFill>
                <a:latin typeface="Consolas" pitchFamily="34" charset="0"/>
                <a:ea typeface="Consolas" pitchFamily="34" charset="-122"/>
                <a:cs typeface="Consolas" pitchFamily="34" charset="-120"/>
              </a:rPr>
              <a:t>"Is this item semantically LOW-POLE? If YES: rewrite as HIGH-POLE for embedding only."</a:t>
            </a:r>
            <a:endParaRPr lang="en-US" sz="1000" dirty="0"/>
          </a:p>
          <a:p>
            <a:pPr marL="0" indent="0">
              <a:buNone/>
            </a:pPr>
            <a:endParaRPr lang="en-US" sz="1000" dirty="0"/>
          </a:p>
          <a:p>
            <a:pPr marL="0" indent="0">
              <a:buNone/>
            </a:pPr>
            <a:r>
              <a:rPr lang="en-US" sz="1000" dirty="0">
                <a:solidFill>
                  <a:srgbClr val="02C39A"/>
                </a:solidFill>
                <a:latin typeface="Consolas" pitchFamily="34" charset="0"/>
                <a:ea typeface="Consolas" pitchFamily="34" charset="-122"/>
                <a:cs typeface="Consolas" pitchFamily="34" charset="-120"/>
              </a:rPr>
              <a:t># Original item_text always preserved — reversal is for embedding only</a:t>
            </a:r>
            <a:endParaRPr lang="en-US" sz="1000" dirty="0"/>
          </a:p>
        </p:txBody>
      </p:sp>
      <p:sp>
        <p:nvSpPr>
          <p:cNvPr id="8" name="Text 5"/>
          <p:cNvSpPr/>
          <p:nvPr/>
        </p:nvSpPr>
        <p:spPr>
          <a:xfrm>
            <a:off x="548640" y="3017520"/>
            <a:ext cx="8046720" cy="457200"/>
          </a:xfrm>
          <a:prstGeom prst="rect">
            <a:avLst/>
          </a:prstGeom>
          <a:noFill/>
          <a:ln/>
        </p:spPr>
        <p:txBody>
          <a:bodyPr wrap="square" lIns="0" tIns="0" rIns="0" bIns="0" rtlCol="0" anchor="ctr"/>
          <a:lstStyle/>
          <a:p>
            <a:pPr marL="0" indent="0">
              <a:buNone/>
            </a:pPr>
            <a:r>
              <a:rPr lang="en-US" sz="1300" dirty="0">
                <a:solidFill>
                  <a:srgbClr val="323F4B"/>
                </a:solidFill>
                <a:latin typeface="Calibri" pitchFamily="34" charset="0"/>
                <a:ea typeface="Calibri" pitchFamily="34" charset="-122"/>
                <a:cs typeface="Calibri" pitchFamily="34" charset="-120"/>
              </a:rPr>
              <a:t>Example: "I avoid planning ahead" → embedded as "I plan ahead regularly" — but item_text stays unchanged.</a:t>
            </a:r>
            <a:endParaRPr lang="en-US" sz="1300" dirty="0"/>
          </a:p>
        </p:txBody>
      </p:sp>
      <p:sp>
        <p:nvSpPr>
          <p:cNvPr id="9" name="Text 6"/>
          <p:cNvSpPr/>
          <p:nvPr/>
        </p:nvSpPr>
        <p:spPr>
          <a:xfrm>
            <a:off x="548640" y="3566160"/>
            <a:ext cx="8046720" cy="274320"/>
          </a:xfrm>
          <a:prstGeom prst="rect">
            <a:avLst/>
          </a:prstGeom>
          <a:noFill/>
          <a:ln/>
        </p:spPr>
        <p:txBody>
          <a:bodyPr wrap="square" lIns="0" tIns="0" rIns="0" bIns="0" rtlCol="0" anchor="ctr"/>
          <a:lstStyle/>
          <a:p>
            <a:pPr marL="0" indent="0">
              <a:buNone/>
            </a:pPr>
            <a:r>
              <a:rPr lang="en-US" sz="1000" i="1" dirty="0">
                <a:solidFill>
                  <a:srgbClr val="7B8794"/>
                </a:solidFill>
                <a:latin typeface="Calibri" pitchFamily="34" charset="0"/>
                <a:ea typeface="Calibri" pitchFamily="34" charset="-122"/>
                <a:cs typeface="Calibri" pitchFamily="34" charset="-120"/>
              </a:rPr>
              <a:t>Follows the atomic-reversed encoding logic evaluated in Guenole et al. (2025)</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0F4F8"/>
        </a:solidFill>
        <a:effectLst/>
      </p:bgPr>
    </p:bg>
    <p:spTree>
      <p:nvGrpSpPr>
        <p:cNvPr id="1" name=""/>
        <p:cNvGrpSpPr/>
        <p:nvPr/>
      </p:nvGrpSpPr>
      <p:grpSpPr>
        <a:xfrm>
          <a:off x="0" y="0"/>
          <a:ext cx="0" cy="0"/>
          <a:chOff x="0" y="0"/>
          <a:chExt cx="0" cy="0"/>
        </a:xfrm>
      </p:grpSpPr>
      <p:sp>
        <p:nvSpPr>
          <p:cNvPr id="3" name="Text 0"/>
          <p:cNvSpPr/>
          <p:nvPr/>
        </p:nvSpPr>
        <p:spPr>
          <a:xfrm>
            <a:off x="548640" y="274320"/>
            <a:ext cx="8046720" cy="594360"/>
          </a:xfrm>
          <a:prstGeom prst="rect">
            <a:avLst/>
          </a:prstGeom>
          <a:noFill/>
          <a:ln/>
        </p:spPr>
        <p:txBody>
          <a:bodyPr wrap="square" lIns="0" tIns="0" rIns="0" bIns="0" rtlCol="0" anchor="ctr"/>
          <a:lstStyle/>
          <a:p>
            <a:pPr marL="0" indent="0">
              <a:buNone/>
            </a:pPr>
            <a:r>
              <a:rPr lang="en-US" sz="2400" b="1" dirty="0">
                <a:solidFill>
                  <a:srgbClr val="323F4B"/>
                </a:solidFill>
                <a:latin typeface="Trebuchet MS" pitchFamily="34" charset="0"/>
                <a:ea typeface="Trebuchet MS" pitchFamily="34" charset="-122"/>
                <a:cs typeface="Trebuchet MS" pitchFamily="34" charset="-120"/>
              </a:rPr>
              <a:t>The Final Review Package</a:t>
            </a:r>
            <a:endParaRPr lang="en-US" sz="2400" dirty="0"/>
          </a:p>
        </p:txBody>
      </p:sp>
      <p:sp>
        <p:nvSpPr>
          <p:cNvPr id="4" name="Text 1"/>
          <p:cNvSpPr/>
          <p:nvPr/>
        </p:nvSpPr>
        <p:spPr>
          <a:xfrm>
            <a:off x="548640" y="822960"/>
            <a:ext cx="8046720" cy="32004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Tariq Shaban</a:t>
            </a:r>
            <a:endParaRPr lang="en-US" sz="1100" dirty="0"/>
          </a:p>
        </p:txBody>
      </p:sp>
      <p:sp>
        <p:nvSpPr>
          <p:cNvPr id="5" name="Shape 2"/>
          <p:cNvSpPr/>
          <p:nvPr/>
        </p:nvSpPr>
        <p:spPr>
          <a:xfrm>
            <a:off x="0" y="0"/>
            <a:ext cx="9144000" cy="73152"/>
          </a:xfrm>
          <a:prstGeom prst="rect">
            <a:avLst/>
          </a:prstGeom>
          <a:solidFill>
            <a:srgbClr val="028090"/>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548640" y="1307592"/>
            <a:ext cx="320040" cy="320040"/>
          </a:xfrm>
          <a:prstGeom prst="rect">
            <a:avLst/>
          </a:prstGeom>
        </p:spPr>
      </p:pic>
      <p:sp>
        <p:nvSpPr>
          <p:cNvPr id="7" name="Text 3"/>
          <p:cNvSpPr/>
          <p:nvPr/>
        </p:nvSpPr>
        <p:spPr>
          <a:xfrm>
            <a:off x="1005840" y="1234440"/>
            <a:ext cx="2286000" cy="457200"/>
          </a:xfrm>
          <a:prstGeom prst="rect">
            <a:avLst/>
          </a:prstGeom>
          <a:noFill/>
          <a:ln/>
        </p:spPr>
        <p:txBody>
          <a:bodyPr wrap="square" lIns="0" tIns="0" rIns="0" bIns="0" rtlCol="0" anchor="ctr"/>
          <a:lstStyle/>
          <a:p>
            <a:pPr marL="0" indent="0">
              <a:buNone/>
            </a:pPr>
            <a:r>
              <a:rPr lang="en-US" sz="1300" b="1" dirty="0">
                <a:solidFill>
                  <a:srgbClr val="323F4B"/>
                </a:solidFill>
                <a:latin typeface="Consolas" pitchFamily="34" charset="0"/>
                <a:ea typeface="Consolas" pitchFamily="34" charset="-122"/>
                <a:cs typeface="Consolas" pitchFamily="34" charset="-120"/>
              </a:rPr>
              <a:t>Review_Pool</a:t>
            </a:r>
            <a:endParaRPr lang="en-US" sz="1300" dirty="0"/>
          </a:p>
        </p:txBody>
      </p:sp>
      <p:sp>
        <p:nvSpPr>
          <p:cNvPr id="8" name="Text 4"/>
          <p:cNvSpPr/>
          <p:nvPr/>
        </p:nvSpPr>
        <p:spPr>
          <a:xfrm>
            <a:off x="3383280" y="1234440"/>
            <a:ext cx="5212080" cy="457200"/>
          </a:xfrm>
          <a:prstGeom prst="rect">
            <a:avLst/>
          </a:prstGeom>
          <a:noFill/>
          <a:ln/>
        </p:spPr>
        <p:txBody>
          <a:bodyPr wrap="square" lIns="0" tIns="0" rIns="0" bIns="0" rtlCol="0" anchor="ctr"/>
          <a:lstStyle/>
          <a:p>
            <a:pPr marL="0" indent="0">
              <a:buNone/>
            </a:pPr>
            <a:r>
              <a:rPr lang="en-US" sz="1100" dirty="0">
                <a:solidFill>
                  <a:srgbClr val="7B8794"/>
                </a:solidFill>
                <a:latin typeface="Calibri" pitchFamily="34" charset="0"/>
                <a:ea typeface="Calibri" pitchFamily="34" charset="-122"/>
                <a:cs typeface="Calibri" pitchFamily="34" charset="-120"/>
              </a:rPr>
              <a:t>All passing items with full quality metadata + blank columns for reviewer decisions</a:t>
            </a:r>
            <a:endParaRPr lang="en-US" sz="1100" dirty="0"/>
          </a:p>
        </p:txBody>
      </p:sp>
      <p:pic>
        <p:nvPicPr>
          <p:cNvPr id="9" name="Image 1" descr="preencoded.png"/>
          <p:cNvPicPr>
            <a:picLocks noChangeAspect="1"/>
          </p:cNvPicPr>
          <p:nvPr/>
        </p:nvPicPr>
        <p:blipFill>
          <a:blip r:embed="rId4"/>
          <a:stretch>
            <a:fillRect/>
          </a:stretch>
        </p:blipFill>
        <p:spPr>
          <a:xfrm>
            <a:off x="548640" y="1965960"/>
            <a:ext cx="320040" cy="320040"/>
          </a:xfrm>
          <a:prstGeom prst="rect">
            <a:avLst/>
          </a:prstGeom>
        </p:spPr>
      </p:pic>
      <p:sp>
        <p:nvSpPr>
          <p:cNvPr id="10" name="Text 5"/>
          <p:cNvSpPr/>
          <p:nvPr/>
        </p:nvSpPr>
        <p:spPr>
          <a:xfrm>
            <a:off x="1005840" y="1892808"/>
            <a:ext cx="2286000" cy="457200"/>
          </a:xfrm>
          <a:prstGeom prst="rect">
            <a:avLst/>
          </a:prstGeom>
          <a:noFill/>
          <a:ln/>
        </p:spPr>
        <p:txBody>
          <a:bodyPr wrap="square" lIns="0" tIns="0" rIns="0" bIns="0" rtlCol="0" anchor="ctr"/>
          <a:lstStyle/>
          <a:p>
            <a:pPr marL="0" indent="0">
              <a:buNone/>
            </a:pPr>
            <a:r>
              <a:rPr lang="en-US" sz="1300" b="1" dirty="0">
                <a:solidFill>
                  <a:srgbClr val="323F4B"/>
                </a:solidFill>
                <a:latin typeface="Consolas" pitchFamily="34" charset="0"/>
                <a:ea typeface="Consolas" pitchFamily="34" charset="-122"/>
                <a:cs typeface="Consolas" pitchFamily="34" charset="-120"/>
              </a:rPr>
              <a:t>Quality_Flags</a:t>
            </a:r>
            <a:endParaRPr lang="en-US" sz="1300" dirty="0"/>
          </a:p>
        </p:txBody>
      </p:sp>
      <p:sp>
        <p:nvSpPr>
          <p:cNvPr id="11" name="Text 6"/>
          <p:cNvSpPr/>
          <p:nvPr/>
        </p:nvSpPr>
        <p:spPr>
          <a:xfrm>
            <a:off x="3383280" y="1892808"/>
            <a:ext cx="5212080" cy="457200"/>
          </a:xfrm>
          <a:prstGeom prst="rect">
            <a:avLst/>
          </a:prstGeom>
          <a:noFill/>
          <a:ln/>
        </p:spPr>
        <p:txBody>
          <a:bodyPr wrap="square" lIns="0" tIns="0" rIns="0" bIns="0" rtlCol="0" anchor="ctr"/>
          <a:lstStyle/>
          <a:p>
            <a:pPr marL="0" indent="0">
              <a:buNone/>
            </a:pPr>
            <a:r>
              <a:rPr lang="en-US" sz="1100" dirty="0">
                <a:solidFill>
                  <a:srgbClr val="7B8794"/>
                </a:solidFill>
                <a:latin typeface="Calibri" pitchFamily="34" charset="0"/>
                <a:ea typeface="Calibri" pitchFamily="34" charset="-122"/>
                <a:cs typeface="Calibri" pitchFamily="34" charset="-120"/>
              </a:rPr>
              <a:t>Every item with ≥ 1 automated concern — prioritize review here</a:t>
            </a:r>
            <a:endParaRPr lang="en-US" sz="1100" dirty="0"/>
          </a:p>
        </p:txBody>
      </p:sp>
      <p:pic>
        <p:nvPicPr>
          <p:cNvPr id="12" name="Image 2" descr="preencoded.png"/>
          <p:cNvPicPr>
            <a:picLocks noChangeAspect="1"/>
          </p:cNvPicPr>
          <p:nvPr/>
        </p:nvPicPr>
        <p:blipFill>
          <a:blip r:embed="rId5"/>
          <a:stretch>
            <a:fillRect/>
          </a:stretch>
        </p:blipFill>
        <p:spPr>
          <a:xfrm>
            <a:off x="548640" y="2624328"/>
            <a:ext cx="320040" cy="320040"/>
          </a:xfrm>
          <a:prstGeom prst="rect">
            <a:avLst/>
          </a:prstGeom>
        </p:spPr>
      </p:pic>
      <p:sp>
        <p:nvSpPr>
          <p:cNvPr id="13" name="Text 7"/>
          <p:cNvSpPr/>
          <p:nvPr/>
        </p:nvSpPr>
        <p:spPr>
          <a:xfrm>
            <a:off x="1005840" y="2551176"/>
            <a:ext cx="2286000" cy="457200"/>
          </a:xfrm>
          <a:prstGeom prst="rect">
            <a:avLst/>
          </a:prstGeom>
          <a:noFill/>
          <a:ln/>
        </p:spPr>
        <p:txBody>
          <a:bodyPr wrap="square" lIns="0" tIns="0" rIns="0" bIns="0" rtlCol="0" anchor="ctr"/>
          <a:lstStyle/>
          <a:p>
            <a:pPr marL="0" indent="0">
              <a:buNone/>
            </a:pPr>
            <a:r>
              <a:rPr lang="en-US" sz="1300" b="1" dirty="0">
                <a:solidFill>
                  <a:srgbClr val="323F4B"/>
                </a:solidFill>
                <a:latin typeface="Consolas" pitchFamily="34" charset="0"/>
                <a:ea typeface="Consolas" pitchFamily="34" charset="-122"/>
                <a:cs typeface="Consolas" pitchFamily="34" charset="-120"/>
              </a:rPr>
              <a:t>Recommendations</a:t>
            </a:r>
            <a:endParaRPr lang="en-US" sz="1300" dirty="0"/>
          </a:p>
        </p:txBody>
      </p:sp>
      <p:sp>
        <p:nvSpPr>
          <p:cNvPr id="14" name="Text 8"/>
          <p:cNvSpPr/>
          <p:nvPr/>
        </p:nvSpPr>
        <p:spPr>
          <a:xfrm>
            <a:off x="3383280" y="2551176"/>
            <a:ext cx="5212080" cy="457200"/>
          </a:xfrm>
          <a:prstGeom prst="rect">
            <a:avLst/>
          </a:prstGeom>
          <a:noFill/>
          <a:ln/>
        </p:spPr>
        <p:txBody>
          <a:bodyPr wrap="square" lIns="0" tIns="0" rIns="0" bIns="0" rtlCol="0" anchor="ctr"/>
          <a:lstStyle/>
          <a:p>
            <a:pPr marL="0" indent="0">
              <a:buNone/>
            </a:pPr>
            <a:r>
              <a:rPr lang="en-US" sz="1100" dirty="0">
                <a:solidFill>
                  <a:srgbClr val="7B8794"/>
                </a:solidFill>
                <a:latin typeface="Calibri" pitchFamily="34" charset="0"/>
                <a:ea typeface="Calibri" pitchFamily="34" charset="-122"/>
                <a:cs typeface="Calibri" pitchFamily="34" charset="-120"/>
              </a:rPr>
              <a:t>Scale-level guidance: HIGH / MEDIUM priority flags</a:t>
            </a:r>
            <a:endParaRPr lang="en-US" sz="1100" dirty="0"/>
          </a:p>
        </p:txBody>
      </p:sp>
      <p:pic>
        <p:nvPicPr>
          <p:cNvPr id="15" name="Image 3" descr="preencoded.png"/>
          <p:cNvPicPr>
            <a:picLocks noChangeAspect="1"/>
          </p:cNvPicPr>
          <p:nvPr/>
        </p:nvPicPr>
        <p:blipFill>
          <a:blip r:embed="rId6"/>
          <a:stretch>
            <a:fillRect/>
          </a:stretch>
        </p:blipFill>
        <p:spPr>
          <a:xfrm>
            <a:off x="548640" y="3282696"/>
            <a:ext cx="320040" cy="320040"/>
          </a:xfrm>
          <a:prstGeom prst="rect">
            <a:avLst/>
          </a:prstGeom>
        </p:spPr>
      </p:pic>
      <p:sp>
        <p:nvSpPr>
          <p:cNvPr id="16" name="Text 9"/>
          <p:cNvSpPr/>
          <p:nvPr/>
        </p:nvSpPr>
        <p:spPr>
          <a:xfrm>
            <a:off x="1005840" y="3209544"/>
            <a:ext cx="2286000" cy="457200"/>
          </a:xfrm>
          <a:prstGeom prst="rect">
            <a:avLst/>
          </a:prstGeom>
          <a:noFill/>
          <a:ln/>
        </p:spPr>
        <p:txBody>
          <a:bodyPr wrap="square" lIns="0" tIns="0" rIns="0" bIns="0" rtlCol="0" anchor="ctr"/>
          <a:lstStyle/>
          <a:p>
            <a:pPr marL="0" indent="0">
              <a:buNone/>
            </a:pPr>
            <a:r>
              <a:rPr lang="en-US" sz="1300" b="1" dirty="0">
                <a:solidFill>
                  <a:srgbClr val="323F4B"/>
                </a:solidFill>
                <a:latin typeface="Consolas" pitchFamily="34" charset="0"/>
                <a:ea typeface="Consolas" pitchFamily="34" charset="-122"/>
                <a:cs typeface="Consolas" pitchFamily="34" charset="-120"/>
              </a:rPr>
              <a:t>Pool_Statistics</a:t>
            </a:r>
            <a:endParaRPr lang="en-US" sz="1300" dirty="0"/>
          </a:p>
        </p:txBody>
      </p:sp>
      <p:sp>
        <p:nvSpPr>
          <p:cNvPr id="17" name="Text 10"/>
          <p:cNvSpPr/>
          <p:nvPr/>
        </p:nvSpPr>
        <p:spPr>
          <a:xfrm>
            <a:off x="3383280" y="3209544"/>
            <a:ext cx="5212080" cy="457200"/>
          </a:xfrm>
          <a:prstGeom prst="rect">
            <a:avLst/>
          </a:prstGeom>
          <a:noFill/>
          <a:ln/>
        </p:spPr>
        <p:txBody>
          <a:bodyPr wrap="square" lIns="0" tIns="0" rIns="0" bIns="0" rtlCol="0" anchor="ctr"/>
          <a:lstStyle/>
          <a:p>
            <a:pPr marL="0" indent="0">
              <a:buNone/>
            </a:pPr>
            <a:r>
              <a:rPr lang="en-US" sz="1100" dirty="0">
                <a:solidFill>
                  <a:srgbClr val="7B8794"/>
                </a:solidFill>
                <a:latin typeface="Calibri" pitchFamily="34" charset="0"/>
                <a:ea typeface="Calibri" pitchFamily="34" charset="-122"/>
                <a:cs typeface="Calibri" pitchFamily="34" charset="-120"/>
              </a:rPr>
              <a:t>Per-scale aggregates: counts, loadings, bias flags, reversals</a:t>
            </a:r>
            <a:endParaRPr lang="en-US" sz="1100" dirty="0"/>
          </a:p>
        </p:txBody>
      </p:sp>
      <p:pic>
        <p:nvPicPr>
          <p:cNvPr id="18" name="Image 4" descr="preencoded.png"/>
          <p:cNvPicPr>
            <a:picLocks noChangeAspect="1"/>
          </p:cNvPicPr>
          <p:nvPr/>
        </p:nvPicPr>
        <p:blipFill>
          <a:blip r:embed="rId7"/>
          <a:stretch>
            <a:fillRect/>
          </a:stretch>
        </p:blipFill>
        <p:spPr>
          <a:xfrm>
            <a:off x="548640" y="3941064"/>
            <a:ext cx="320040" cy="320040"/>
          </a:xfrm>
          <a:prstGeom prst="rect">
            <a:avLst/>
          </a:prstGeom>
        </p:spPr>
      </p:pic>
      <p:sp>
        <p:nvSpPr>
          <p:cNvPr id="19" name="Text 11"/>
          <p:cNvSpPr/>
          <p:nvPr/>
        </p:nvSpPr>
        <p:spPr>
          <a:xfrm>
            <a:off x="1005840" y="3867912"/>
            <a:ext cx="2286000" cy="457200"/>
          </a:xfrm>
          <a:prstGeom prst="rect">
            <a:avLst/>
          </a:prstGeom>
          <a:noFill/>
          <a:ln/>
        </p:spPr>
        <p:txBody>
          <a:bodyPr wrap="square" lIns="0" tIns="0" rIns="0" bIns="0" rtlCol="0" anchor="ctr"/>
          <a:lstStyle/>
          <a:p>
            <a:pPr marL="0" indent="0">
              <a:buNone/>
            </a:pPr>
            <a:r>
              <a:rPr lang="en-US" sz="1300" b="1" dirty="0">
                <a:solidFill>
                  <a:srgbClr val="323F4B"/>
                </a:solidFill>
                <a:latin typeface="Consolas" pitchFamily="34" charset="0"/>
                <a:ea typeface="Consolas" pitchFamily="34" charset="-122"/>
                <a:cs typeface="Consolas" pitchFamily="34" charset="-120"/>
              </a:rPr>
              <a:t>Rejected_Items</a:t>
            </a:r>
            <a:endParaRPr lang="en-US" sz="1300" dirty="0"/>
          </a:p>
        </p:txBody>
      </p:sp>
      <p:sp>
        <p:nvSpPr>
          <p:cNvPr id="20" name="Text 12"/>
          <p:cNvSpPr/>
          <p:nvPr/>
        </p:nvSpPr>
        <p:spPr>
          <a:xfrm>
            <a:off x="3383280" y="3867912"/>
            <a:ext cx="5212080" cy="457200"/>
          </a:xfrm>
          <a:prstGeom prst="rect">
            <a:avLst/>
          </a:prstGeom>
          <a:noFill/>
          <a:ln/>
        </p:spPr>
        <p:txBody>
          <a:bodyPr wrap="square" lIns="0" tIns="0" rIns="0" bIns="0" rtlCol="0" anchor="ctr"/>
          <a:lstStyle/>
          <a:p>
            <a:pPr marL="0" indent="0">
              <a:buNone/>
            </a:pPr>
            <a:r>
              <a:rPr lang="en-US" sz="1100" dirty="0">
                <a:solidFill>
                  <a:srgbClr val="7B8794"/>
                </a:solidFill>
                <a:latin typeface="Calibri" pitchFamily="34" charset="0"/>
                <a:ea typeface="Calibri" pitchFamily="34" charset="-122"/>
                <a:cs typeface="Calibri" pitchFamily="34" charset="-120"/>
              </a:rPr>
              <a:t>All excluded items — preserved for audit transparency</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0F4F8"/>
        </a:solidFill>
        <a:effectLst/>
      </p:bgPr>
    </p:bg>
    <p:spTree>
      <p:nvGrpSpPr>
        <p:cNvPr id="1" name=""/>
        <p:cNvGrpSpPr/>
        <p:nvPr/>
      </p:nvGrpSpPr>
      <p:grpSpPr>
        <a:xfrm>
          <a:off x="0" y="0"/>
          <a:ext cx="0" cy="0"/>
          <a:chOff x="0" y="0"/>
          <a:chExt cx="0" cy="0"/>
        </a:xfrm>
      </p:grpSpPr>
      <p:sp>
        <p:nvSpPr>
          <p:cNvPr id="3" name="Text 0"/>
          <p:cNvSpPr/>
          <p:nvPr/>
        </p:nvSpPr>
        <p:spPr>
          <a:xfrm>
            <a:off x="548640" y="274320"/>
            <a:ext cx="8046720" cy="594360"/>
          </a:xfrm>
          <a:prstGeom prst="rect">
            <a:avLst/>
          </a:prstGeom>
          <a:noFill/>
          <a:ln/>
        </p:spPr>
        <p:txBody>
          <a:bodyPr wrap="square" lIns="0" tIns="0" rIns="0" bIns="0" rtlCol="0" anchor="ctr"/>
          <a:lstStyle/>
          <a:p>
            <a:pPr marL="0" indent="0">
              <a:buNone/>
            </a:pPr>
            <a:r>
              <a:rPr lang="en-US" sz="2400" b="1" dirty="0">
                <a:solidFill>
                  <a:srgbClr val="323F4B"/>
                </a:solidFill>
                <a:latin typeface="Trebuchet MS" pitchFamily="34" charset="0"/>
                <a:ea typeface="Trebuchet MS" pitchFamily="34" charset="-122"/>
                <a:cs typeface="Trebuchet MS" pitchFamily="34" charset="-120"/>
              </a:rPr>
              <a:t>Practical Setup &amp; Cost</a:t>
            </a:r>
            <a:endParaRPr lang="en-US" sz="2400" dirty="0"/>
          </a:p>
        </p:txBody>
      </p:sp>
      <p:sp>
        <p:nvSpPr>
          <p:cNvPr id="4" name="Text 1"/>
          <p:cNvSpPr/>
          <p:nvPr/>
        </p:nvSpPr>
        <p:spPr>
          <a:xfrm>
            <a:off x="548640" y="822960"/>
            <a:ext cx="8046720" cy="32004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Tariq Shaban</a:t>
            </a:r>
            <a:endParaRPr lang="en-US" sz="1100" dirty="0"/>
          </a:p>
        </p:txBody>
      </p:sp>
      <p:sp>
        <p:nvSpPr>
          <p:cNvPr id="5" name="Shape 2"/>
          <p:cNvSpPr/>
          <p:nvPr/>
        </p:nvSpPr>
        <p:spPr>
          <a:xfrm>
            <a:off x="0" y="0"/>
            <a:ext cx="9144000" cy="73152"/>
          </a:xfrm>
          <a:prstGeom prst="rect">
            <a:avLst/>
          </a:prstGeom>
          <a:solidFill>
            <a:srgbClr val="028090"/>
          </a:solidFill>
          <a:ln/>
        </p:spPr>
        <p:txBody>
          <a:bodyPr/>
          <a:lstStyle/>
          <a:p>
            <a:endParaRPr lang="en-US"/>
          </a:p>
        </p:txBody>
      </p:sp>
      <p:sp>
        <p:nvSpPr>
          <p:cNvPr id="6" name="Shape 3"/>
          <p:cNvSpPr/>
          <p:nvPr/>
        </p:nvSpPr>
        <p:spPr>
          <a:xfrm>
            <a:off x="548640" y="1280160"/>
            <a:ext cx="3840480" cy="13716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7" name="Shape 4"/>
          <p:cNvSpPr/>
          <p:nvPr/>
        </p:nvSpPr>
        <p:spPr>
          <a:xfrm>
            <a:off x="548640" y="1280160"/>
            <a:ext cx="54864" cy="1371600"/>
          </a:xfrm>
          <a:prstGeom prst="rect">
            <a:avLst/>
          </a:prstGeom>
          <a:solidFill>
            <a:srgbClr val="028090"/>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731520" y="1463040"/>
            <a:ext cx="320040" cy="320040"/>
          </a:xfrm>
          <a:prstGeom prst="rect">
            <a:avLst/>
          </a:prstGeom>
        </p:spPr>
      </p:pic>
      <p:sp>
        <p:nvSpPr>
          <p:cNvPr id="9" name="Text 5"/>
          <p:cNvSpPr/>
          <p:nvPr/>
        </p:nvSpPr>
        <p:spPr>
          <a:xfrm>
            <a:off x="1188720" y="1417320"/>
            <a:ext cx="3017520" cy="320040"/>
          </a:xfrm>
          <a:prstGeom prst="rect">
            <a:avLst/>
          </a:prstGeom>
          <a:noFill/>
          <a:ln/>
        </p:spPr>
        <p:txBody>
          <a:bodyPr wrap="square" lIns="0" tIns="0" rIns="0" bIns="0" rtlCol="0" anchor="ctr"/>
          <a:lstStyle/>
          <a:p>
            <a:pPr marL="0" indent="0">
              <a:buNone/>
            </a:pPr>
            <a:r>
              <a:rPr lang="en-US" sz="1300" b="1" dirty="0">
                <a:solidFill>
                  <a:srgbClr val="323F4B"/>
                </a:solidFill>
                <a:latin typeface="Trebuchet MS" pitchFamily="34" charset="0"/>
                <a:ea typeface="Trebuchet MS" pitchFamily="34" charset="-122"/>
                <a:cs typeface="Trebuchet MS" pitchFamily="34" charset="-120"/>
              </a:rPr>
              <a:t>What You Need</a:t>
            </a:r>
            <a:endParaRPr lang="en-US" sz="1300" dirty="0"/>
          </a:p>
        </p:txBody>
      </p:sp>
      <p:sp>
        <p:nvSpPr>
          <p:cNvPr id="10" name="Text 6"/>
          <p:cNvSpPr/>
          <p:nvPr/>
        </p:nvSpPr>
        <p:spPr>
          <a:xfrm>
            <a:off x="777240" y="1783080"/>
            <a:ext cx="3383280" cy="731520"/>
          </a:xfrm>
          <a:prstGeom prst="rect">
            <a:avLst/>
          </a:prstGeom>
          <a:noFill/>
          <a:ln/>
        </p:spPr>
        <p:txBody>
          <a:bodyPr wrap="square" lIns="0" tIns="0" rIns="0" bIns="0" rtlCol="0" anchor="t"/>
          <a:lstStyle/>
          <a:p>
            <a:pPr marL="0" indent="0">
              <a:buNone/>
            </a:pPr>
            <a:r>
              <a:rPr lang="en-US" sz="1100" dirty="0">
                <a:solidFill>
                  <a:srgbClr val="7B8794"/>
                </a:solidFill>
                <a:latin typeface="Calibri" pitchFamily="34" charset="0"/>
                <a:ea typeface="Calibri" pitchFamily="34" charset="-122"/>
                <a:cs typeface="Calibri" pitchFamily="34" charset="-120"/>
              </a:rPr>
              <a:t>Python 3.11+ (Anaconda)</a:t>
            </a: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OpenRouter API key (multi-model access)</a:t>
            </a: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GPU optional (faster Phase 5)</a:t>
            </a:r>
            <a:endParaRPr lang="en-US" sz="1100" dirty="0"/>
          </a:p>
        </p:txBody>
      </p:sp>
      <p:sp>
        <p:nvSpPr>
          <p:cNvPr id="11" name="Shape 7"/>
          <p:cNvSpPr/>
          <p:nvPr/>
        </p:nvSpPr>
        <p:spPr>
          <a:xfrm>
            <a:off x="4754880" y="1280160"/>
            <a:ext cx="3840480" cy="13716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2" name="Shape 8"/>
          <p:cNvSpPr/>
          <p:nvPr/>
        </p:nvSpPr>
        <p:spPr>
          <a:xfrm>
            <a:off x="4754880" y="1280160"/>
            <a:ext cx="54864" cy="1371600"/>
          </a:xfrm>
          <a:prstGeom prst="rect">
            <a:avLst/>
          </a:prstGeom>
          <a:solidFill>
            <a:srgbClr val="028090"/>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937760" y="1463040"/>
            <a:ext cx="320040" cy="320040"/>
          </a:xfrm>
          <a:prstGeom prst="rect">
            <a:avLst/>
          </a:prstGeom>
        </p:spPr>
      </p:pic>
      <p:sp>
        <p:nvSpPr>
          <p:cNvPr id="14" name="Text 9"/>
          <p:cNvSpPr/>
          <p:nvPr/>
        </p:nvSpPr>
        <p:spPr>
          <a:xfrm>
            <a:off x="5394960" y="1417320"/>
            <a:ext cx="3017520" cy="320040"/>
          </a:xfrm>
          <a:prstGeom prst="rect">
            <a:avLst/>
          </a:prstGeom>
          <a:noFill/>
          <a:ln/>
        </p:spPr>
        <p:txBody>
          <a:bodyPr wrap="square" lIns="0" tIns="0" rIns="0" bIns="0" rtlCol="0" anchor="ctr"/>
          <a:lstStyle/>
          <a:p>
            <a:pPr marL="0" indent="0">
              <a:buNone/>
            </a:pPr>
            <a:r>
              <a:rPr lang="en-US" sz="1300" b="1" dirty="0">
                <a:solidFill>
                  <a:srgbClr val="323F4B"/>
                </a:solidFill>
                <a:latin typeface="Trebuchet MS" pitchFamily="34" charset="0"/>
                <a:ea typeface="Trebuchet MS" pitchFamily="34" charset="-122"/>
                <a:cs typeface="Trebuchet MS" pitchFamily="34" charset="-120"/>
              </a:rPr>
              <a:t>Cost &amp; Speed</a:t>
            </a:r>
            <a:endParaRPr lang="en-US" sz="1300" dirty="0"/>
          </a:p>
        </p:txBody>
      </p:sp>
      <p:sp>
        <p:nvSpPr>
          <p:cNvPr id="15" name="Text 10"/>
          <p:cNvSpPr/>
          <p:nvPr/>
        </p:nvSpPr>
        <p:spPr>
          <a:xfrm>
            <a:off x="4983480" y="1783080"/>
            <a:ext cx="3383280" cy="731520"/>
          </a:xfrm>
          <a:prstGeom prst="rect">
            <a:avLst/>
          </a:prstGeom>
          <a:noFill/>
          <a:ln/>
        </p:spPr>
        <p:txBody>
          <a:bodyPr wrap="square" lIns="0" tIns="0" rIns="0" bIns="0" rtlCol="0" anchor="t"/>
          <a:lstStyle/>
          <a:p>
            <a:pPr marL="0" indent="0">
              <a:buNone/>
            </a:pPr>
            <a:r>
              <a:rPr lang="en-US" sz="1100" dirty="0">
                <a:solidFill>
                  <a:srgbClr val="7B8794"/>
                </a:solidFill>
                <a:latin typeface="Calibri" pitchFamily="34" charset="0"/>
                <a:ea typeface="Calibri" pitchFamily="34" charset="-122"/>
                <a:cs typeface="Calibri" pitchFamily="34" charset="-120"/>
              </a:rPr>
              <a:t>~$2–4 per full HEXACO run (6 scales)</a:t>
            </a: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~2–3 hours end-to-end with GPU</a:t>
            </a: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All phases can be re-run independently</a:t>
            </a:r>
            <a:endParaRPr lang="en-US" sz="1100" dirty="0"/>
          </a:p>
        </p:txBody>
      </p:sp>
      <p:sp>
        <p:nvSpPr>
          <p:cNvPr id="16" name="Shape 11"/>
          <p:cNvSpPr/>
          <p:nvPr/>
        </p:nvSpPr>
        <p:spPr>
          <a:xfrm>
            <a:off x="548640" y="2926080"/>
            <a:ext cx="8046720" cy="1828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7" name="Text 12"/>
          <p:cNvSpPr/>
          <p:nvPr/>
        </p:nvSpPr>
        <p:spPr>
          <a:xfrm>
            <a:off x="548640" y="2926080"/>
            <a:ext cx="8046720" cy="1828800"/>
          </a:xfrm>
          <a:prstGeom prst="rect">
            <a:avLst/>
          </a:prstGeom>
          <a:noFill/>
          <a:ln/>
        </p:spPr>
        <p:txBody>
          <a:bodyPr wrap="square" rtlCol="0" anchor="ctr"/>
          <a:lstStyle/>
          <a:p>
            <a:pPr marL="0" indent="0" algn="ctr">
              <a:buNone/>
            </a:pPr>
            <a:r>
              <a:rPr lang="en-US" sz="1400" dirty="0">
                <a:solidFill>
                  <a:srgbClr val="7B8794"/>
                </a:solidFill>
                <a:latin typeface="Calibri" pitchFamily="34" charset="0"/>
                <a:ea typeface="Calibri" pitchFamily="34" charset="-122"/>
                <a:cs typeface="Calibri" pitchFamily="34" charset="-120"/>
              </a:rPr>
              <a:t>[Placeholder: OpenRouter spend screenshot — open_router_spend_example.png]</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0F4F8"/>
        </a:solidFill>
        <a:effectLst/>
      </p:bgPr>
    </p:bg>
    <p:spTree>
      <p:nvGrpSpPr>
        <p:cNvPr id="1" name=""/>
        <p:cNvGrpSpPr/>
        <p:nvPr/>
      </p:nvGrpSpPr>
      <p:grpSpPr>
        <a:xfrm>
          <a:off x="0" y="0"/>
          <a:ext cx="0" cy="0"/>
          <a:chOff x="0" y="0"/>
          <a:chExt cx="0" cy="0"/>
        </a:xfrm>
      </p:grpSpPr>
      <p:sp>
        <p:nvSpPr>
          <p:cNvPr id="3" name="Text 0"/>
          <p:cNvSpPr/>
          <p:nvPr/>
        </p:nvSpPr>
        <p:spPr>
          <a:xfrm>
            <a:off x="548640" y="274320"/>
            <a:ext cx="8046720" cy="594360"/>
          </a:xfrm>
          <a:prstGeom prst="rect">
            <a:avLst/>
          </a:prstGeom>
          <a:noFill/>
          <a:ln/>
        </p:spPr>
        <p:txBody>
          <a:bodyPr wrap="square" lIns="0" tIns="0" rIns="0" bIns="0" rtlCol="0" anchor="ctr"/>
          <a:lstStyle/>
          <a:p>
            <a:pPr marL="0" indent="0">
              <a:buNone/>
            </a:pPr>
            <a:r>
              <a:rPr lang="en-US" sz="2400" b="1" dirty="0">
                <a:solidFill>
                  <a:srgbClr val="323F4B"/>
                </a:solidFill>
                <a:latin typeface="Trebuchet MS" pitchFamily="34" charset="0"/>
                <a:ea typeface="Trebuchet MS" pitchFamily="34" charset="-122"/>
                <a:cs typeface="Trebuchet MS" pitchFamily="34" charset="-120"/>
              </a:rPr>
              <a:t>Implications for Forced-Choice Test Design</a:t>
            </a:r>
            <a:endParaRPr lang="en-US" sz="2400" dirty="0"/>
          </a:p>
        </p:txBody>
      </p:sp>
      <p:sp>
        <p:nvSpPr>
          <p:cNvPr id="4" name="Text 1"/>
          <p:cNvSpPr/>
          <p:nvPr/>
        </p:nvSpPr>
        <p:spPr>
          <a:xfrm>
            <a:off x="548640" y="822960"/>
            <a:ext cx="8046720" cy="32004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Dr. Philseok Lee</a:t>
            </a:r>
            <a:endParaRPr lang="en-US" sz="1100" dirty="0"/>
          </a:p>
        </p:txBody>
      </p:sp>
      <p:sp>
        <p:nvSpPr>
          <p:cNvPr id="5" name="Shape 2"/>
          <p:cNvSpPr/>
          <p:nvPr/>
        </p:nvSpPr>
        <p:spPr>
          <a:xfrm>
            <a:off x="0" y="0"/>
            <a:ext cx="9144000" cy="73152"/>
          </a:xfrm>
          <a:prstGeom prst="rect">
            <a:avLst/>
          </a:prstGeom>
          <a:solidFill>
            <a:srgbClr val="028090"/>
          </a:solidFill>
          <a:ln/>
        </p:spPr>
        <p:txBody>
          <a:bodyPr/>
          <a:lstStyle/>
          <a:p>
            <a:endParaRPr lang="en-US"/>
          </a:p>
        </p:txBody>
      </p:sp>
      <p:sp>
        <p:nvSpPr>
          <p:cNvPr id="6" name="Text 3"/>
          <p:cNvSpPr/>
          <p:nvPr/>
        </p:nvSpPr>
        <p:spPr>
          <a:xfrm>
            <a:off x="548640" y="1188720"/>
            <a:ext cx="8046720" cy="365760"/>
          </a:xfrm>
          <a:prstGeom prst="rect">
            <a:avLst/>
          </a:prstGeom>
          <a:noFill/>
          <a:ln/>
        </p:spPr>
        <p:txBody>
          <a:bodyPr wrap="square" lIns="0" tIns="0" rIns="0" bIns="0" rtlCol="0" anchor="ctr"/>
          <a:lstStyle/>
          <a:p>
            <a:pPr marL="0" indent="0">
              <a:buNone/>
            </a:pPr>
            <a:r>
              <a:rPr lang="en-US" sz="1400" dirty="0">
                <a:solidFill>
                  <a:srgbClr val="323F4B"/>
                </a:solidFill>
                <a:latin typeface="Calibri" pitchFamily="34" charset="0"/>
                <a:ea typeface="Calibri" pitchFamily="34" charset="-122"/>
                <a:cs typeface="Calibri" pitchFamily="34" charset="-120"/>
              </a:rPr>
              <a:t>Item metadata from this pipeline directly enables FC block construction:</a:t>
            </a:r>
            <a:endParaRPr lang="en-US" sz="1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8046720" cy="1295400"/>
        </p:xfrm>
        <a:graphic>
          <a:graphicData uri="http://schemas.openxmlformats.org/drawingml/2006/table">
            <a:tbl>
              <a:tblPr/>
              <a:tblGrid>
                <a:gridCol w="320040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tblGrid>
              <a:tr h="0">
                <a:tc>
                  <a:txBody>
                    <a:bodyP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Pipeline Metadata</a:t>
                      </a:r>
                      <a:endParaRPr lang="en-US" sz="1100" dirty="0">
                        <a:latin typeface="Trebuchet MS" charset="0"/>
                        <a:ea typeface="Trebuchet MS" charset="0"/>
                        <a:cs typeface="Trebuchet MS" charset="0"/>
                      </a:endParaRPr>
                    </a:p>
                  </a:txBody>
                  <a:tcP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028090"/>
                    </a:solidFill>
                  </a:tcPr>
                </a:tc>
                <a:tc>
                  <a:txBody>
                    <a:bodyP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FC Design Application</a:t>
                      </a:r>
                      <a:endParaRPr lang="en-US" sz="1100" dirty="0">
                        <a:latin typeface="Trebuchet MS" charset="0"/>
                        <a:ea typeface="Trebuchet MS" charset="0"/>
                        <a:cs typeface="Trebuchet MS" charset="0"/>
                      </a:endParaRPr>
                    </a:p>
                  </a:txBody>
                  <a:tcP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0">
                <a:tc>
                  <a:txBody>
                    <a:bodyPr/>
                    <a:lstStyle/>
                    <a:p>
                      <a:pPr marL="0" indent="0">
                        <a:buNone/>
                      </a:pPr>
                      <a:r>
                        <a:rPr lang="en-US" sz="1000" dirty="0">
                          <a:solidFill>
                            <a:srgbClr val="323F4B"/>
                          </a:solidFill>
                          <a:latin typeface="Consolas" pitchFamily="34" charset="0"/>
                          <a:ea typeface="Consolas" pitchFamily="34" charset="-122"/>
                          <a:cs typeface="Consolas" pitchFamily="34" charset="-120"/>
                        </a:rPr>
                        <a:t>cv_mean_target_rating</a:t>
                      </a:r>
                      <a:endParaRPr lang="en-US" sz="1000" dirty="0">
                        <a:latin typeface="Consolas" charset="0"/>
                        <a:ea typeface="Consolas" charset="0"/>
                        <a:cs typeface="Consolas" charset="0"/>
                      </a:endParaRPr>
                    </a:p>
                  </a:txBody>
                  <a:tcP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marL="0" indent="0">
                        <a:buNone/>
                      </a:pPr>
                      <a:r>
                        <a:rPr lang="en-US" sz="1100" dirty="0">
                          <a:solidFill>
                            <a:srgbClr val="323F4B"/>
                          </a:solidFill>
                          <a:latin typeface="Calibri" pitchFamily="34" charset="0"/>
                          <a:ea typeface="Calibri" pitchFamily="34" charset="-122"/>
                          <a:cs typeface="Calibri" pitchFamily="34" charset="-120"/>
                        </a:rPr>
                        <a:t>Social desirability matching across items in a block</a:t>
                      </a:r>
                      <a:endParaRPr lang="en-US" sz="1100" dirty="0">
                        <a:latin typeface="Calibri" charset="0"/>
                        <a:ea typeface="Calibri" charset="0"/>
                        <a:cs typeface="Calibri" charset="0"/>
                      </a:endParaRPr>
                    </a:p>
                  </a:txBody>
                  <a:tcP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00" dirty="0">
                          <a:solidFill>
                            <a:srgbClr val="323F4B"/>
                          </a:solidFill>
                          <a:latin typeface="Consolas" pitchFamily="34" charset="0"/>
                          <a:ea typeface="Consolas" pitchFamily="34" charset="-122"/>
                          <a:cs typeface="Consolas" pitchFamily="34" charset="-120"/>
                        </a:rPr>
                        <a:t>discriminant_pass</a:t>
                      </a:r>
                      <a:endParaRPr lang="en-US" sz="1000" dirty="0">
                        <a:latin typeface="Consolas" charset="0"/>
                        <a:ea typeface="Consolas" charset="0"/>
                        <a:cs typeface="Consolas" charset="0"/>
                      </a:endParaRPr>
                    </a:p>
                  </a:txBody>
                  <a:tcP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marL="0" indent="0">
                        <a:buNone/>
                      </a:pPr>
                      <a:r>
                        <a:rPr lang="en-US" sz="1100" dirty="0">
                          <a:solidFill>
                            <a:srgbClr val="323F4B"/>
                          </a:solidFill>
                          <a:latin typeface="Calibri" pitchFamily="34" charset="0"/>
                          <a:ea typeface="Calibri" pitchFamily="34" charset="-122"/>
                          <a:cs typeface="Calibri" pitchFamily="34" charset="-120"/>
                        </a:rPr>
                        <a:t>Confirmed distinctness across constructs within block</a:t>
                      </a:r>
                      <a:endParaRPr lang="en-US" sz="1100" dirty="0">
                        <a:latin typeface="Calibri" charset="0"/>
                        <a:ea typeface="Calibri" charset="0"/>
                        <a:cs typeface="Calibri" charset="0"/>
                      </a:endParaRPr>
                    </a:p>
                  </a:txBody>
                  <a:tcP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000" dirty="0">
                          <a:solidFill>
                            <a:srgbClr val="323F4B"/>
                          </a:solidFill>
                          <a:latin typeface="Consolas" pitchFamily="34" charset="0"/>
                          <a:ea typeface="Consolas" pitchFamily="34" charset="-122"/>
                          <a:cs typeface="Consolas" pitchFamily="34" charset="-120"/>
                        </a:rPr>
                        <a:t>pfa_atomic_single_loading</a:t>
                      </a:r>
                      <a:endParaRPr lang="en-US" sz="1000" dirty="0">
                        <a:latin typeface="Consolas" charset="0"/>
                        <a:ea typeface="Consolas" charset="0"/>
                        <a:cs typeface="Consolas" charset="0"/>
                      </a:endParaRPr>
                    </a:p>
                  </a:txBody>
                  <a:tcP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marL="0" indent="0">
                        <a:buNone/>
                      </a:pPr>
                      <a:r>
                        <a:rPr lang="en-US" sz="1100" dirty="0">
                          <a:solidFill>
                            <a:srgbClr val="323F4B"/>
                          </a:solidFill>
                          <a:latin typeface="Calibri" pitchFamily="34" charset="0"/>
                          <a:ea typeface="Calibri" pitchFamily="34" charset="-122"/>
                          <a:cs typeface="Calibri" pitchFamily="34" charset="-120"/>
                        </a:rPr>
                        <a:t>Factor loading purity for item selection</a:t>
                      </a:r>
                      <a:endParaRPr lang="en-US" sz="1100" dirty="0">
                        <a:latin typeface="Calibri" charset="0"/>
                        <a:ea typeface="Calibri" charset="0"/>
                        <a:cs typeface="Calibri" charset="0"/>
                      </a:endParaRPr>
                    </a:p>
                  </a:txBody>
                  <a:tcP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000" dirty="0">
                          <a:solidFill>
                            <a:srgbClr val="323F4B"/>
                          </a:solidFill>
                          <a:latin typeface="Consolas" pitchFamily="34" charset="0"/>
                          <a:ea typeface="Consolas" pitchFamily="34" charset="-122"/>
                          <a:cs typeface="Consolas" pitchFamily="34" charset="-120"/>
                        </a:rPr>
                        <a:t>occurrence_likelihood</a:t>
                      </a:r>
                      <a:endParaRPr lang="en-US" sz="1000" dirty="0">
                        <a:latin typeface="Consolas" charset="0"/>
                        <a:ea typeface="Consolas" charset="0"/>
                        <a:cs typeface="Consolas" charset="0"/>
                      </a:endParaRPr>
                    </a:p>
                  </a:txBody>
                  <a:tcP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marL="0" indent="0">
                        <a:buNone/>
                      </a:pPr>
                      <a:r>
                        <a:rPr lang="en-US" sz="1100" dirty="0">
                          <a:solidFill>
                            <a:srgbClr val="323F4B"/>
                          </a:solidFill>
                          <a:latin typeface="Calibri" pitchFamily="34" charset="0"/>
                          <a:ea typeface="Calibri" pitchFamily="34" charset="-122"/>
                          <a:cs typeface="Calibri" pitchFamily="34" charset="-120"/>
                        </a:rPr>
                        <a:t>Additional matching dimension for block balance</a:t>
                      </a:r>
                      <a:endParaRPr lang="en-US" sz="1100" dirty="0">
                        <a:latin typeface="Calibri" charset="0"/>
                        <a:ea typeface="Calibri" charset="0"/>
                        <a:cs typeface="Calibri" charset="0"/>
                      </a:endParaRPr>
                    </a:p>
                  </a:txBody>
                  <a:tcP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Text 4"/>
          <p:cNvSpPr/>
          <p:nvPr/>
        </p:nvSpPr>
        <p:spPr>
          <a:xfrm>
            <a:off x="548640" y="4114800"/>
            <a:ext cx="8046720" cy="274320"/>
          </a:xfrm>
          <a:prstGeom prst="rect">
            <a:avLst/>
          </a:prstGeom>
          <a:noFill/>
          <a:ln/>
        </p:spPr>
        <p:txBody>
          <a:bodyPr wrap="square" lIns="0" tIns="0" rIns="0" bIns="0" rtlCol="0" anchor="ctr"/>
          <a:lstStyle/>
          <a:p>
            <a:pPr marL="0" indent="0">
              <a:buNone/>
            </a:pPr>
            <a:r>
              <a:rPr lang="en-US" sz="1000" i="1" dirty="0">
                <a:solidFill>
                  <a:srgbClr val="7B8794"/>
                </a:solidFill>
                <a:latin typeface="Calibri" pitchFamily="34" charset="0"/>
                <a:ea typeface="Calibri" pitchFamily="34" charset="-122"/>
                <a:cs typeface="Calibri" pitchFamily="34" charset="-120"/>
              </a:rPr>
              <a:t>~56% of HR professionals now use FC measures  •  Lee, Son, Zhou, Joo, Jia, &amp; Cheng (2025)</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F0F4F8"/>
        </a:solidFill>
        <a:effectLst/>
      </p:bgPr>
    </p:bg>
    <p:spTree>
      <p:nvGrpSpPr>
        <p:cNvPr id="1" name=""/>
        <p:cNvGrpSpPr/>
        <p:nvPr/>
      </p:nvGrpSpPr>
      <p:grpSpPr>
        <a:xfrm>
          <a:off x="0" y="0"/>
          <a:ext cx="0" cy="0"/>
          <a:chOff x="0" y="0"/>
          <a:chExt cx="0" cy="0"/>
        </a:xfrm>
      </p:grpSpPr>
      <p:sp>
        <p:nvSpPr>
          <p:cNvPr id="3" name="Text 0"/>
          <p:cNvSpPr/>
          <p:nvPr/>
        </p:nvSpPr>
        <p:spPr>
          <a:xfrm>
            <a:off x="548640" y="274320"/>
            <a:ext cx="8046720" cy="594360"/>
          </a:xfrm>
          <a:prstGeom prst="rect">
            <a:avLst/>
          </a:prstGeom>
          <a:noFill/>
          <a:ln/>
        </p:spPr>
        <p:txBody>
          <a:bodyPr wrap="square" lIns="0" tIns="0" rIns="0" bIns="0" rtlCol="0" anchor="ctr"/>
          <a:lstStyle/>
          <a:p>
            <a:pPr marL="0" indent="0">
              <a:buNone/>
            </a:pPr>
            <a:r>
              <a:rPr lang="en-US" sz="2400" b="1" dirty="0">
                <a:solidFill>
                  <a:srgbClr val="323F4B"/>
                </a:solidFill>
                <a:latin typeface="Trebuchet MS" pitchFamily="34" charset="0"/>
                <a:ea typeface="Trebuchet MS" pitchFamily="34" charset="-122"/>
                <a:cs typeface="Trebuchet MS" pitchFamily="34" charset="-120"/>
              </a:rPr>
              <a:t>Limitations &amp; Future Directions</a:t>
            </a:r>
            <a:endParaRPr lang="en-US" sz="2400" dirty="0"/>
          </a:p>
        </p:txBody>
      </p:sp>
      <p:sp>
        <p:nvSpPr>
          <p:cNvPr id="4" name="Text 1"/>
          <p:cNvSpPr/>
          <p:nvPr/>
        </p:nvSpPr>
        <p:spPr>
          <a:xfrm>
            <a:off x="548640" y="822960"/>
            <a:ext cx="8046720" cy="32004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Dr. Philseok Lee</a:t>
            </a:r>
            <a:endParaRPr lang="en-US" sz="1100" dirty="0"/>
          </a:p>
        </p:txBody>
      </p:sp>
      <p:sp>
        <p:nvSpPr>
          <p:cNvPr id="5" name="Shape 2"/>
          <p:cNvSpPr/>
          <p:nvPr/>
        </p:nvSpPr>
        <p:spPr>
          <a:xfrm>
            <a:off x="0" y="0"/>
            <a:ext cx="9144000" cy="73152"/>
          </a:xfrm>
          <a:prstGeom prst="rect">
            <a:avLst/>
          </a:prstGeom>
          <a:solidFill>
            <a:srgbClr val="028090"/>
          </a:solidFill>
          <a:ln/>
        </p:spPr>
        <p:txBody>
          <a:bodyPr/>
          <a:lstStyle/>
          <a:p>
            <a:endParaRPr lang="en-US"/>
          </a:p>
        </p:txBody>
      </p:sp>
      <p:sp>
        <p:nvSpPr>
          <p:cNvPr id="6" name="Shape 3"/>
          <p:cNvSpPr/>
          <p:nvPr/>
        </p:nvSpPr>
        <p:spPr>
          <a:xfrm>
            <a:off x="548640" y="1188720"/>
            <a:ext cx="3840480" cy="1828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7" name="Shape 4"/>
          <p:cNvSpPr/>
          <p:nvPr/>
        </p:nvSpPr>
        <p:spPr>
          <a:xfrm>
            <a:off x="548640" y="1188720"/>
            <a:ext cx="54864" cy="1828800"/>
          </a:xfrm>
          <a:prstGeom prst="rect">
            <a:avLst/>
          </a:prstGeom>
          <a:solidFill>
            <a:srgbClr val="028090"/>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731520" y="1371600"/>
            <a:ext cx="320040" cy="320040"/>
          </a:xfrm>
          <a:prstGeom prst="rect">
            <a:avLst/>
          </a:prstGeom>
        </p:spPr>
      </p:pic>
      <p:sp>
        <p:nvSpPr>
          <p:cNvPr id="9" name="Text 5"/>
          <p:cNvSpPr/>
          <p:nvPr/>
        </p:nvSpPr>
        <p:spPr>
          <a:xfrm>
            <a:off x="1188720" y="1325880"/>
            <a:ext cx="3017520" cy="320040"/>
          </a:xfrm>
          <a:prstGeom prst="rect">
            <a:avLst/>
          </a:prstGeom>
          <a:noFill/>
          <a:ln/>
        </p:spPr>
        <p:txBody>
          <a:bodyPr wrap="square" lIns="0" tIns="0" rIns="0" bIns="0" rtlCol="0" anchor="ctr"/>
          <a:lstStyle/>
          <a:p>
            <a:pPr marL="0" indent="0">
              <a:buNone/>
            </a:pPr>
            <a:r>
              <a:rPr lang="en-US" sz="1300" b="1" dirty="0">
                <a:solidFill>
                  <a:srgbClr val="323F4B"/>
                </a:solidFill>
                <a:latin typeface="Trebuchet MS" pitchFamily="34" charset="0"/>
                <a:ea typeface="Trebuchet MS" pitchFamily="34" charset="-122"/>
                <a:cs typeface="Trebuchet MS" pitchFamily="34" charset="-120"/>
              </a:rPr>
              <a:t>Current Limitations</a:t>
            </a:r>
            <a:endParaRPr lang="en-US" sz="1300" dirty="0"/>
          </a:p>
        </p:txBody>
      </p:sp>
      <p:sp>
        <p:nvSpPr>
          <p:cNvPr id="10" name="Text 6"/>
          <p:cNvSpPr/>
          <p:nvPr/>
        </p:nvSpPr>
        <p:spPr>
          <a:xfrm>
            <a:off x="777240" y="1691640"/>
            <a:ext cx="3383280" cy="1188720"/>
          </a:xfrm>
          <a:prstGeom prst="rect">
            <a:avLst/>
          </a:prstGeom>
          <a:noFill/>
          <a:ln/>
        </p:spPr>
        <p:txBody>
          <a:bodyPr wrap="square" lIns="0" tIns="0" rIns="0" bIns="0" rtlCol="0" anchor="t"/>
          <a:lstStyle/>
          <a:p>
            <a:pPr marL="0" indent="0">
              <a:buNone/>
            </a:pPr>
            <a:r>
              <a:rPr lang="en-US" sz="1100" dirty="0">
                <a:solidFill>
                  <a:srgbClr val="7B8794"/>
                </a:solidFill>
                <a:latin typeface="Calibri" pitchFamily="34" charset="0"/>
                <a:ea typeface="Calibri" pitchFamily="34" charset="-122"/>
                <a:cs typeface="Calibri" pitchFamily="34" charset="-120"/>
              </a:rPr>
              <a:t>PFA screens — it does not replace empirical data</a:t>
            </a: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Substitutability varies across constructs</a:t>
            </a: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Cross-linguistic performance is variable</a:t>
            </a: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Model choice affects quality significantly</a:t>
            </a: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No IRT integration yet</a:t>
            </a:r>
            <a:endParaRPr lang="en-US" sz="1100" dirty="0"/>
          </a:p>
        </p:txBody>
      </p:sp>
      <p:sp>
        <p:nvSpPr>
          <p:cNvPr id="11" name="Shape 7"/>
          <p:cNvSpPr/>
          <p:nvPr/>
        </p:nvSpPr>
        <p:spPr>
          <a:xfrm>
            <a:off x="4754880" y="1188720"/>
            <a:ext cx="3840480" cy="1828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2" name="Shape 8"/>
          <p:cNvSpPr/>
          <p:nvPr/>
        </p:nvSpPr>
        <p:spPr>
          <a:xfrm>
            <a:off x="4754880" y="1188720"/>
            <a:ext cx="54864" cy="1828800"/>
          </a:xfrm>
          <a:prstGeom prst="rect">
            <a:avLst/>
          </a:prstGeom>
          <a:solidFill>
            <a:srgbClr val="028090"/>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937760" y="1371600"/>
            <a:ext cx="320040" cy="320040"/>
          </a:xfrm>
          <a:prstGeom prst="rect">
            <a:avLst/>
          </a:prstGeom>
        </p:spPr>
      </p:pic>
      <p:sp>
        <p:nvSpPr>
          <p:cNvPr id="14" name="Text 9"/>
          <p:cNvSpPr/>
          <p:nvPr/>
        </p:nvSpPr>
        <p:spPr>
          <a:xfrm>
            <a:off x="5394960" y="1325880"/>
            <a:ext cx="3017520" cy="320040"/>
          </a:xfrm>
          <a:prstGeom prst="rect">
            <a:avLst/>
          </a:prstGeom>
          <a:noFill/>
          <a:ln/>
        </p:spPr>
        <p:txBody>
          <a:bodyPr wrap="square" lIns="0" tIns="0" rIns="0" bIns="0" rtlCol="0" anchor="ctr"/>
          <a:lstStyle/>
          <a:p>
            <a:pPr marL="0" indent="0">
              <a:buNone/>
            </a:pPr>
            <a:r>
              <a:rPr lang="en-US" sz="1300" b="1" dirty="0">
                <a:solidFill>
                  <a:srgbClr val="323F4B"/>
                </a:solidFill>
                <a:latin typeface="Trebuchet MS" pitchFamily="34" charset="0"/>
                <a:ea typeface="Trebuchet MS" pitchFamily="34" charset="-122"/>
                <a:cs typeface="Trebuchet MS" pitchFamily="34" charset="-120"/>
              </a:rPr>
              <a:t>Future Directions</a:t>
            </a:r>
            <a:endParaRPr lang="en-US" sz="1300" dirty="0"/>
          </a:p>
        </p:txBody>
      </p:sp>
      <p:sp>
        <p:nvSpPr>
          <p:cNvPr id="15" name="Text 10"/>
          <p:cNvSpPr/>
          <p:nvPr/>
        </p:nvSpPr>
        <p:spPr>
          <a:xfrm>
            <a:off x="4983480" y="1691640"/>
            <a:ext cx="3383280" cy="1188720"/>
          </a:xfrm>
          <a:prstGeom prst="rect">
            <a:avLst/>
          </a:prstGeom>
          <a:noFill/>
          <a:ln/>
        </p:spPr>
        <p:txBody>
          <a:bodyPr wrap="square" lIns="0" tIns="0" rIns="0" bIns="0" rtlCol="0" anchor="t"/>
          <a:lstStyle/>
          <a:p>
            <a:pPr marL="0" indent="0">
              <a:buNone/>
            </a:pPr>
            <a:r>
              <a:rPr lang="en-US" sz="1100" dirty="0">
                <a:solidFill>
                  <a:srgbClr val="7B8794"/>
                </a:solidFill>
                <a:latin typeface="Calibri" pitchFamily="34" charset="0"/>
                <a:ea typeface="Calibri" pitchFamily="34" charset="-122"/>
                <a:cs typeface="Calibri" pitchFamily="34" charset="-120"/>
              </a:rPr>
              <a:t>Fine-tuned transformers for psychometric embeddings</a:t>
            </a: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Cross-cultural and multilingual validation</a:t>
            </a: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IRT model integration for difficulty estimation</a:t>
            </a: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Automated FC block construction</a:t>
            </a: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Live updating from pilot data → re-run PFA</a:t>
            </a:r>
            <a:endParaRPr lang="en-US" sz="1100" dirty="0"/>
          </a:p>
        </p:txBody>
      </p:sp>
      <p:sp>
        <p:nvSpPr>
          <p:cNvPr id="16" name="Text 11"/>
          <p:cNvSpPr/>
          <p:nvPr/>
        </p:nvSpPr>
        <p:spPr>
          <a:xfrm>
            <a:off x="548640" y="3383280"/>
            <a:ext cx="8046720" cy="457200"/>
          </a:xfrm>
          <a:prstGeom prst="rect">
            <a:avLst/>
          </a:prstGeom>
          <a:noFill/>
          <a:ln/>
        </p:spPr>
        <p:txBody>
          <a:bodyPr wrap="square" lIns="0" tIns="0" rIns="0" bIns="0" rtlCol="0" anchor="ctr"/>
          <a:lstStyle/>
          <a:p>
            <a:pPr marL="0" indent="0">
              <a:buNone/>
            </a:pPr>
            <a:r>
              <a:rPr lang="en-US" sz="1100" i="1" dirty="0">
                <a:solidFill>
                  <a:srgbClr val="323F4B"/>
                </a:solidFill>
                <a:latin typeface="Calibri" pitchFamily="34" charset="0"/>
                <a:ea typeface="Calibri" pitchFamily="34" charset="-122"/>
                <a:cs typeface="Calibri" pitchFamily="34" charset="-120"/>
              </a:rPr>
              <a:t>"We do not propose to fully automatize scale construction... at the end of the day, empirical research on real data is always required."</a:t>
            </a:r>
            <a:endParaRPr lang="en-US" sz="1100" dirty="0"/>
          </a:p>
        </p:txBody>
      </p:sp>
      <p:sp>
        <p:nvSpPr>
          <p:cNvPr id="17" name="Text 12"/>
          <p:cNvSpPr/>
          <p:nvPr/>
        </p:nvSpPr>
        <p:spPr>
          <a:xfrm>
            <a:off x="548640" y="3840480"/>
            <a:ext cx="8046720" cy="274320"/>
          </a:xfrm>
          <a:prstGeom prst="rect">
            <a:avLst/>
          </a:prstGeom>
          <a:noFill/>
          <a:ln/>
        </p:spPr>
        <p:txBody>
          <a:bodyPr wrap="square" lIns="0" tIns="0" rIns="0" bIns="0" rtlCol="0" anchor="ctr"/>
          <a:lstStyle/>
          <a:p>
            <a:pPr marL="0" indent="0">
              <a:buNone/>
            </a:pPr>
            <a:r>
              <a:rPr lang="en-US" sz="1000" dirty="0">
                <a:solidFill>
                  <a:srgbClr val="7B8794"/>
                </a:solidFill>
                <a:latin typeface="Calibri" pitchFamily="34" charset="0"/>
                <a:ea typeface="Calibri" pitchFamily="34" charset="-122"/>
                <a:cs typeface="Calibri" pitchFamily="34" charset="-120"/>
              </a:rPr>
              <a:t>— Guenole, D'Urso, Samo, Sun, &amp; Haslbeck (2025)</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0F4F8"/>
        </a:solidFill>
        <a:effectLst/>
      </p:bgPr>
    </p:bg>
    <p:spTree>
      <p:nvGrpSpPr>
        <p:cNvPr id="1" name=""/>
        <p:cNvGrpSpPr/>
        <p:nvPr/>
      </p:nvGrpSpPr>
      <p:grpSpPr>
        <a:xfrm>
          <a:off x="0" y="0"/>
          <a:ext cx="0" cy="0"/>
          <a:chOff x="0" y="0"/>
          <a:chExt cx="0" cy="0"/>
        </a:xfrm>
      </p:grpSpPr>
      <p:sp>
        <p:nvSpPr>
          <p:cNvPr id="3" name="Text 0"/>
          <p:cNvSpPr/>
          <p:nvPr/>
        </p:nvSpPr>
        <p:spPr>
          <a:xfrm>
            <a:off x="548640" y="274320"/>
            <a:ext cx="8046720" cy="594360"/>
          </a:xfrm>
          <a:prstGeom prst="rect">
            <a:avLst/>
          </a:prstGeom>
          <a:noFill/>
          <a:ln/>
        </p:spPr>
        <p:txBody>
          <a:bodyPr wrap="square" lIns="0" tIns="0" rIns="0" bIns="0" rtlCol="0" anchor="ctr"/>
          <a:lstStyle/>
          <a:p>
            <a:pPr marL="0" indent="0">
              <a:buNone/>
            </a:pPr>
            <a:r>
              <a:rPr lang="en-US" sz="2400" b="1" dirty="0">
                <a:solidFill>
                  <a:srgbClr val="323F4B"/>
                </a:solidFill>
                <a:latin typeface="Trebuchet MS" pitchFamily="34" charset="0"/>
                <a:ea typeface="Trebuchet MS" pitchFamily="34" charset="-122"/>
                <a:cs typeface="Trebuchet MS" pitchFamily="34" charset="-120"/>
              </a:rPr>
              <a:t>Beyond Scales: Other Applications</a:t>
            </a:r>
            <a:endParaRPr lang="en-US" sz="2400" dirty="0"/>
          </a:p>
        </p:txBody>
      </p:sp>
      <p:sp>
        <p:nvSpPr>
          <p:cNvPr id="4" name="Text 1"/>
          <p:cNvSpPr/>
          <p:nvPr/>
        </p:nvSpPr>
        <p:spPr>
          <a:xfrm>
            <a:off x="548640" y="822960"/>
            <a:ext cx="8046720" cy="32004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Tariq Shaban</a:t>
            </a:r>
            <a:endParaRPr lang="en-US" sz="1100" dirty="0"/>
          </a:p>
        </p:txBody>
      </p:sp>
      <p:sp>
        <p:nvSpPr>
          <p:cNvPr id="5" name="Shape 2"/>
          <p:cNvSpPr/>
          <p:nvPr/>
        </p:nvSpPr>
        <p:spPr>
          <a:xfrm>
            <a:off x="0" y="0"/>
            <a:ext cx="9144000" cy="73152"/>
          </a:xfrm>
          <a:prstGeom prst="rect">
            <a:avLst/>
          </a:prstGeom>
          <a:solidFill>
            <a:srgbClr val="028090"/>
          </a:solidFill>
          <a:ln/>
        </p:spPr>
        <p:txBody>
          <a:bodyPr/>
          <a:lstStyle/>
          <a:p>
            <a:endParaRPr lang="en-US"/>
          </a:p>
        </p:txBody>
      </p:sp>
      <p:sp>
        <p:nvSpPr>
          <p:cNvPr id="6" name="Shape 3"/>
          <p:cNvSpPr/>
          <p:nvPr/>
        </p:nvSpPr>
        <p:spPr>
          <a:xfrm>
            <a:off x="548640" y="1280160"/>
            <a:ext cx="3840480" cy="25603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7" name="Shape 4"/>
          <p:cNvSpPr/>
          <p:nvPr/>
        </p:nvSpPr>
        <p:spPr>
          <a:xfrm>
            <a:off x="548640" y="1280160"/>
            <a:ext cx="54864" cy="2560320"/>
          </a:xfrm>
          <a:prstGeom prst="rect">
            <a:avLst/>
          </a:prstGeom>
          <a:solidFill>
            <a:srgbClr val="028090"/>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731520" y="1463040"/>
            <a:ext cx="320040" cy="320040"/>
          </a:xfrm>
          <a:prstGeom prst="rect">
            <a:avLst/>
          </a:prstGeom>
        </p:spPr>
      </p:pic>
      <p:sp>
        <p:nvSpPr>
          <p:cNvPr id="9" name="Text 5"/>
          <p:cNvSpPr/>
          <p:nvPr/>
        </p:nvSpPr>
        <p:spPr>
          <a:xfrm>
            <a:off x="1188720" y="1417320"/>
            <a:ext cx="3017520" cy="320040"/>
          </a:xfrm>
          <a:prstGeom prst="rect">
            <a:avLst/>
          </a:prstGeom>
          <a:noFill/>
          <a:ln/>
        </p:spPr>
        <p:txBody>
          <a:bodyPr wrap="square" lIns="0" tIns="0" rIns="0" bIns="0" rtlCol="0" anchor="ctr"/>
          <a:lstStyle/>
          <a:p>
            <a:pPr marL="0" indent="0">
              <a:buNone/>
            </a:pPr>
            <a:r>
              <a:rPr lang="en-US" sz="1300" b="1" dirty="0">
                <a:solidFill>
                  <a:srgbClr val="323F4B"/>
                </a:solidFill>
                <a:latin typeface="Trebuchet MS" pitchFamily="34" charset="0"/>
                <a:ea typeface="Trebuchet MS" pitchFamily="34" charset="-122"/>
                <a:cs typeface="Trebuchet MS" pitchFamily="34" charset="-120"/>
              </a:rPr>
              <a:t>Behavioral Competency Development</a:t>
            </a:r>
            <a:endParaRPr lang="en-US" sz="1300" dirty="0"/>
          </a:p>
        </p:txBody>
      </p:sp>
      <p:sp>
        <p:nvSpPr>
          <p:cNvPr id="10" name="Text 6"/>
          <p:cNvSpPr/>
          <p:nvPr/>
        </p:nvSpPr>
        <p:spPr>
          <a:xfrm>
            <a:off x="777240" y="1783080"/>
            <a:ext cx="3383280" cy="1920240"/>
          </a:xfrm>
          <a:prstGeom prst="rect">
            <a:avLst/>
          </a:prstGeom>
          <a:noFill/>
          <a:ln/>
        </p:spPr>
        <p:txBody>
          <a:bodyPr wrap="square" lIns="0" tIns="0" rIns="0" bIns="0" rtlCol="0" anchor="t"/>
          <a:lstStyle/>
          <a:p>
            <a:pPr marL="0" indent="0">
              <a:buNone/>
            </a:pPr>
            <a:r>
              <a:rPr lang="en-US" sz="1100" dirty="0">
                <a:solidFill>
                  <a:srgbClr val="7B8794"/>
                </a:solidFill>
                <a:latin typeface="Calibri" pitchFamily="34" charset="0"/>
                <a:ea typeface="Calibri" pitchFamily="34" charset="-122"/>
                <a:cs typeface="Calibri" pitchFamily="34" charset="-120"/>
              </a:rPr>
              <a:t>Semantic similarity validates whether</a:t>
            </a: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competency definitions are distinct</a:t>
            </a:r>
            <a:endParaRPr lang="en-US" sz="1100" dirty="0"/>
          </a:p>
          <a:p>
            <a:pPr marL="0" indent="0">
              <a:buNone/>
            </a:pP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LLM generates behavioral indicators at</a:t>
            </a: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multiple proficiency levels</a:t>
            </a:r>
            <a:endParaRPr lang="en-US" sz="1100" dirty="0"/>
          </a:p>
          <a:p>
            <a:pPr marL="0" indent="0">
              <a:buNone/>
            </a:pP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Embedding analysis flags overlapping</a:t>
            </a: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competencies before field testing</a:t>
            </a:r>
            <a:endParaRPr lang="en-US" sz="1100" dirty="0"/>
          </a:p>
          <a:p>
            <a:pPr marL="0" indent="0">
              <a:buNone/>
            </a:pP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Same pipeline architecture adapts directly</a:t>
            </a:r>
            <a:endParaRPr lang="en-US" sz="1100" dirty="0"/>
          </a:p>
        </p:txBody>
      </p:sp>
      <p:sp>
        <p:nvSpPr>
          <p:cNvPr id="11" name="Shape 7"/>
          <p:cNvSpPr/>
          <p:nvPr/>
        </p:nvSpPr>
        <p:spPr>
          <a:xfrm>
            <a:off x="4754880" y="1280160"/>
            <a:ext cx="3840480" cy="25603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2" name="Shape 8"/>
          <p:cNvSpPr/>
          <p:nvPr/>
        </p:nvSpPr>
        <p:spPr>
          <a:xfrm>
            <a:off x="4754880" y="1280160"/>
            <a:ext cx="54864" cy="2560320"/>
          </a:xfrm>
          <a:prstGeom prst="rect">
            <a:avLst/>
          </a:prstGeom>
          <a:solidFill>
            <a:srgbClr val="028090"/>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937760" y="1463040"/>
            <a:ext cx="320040" cy="320040"/>
          </a:xfrm>
          <a:prstGeom prst="rect">
            <a:avLst/>
          </a:prstGeom>
        </p:spPr>
      </p:pic>
      <p:sp>
        <p:nvSpPr>
          <p:cNvPr id="14" name="Text 9"/>
          <p:cNvSpPr/>
          <p:nvPr/>
        </p:nvSpPr>
        <p:spPr>
          <a:xfrm>
            <a:off x="5394960" y="1417320"/>
            <a:ext cx="3017520" cy="320040"/>
          </a:xfrm>
          <a:prstGeom prst="rect">
            <a:avLst/>
          </a:prstGeom>
          <a:noFill/>
          <a:ln/>
        </p:spPr>
        <p:txBody>
          <a:bodyPr wrap="square" lIns="0" tIns="0" rIns="0" bIns="0" rtlCol="0" anchor="ctr"/>
          <a:lstStyle/>
          <a:p>
            <a:pPr marL="0" indent="0">
              <a:buNone/>
            </a:pPr>
            <a:r>
              <a:rPr lang="en-US" sz="1300" b="1" dirty="0">
                <a:solidFill>
                  <a:srgbClr val="323F4B"/>
                </a:solidFill>
                <a:latin typeface="Trebuchet MS" pitchFamily="34" charset="0"/>
                <a:ea typeface="Trebuchet MS" pitchFamily="34" charset="-122"/>
                <a:cs typeface="Trebuchet MS" pitchFamily="34" charset="-120"/>
              </a:rPr>
              <a:t>SJT Development</a:t>
            </a:r>
            <a:endParaRPr lang="en-US" sz="1300" dirty="0"/>
          </a:p>
        </p:txBody>
      </p:sp>
      <p:sp>
        <p:nvSpPr>
          <p:cNvPr id="15" name="Text 10"/>
          <p:cNvSpPr/>
          <p:nvPr/>
        </p:nvSpPr>
        <p:spPr>
          <a:xfrm>
            <a:off x="4983480" y="1783080"/>
            <a:ext cx="3383280" cy="1920240"/>
          </a:xfrm>
          <a:prstGeom prst="rect">
            <a:avLst/>
          </a:prstGeom>
          <a:noFill/>
          <a:ln/>
        </p:spPr>
        <p:txBody>
          <a:bodyPr wrap="square" lIns="0" tIns="0" rIns="0" bIns="0" rtlCol="0" anchor="t"/>
          <a:lstStyle/>
          <a:p>
            <a:pPr marL="0" indent="0">
              <a:buNone/>
            </a:pPr>
            <a:r>
              <a:rPr lang="en-US" sz="1100" dirty="0">
                <a:solidFill>
                  <a:srgbClr val="7B8794"/>
                </a:solidFill>
                <a:latin typeface="Calibri" pitchFamily="34" charset="0"/>
                <a:ea typeface="Calibri" pitchFamily="34" charset="-122"/>
                <a:cs typeface="Calibri" pitchFamily="34" charset="-120"/>
              </a:rPr>
              <a:t>Multi-agent: scenario → options → validation</a:t>
            </a:r>
            <a:endParaRPr lang="en-US" sz="1100" dirty="0"/>
          </a:p>
          <a:p>
            <a:pPr marL="0" indent="0">
              <a:buNone/>
            </a:pP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Readability &amp; bias screening transfers directly</a:t>
            </a:r>
            <a:endParaRPr lang="en-US" sz="1100" dirty="0"/>
          </a:p>
          <a:p>
            <a:pPr marL="0" indent="0">
              <a:buNone/>
            </a:pP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Semantic similarity evaluates whether</a:t>
            </a: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response options discriminate between</a:t>
            </a: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constructs</a:t>
            </a:r>
            <a:endParaRPr lang="en-US" sz="1100" dirty="0"/>
          </a:p>
          <a:p>
            <a:pPr marL="0" indent="0">
              <a:buNone/>
            </a:pPr>
            <a:endParaRPr lang="en-US" sz="1100" dirty="0"/>
          </a:p>
          <a:p>
            <a:pPr marL="0" indent="0">
              <a:buNone/>
            </a:pPr>
            <a:r>
              <a:rPr lang="en-US" sz="1100" dirty="0">
                <a:solidFill>
                  <a:srgbClr val="7B8794"/>
                </a:solidFill>
                <a:latin typeface="Calibri" pitchFamily="34" charset="0"/>
                <a:ea typeface="Calibri" pitchFamily="34" charset="-122"/>
                <a:cs typeface="Calibri" pitchFamily="34" charset="-120"/>
              </a:rPr>
              <a:t>PFA principles apply to response scoring keys</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1B2838"/>
        </a:solidFill>
        <a:effectLst/>
      </p:bgPr>
    </p:bg>
    <p:spTree>
      <p:nvGrpSpPr>
        <p:cNvPr id="1" name=""/>
        <p:cNvGrpSpPr/>
        <p:nvPr/>
      </p:nvGrpSpPr>
      <p:grpSpPr>
        <a:xfrm>
          <a:off x="0" y="0"/>
          <a:ext cx="0" cy="0"/>
          <a:chOff x="0" y="0"/>
          <a:chExt cx="0" cy="0"/>
        </a:xfrm>
      </p:grpSpPr>
      <p:sp>
        <p:nvSpPr>
          <p:cNvPr id="3" name="Text 0"/>
          <p:cNvSpPr/>
          <p:nvPr/>
        </p:nvSpPr>
        <p:spPr>
          <a:xfrm>
            <a:off x="731520" y="1463040"/>
            <a:ext cx="7680960" cy="1097280"/>
          </a:xfrm>
          <a:prstGeom prst="rect">
            <a:avLst/>
          </a:prstGeom>
          <a:noFill/>
          <a:ln/>
        </p:spPr>
        <p:txBody>
          <a:bodyPr wrap="square" lIns="0" tIns="0" rIns="0" bIns="0" rtlCol="0" anchor="ctr"/>
          <a:lstStyle/>
          <a:p>
            <a:pPr marL="0" indent="0">
              <a:buNone/>
            </a:pPr>
            <a:r>
              <a:rPr lang="en-US" sz="4000" b="1" dirty="0">
                <a:solidFill>
                  <a:srgbClr val="FFFFFF"/>
                </a:solidFill>
                <a:latin typeface="Trebuchet MS" pitchFamily="34" charset="0"/>
                <a:ea typeface="Trebuchet MS" pitchFamily="34" charset="-122"/>
                <a:cs typeface="Trebuchet MS" pitchFamily="34" charset="-120"/>
              </a:rPr>
              <a:t>Key Takeaways</a:t>
            </a:r>
            <a:endParaRPr lang="en-US" sz="4000" dirty="0"/>
          </a:p>
        </p:txBody>
      </p:sp>
      <p:sp>
        <p:nvSpPr>
          <p:cNvPr id="4" name="Shape 1"/>
          <p:cNvSpPr/>
          <p:nvPr/>
        </p:nvSpPr>
        <p:spPr>
          <a:xfrm>
            <a:off x="731520" y="3044185"/>
            <a:ext cx="2286000" cy="36576"/>
          </a:xfrm>
          <a:prstGeom prst="rect">
            <a:avLst/>
          </a:prstGeom>
          <a:solidFill>
            <a:srgbClr val="028090"/>
          </a:solidFill>
          <a:ln/>
        </p:spPr>
        <p:txBody>
          <a:bodyPr/>
          <a:lstStyle/>
          <a:p>
            <a:endParaRPr lang="en-US"/>
          </a:p>
        </p:txBody>
      </p:sp>
      <p:sp>
        <p:nvSpPr>
          <p:cNvPr id="5" name="Shape 2"/>
          <p:cNvSpPr/>
          <p:nvPr/>
        </p:nvSpPr>
        <p:spPr>
          <a:xfrm>
            <a:off x="731520" y="3337560"/>
            <a:ext cx="365760" cy="365760"/>
          </a:xfrm>
          <a:prstGeom prst="ellipse">
            <a:avLst/>
          </a:prstGeom>
          <a:solidFill>
            <a:srgbClr val="028090"/>
          </a:solidFill>
          <a:ln/>
        </p:spPr>
        <p:txBody>
          <a:bodyPr/>
          <a:lstStyle/>
          <a:p>
            <a:endParaRPr lang="en-US"/>
          </a:p>
        </p:txBody>
      </p:sp>
      <p:sp>
        <p:nvSpPr>
          <p:cNvPr id="6" name="Text 3"/>
          <p:cNvSpPr/>
          <p:nvPr/>
        </p:nvSpPr>
        <p:spPr>
          <a:xfrm>
            <a:off x="731520" y="3337560"/>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1</a:t>
            </a:r>
            <a:endParaRPr lang="en-US" sz="1600" dirty="0"/>
          </a:p>
        </p:txBody>
      </p:sp>
      <p:sp>
        <p:nvSpPr>
          <p:cNvPr id="7" name="Text 4"/>
          <p:cNvSpPr/>
          <p:nvPr/>
        </p:nvSpPr>
        <p:spPr>
          <a:xfrm>
            <a:off x="1280160" y="3291840"/>
            <a:ext cx="3200400" cy="45720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The tooling exists today</a:t>
            </a:r>
            <a:endParaRPr lang="en-US" sz="1600" dirty="0"/>
          </a:p>
        </p:txBody>
      </p:sp>
      <p:sp>
        <p:nvSpPr>
          <p:cNvPr id="8" name="Text 5"/>
          <p:cNvSpPr/>
          <p:nvPr/>
        </p:nvSpPr>
        <p:spPr>
          <a:xfrm>
            <a:off x="4754880" y="3291840"/>
            <a:ext cx="3840480" cy="457200"/>
          </a:xfrm>
          <a:prstGeom prst="rect">
            <a:avLst/>
          </a:prstGeom>
          <a:noFill/>
          <a:ln/>
        </p:spPr>
        <p:txBody>
          <a:bodyPr wrap="square" lIns="0" tIns="0" rIns="0" bIns="0" rtlCol="0" anchor="ctr"/>
          <a:lstStyle/>
          <a:p>
            <a:pPr marL="0" indent="0">
              <a:buNone/>
            </a:pPr>
            <a:r>
              <a:rPr lang="en-US" sz="1300" dirty="0">
                <a:solidFill>
                  <a:srgbClr val="9AA5B1"/>
                </a:solidFill>
                <a:latin typeface="Calibri" pitchFamily="34" charset="0"/>
                <a:ea typeface="Calibri" pitchFamily="34" charset="-122"/>
                <a:cs typeface="Calibri" pitchFamily="34" charset="-120"/>
              </a:rPr>
              <a:t>Open-source, working pipeline — download and run</a:t>
            </a:r>
            <a:endParaRPr lang="en-US" sz="1300" dirty="0"/>
          </a:p>
        </p:txBody>
      </p:sp>
      <p:sp>
        <p:nvSpPr>
          <p:cNvPr id="9" name="Shape 6"/>
          <p:cNvSpPr/>
          <p:nvPr/>
        </p:nvSpPr>
        <p:spPr>
          <a:xfrm>
            <a:off x="731520" y="3886200"/>
            <a:ext cx="365760" cy="365760"/>
          </a:xfrm>
          <a:prstGeom prst="ellipse">
            <a:avLst/>
          </a:prstGeom>
          <a:solidFill>
            <a:srgbClr val="028090"/>
          </a:solidFill>
          <a:ln/>
        </p:spPr>
        <p:txBody>
          <a:bodyPr/>
          <a:lstStyle/>
          <a:p>
            <a:endParaRPr lang="en-US"/>
          </a:p>
        </p:txBody>
      </p:sp>
      <p:sp>
        <p:nvSpPr>
          <p:cNvPr id="10" name="Text 7"/>
          <p:cNvSpPr/>
          <p:nvPr/>
        </p:nvSpPr>
        <p:spPr>
          <a:xfrm>
            <a:off x="731520" y="3886200"/>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2</a:t>
            </a:r>
            <a:endParaRPr lang="en-US" sz="1600" dirty="0"/>
          </a:p>
        </p:txBody>
      </p:sp>
      <p:sp>
        <p:nvSpPr>
          <p:cNvPr id="11" name="Text 8"/>
          <p:cNvSpPr/>
          <p:nvPr/>
        </p:nvSpPr>
        <p:spPr>
          <a:xfrm>
            <a:off x="1280160" y="3840480"/>
            <a:ext cx="3200400" cy="45720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The science is solid and growing</a:t>
            </a:r>
            <a:endParaRPr lang="en-US" sz="1600" dirty="0"/>
          </a:p>
        </p:txBody>
      </p:sp>
      <p:sp>
        <p:nvSpPr>
          <p:cNvPr id="12" name="Text 9"/>
          <p:cNvSpPr/>
          <p:nvPr/>
        </p:nvSpPr>
        <p:spPr>
          <a:xfrm>
            <a:off x="4754880" y="3840480"/>
            <a:ext cx="3840480" cy="457200"/>
          </a:xfrm>
          <a:prstGeom prst="rect">
            <a:avLst/>
          </a:prstGeom>
          <a:noFill/>
          <a:ln/>
        </p:spPr>
        <p:txBody>
          <a:bodyPr wrap="square" lIns="0" tIns="0" rIns="0" bIns="0" rtlCol="0" anchor="ctr"/>
          <a:lstStyle/>
          <a:p>
            <a:pPr marL="0" indent="0">
              <a:buNone/>
            </a:pPr>
            <a:r>
              <a:rPr lang="en-US" sz="1300" dirty="0">
                <a:solidFill>
                  <a:srgbClr val="9AA5B1"/>
                </a:solidFill>
                <a:latin typeface="Calibri" pitchFamily="34" charset="0"/>
                <a:ea typeface="Calibri" pitchFamily="34" charset="-122"/>
                <a:cs typeface="Calibri" pitchFamily="34" charset="-120"/>
              </a:rPr>
              <a:t>Converging evidence from multiple independent groups</a:t>
            </a:r>
            <a:endParaRPr lang="en-US" sz="1300" dirty="0"/>
          </a:p>
        </p:txBody>
      </p:sp>
      <p:sp>
        <p:nvSpPr>
          <p:cNvPr id="13" name="Shape 10"/>
          <p:cNvSpPr/>
          <p:nvPr/>
        </p:nvSpPr>
        <p:spPr>
          <a:xfrm>
            <a:off x="731520" y="4434840"/>
            <a:ext cx="365760" cy="365760"/>
          </a:xfrm>
          <a:prstGeom prst="ellipse">
            <a:avLst/>
          </a:prstGeom>
          <a:solidFill>
            <a:srgbClr val="028090"/>
          </a:solidFill>
          <a:ln/>
        </p:spPr>
        <p:txBody>
          <a:bodyPr/>
          <a:lstStyle/>
          <a:p>
            <a:endParaRPr lang="en-US"/>
          </a:p>
        </p:txBody>
      </p:sp>
      <p:sp>
        <p:nvSpPr>
          <p:cNvPr id="14" name="Text 11"/>
          <p:cNvSpPr/>
          <p:nvPr/>
        </p:nvSpPr>
        <p:spPr>
          <a:xfrm>
            <a:off x="731520" y="4434840"/>
            <a:ext cx="3657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3</a:t>
            </a:r>
            <a:endParaRPr lang="en-US" sz="1600" dirty="0"/>
          </a:p>
        </p:txBody>
      </p:sp>
      <p:sp>
        <p:nvSpPr>
          <p:cNvPr id="15" name="Text 12"/>
          <p:cNvSpPr/>
          <p:nvPr/>
        </p:nvSpPr>
        <p:spPr>
          <a:xfrm>
            <a:off x="1280160" y="4389120"/>
            <a:ext cx="3200400" cy="45720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Humans remain in control</a:t>
            </a:r>
            <a:endParaRPr lang="en-US" sz="1600" dirty="0"/>
          </a:p>
        </p:txBody>
      </p:sp>
      <p:sp>
        <p:nvSpPr>
          <p:cNvPr id="16" name="Text 13"/>
          <p:cNvSpPr/>
          <p:nvPr/>
        </p:nvSpPr>
        <p:spPr>
          <a:xfrm>
            <a:off x="4754880" y="4389120"/>
            <a:ext cx="3840480" cy="457200"/>
          </a:xfrm>
          <a:prstGeom prst="rect">
            <a:avLst/>
          </a:prstGeom>
          <a:noFill/>
          <a:ln/>
        </p:spPr>
        <p:txBody>
          <a:bodyPr wrap="square" lIns="0" tIns="0" rIns="0" bIns="0" rtlCol="0" anchor="ctr"/>
          <a:lstStyle/>
          <a:p>
            <a:pPr marL="0" indent="0">
              <a:buNone/>
            </a:pPr>
            <a:r>
              <a:rPr lang="en-US" sz="1300" dirty="0">
                <a:solidFill>
                  <a:srgbClr val="9AA5B1"/>
                </a:solidFill>
                <a:latin typeface="Calibri" pitchFamily="34" charset="0"/>
                <a:ea typeface="Calibri" pitchFamily="34" charset="-122"/>
                <a:cs typeface="Calibri" pitchFamily="34" charset="-120"/>
              </a:rPr>
              <a:t>Every decision overridable, every output auditable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bg>
      <p:bgPr>
        <a:solidFill>
          <a:srgbClr val="1B2838"/>
        </a:solidFill>
        <a:effectLst/>
      </p:bgPr>
    </p:bg>
    <p:spTree>
      <p:nvGrpSpPr>
        <p:cNvPr id="1" name=""/>
        <p:cNvGrpSpPr/>
        <p:nvPr/>
      </p:nvGrpSpPr>
      <p:grpSpPr>
        <a:xfrm>
          <a:off x="0" y="0"/>
          <a:ext cx="0" cy="0"/>
          <a:chOff x="0" y="0"/>
          <a:chExt cx="0" cy="0"/>
        </a:xfrm>
      </p:grpSpPr>
      <p:sp>
        <p:nvSpPr>
          <p:cNvPr id="3" name="Text 0"/>
          <p:cNvSpPr/>
          <p:nvPr/>
        </p:nvSpPr>
        <p:spPr>
          <a:xfrm>
            <a:off x="731520" y="274320"/>
            <a:ext cx="4572000" cy="54864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Thank You — Questions?</a:t>
            </a:r>
            <a:endParaRPr lang="en-US" sz="3000" dirty="0"/>
          </a:p>
        </p:txBody>
      </p:sp>
      <p:sp>
        <p:nvSpPr>
          <p:cNvPr id="4" name="Shape 1"/>
          <p:cNvSpPr/>
          <p:nvPr/>
        </p:nvSpPr>
        <p:spPr>
          <a:xfrm>
            <a:off x="6400800" y="274320"/>
            <a:ext cx="2194560" cy="2194560"/>
          </a:xfrm>
          <a:prstGeom prst="rect">
            <a:avLst/>
          </a:prstGeom>
          <a:solidFill>
            <a:srgbClr val="FFFFFF"/>
          </a:solidFill>
          <a:ln/>
        </p:spPr>
        <p:txBody>
          <a:bodyPr/>
          <a:lstStyle/>
          <a:p>
            <a:endParaRPr lang="en-US"/>
          </a:p>
        </p:txBody>
      </p:sp>
      <p:sp>
        <p:nvSpPr>
          <p:cNvPr id="5" name="Text 2"/>
          <p:cNvSpPr/>
          <p:nvPr/>
        </p:nvSpPr>
        <p:spPr>
          <a:xfrm>
            <a:off x="6400800" y="274320"/>
            <a:ext cx="2194560" cy="2194560"/>
          </a:xfrm>
          <a:prstGeom prst="rect">
            <a:avLst/>
          </a:prstGeom>
          <a:noFill/>
          <a:ln/>
        </p:spPr>
        <p:txBody>
          <a:bodyPr wrap="square" rtlCol="0" anchor="ctr"/>
          <a:lstStyle/>
          <a:p>
            <a:pPr marL="0" indent="0" algn="ctr">
              <a:buNone/>
            </a:pPr>
            <a:endParaRPr lang="en-US" sz="1400" dirty="0"/>
          </a:p>
        </p:txBody>
      </p:sp>
      <p:pic>
        <p:nvPicPr>
          <p:cNvPr id="6" name="Image 0" descr="preencoded.png"/>
          <p:cNvPicPr>
            <a:picLocks noChangeAspect="1"/>
          </p:cNvPicPr>
          <p:nvPr/>
        </p:nvPicPr>
        <p:blipFill>
          <a:blip r:embed="rId3"/>
          <a:stretch>
            <a:fillRect/>
          </a:stretch>
        </p:blipFill>
        <p:spPr>
          <a:xfrm>
            <a:off x="731520" y="1005840"/>
            <a:ext cx="274320" cy="274320"/>
          </a:xfrm>
          <a:prstGeom prst="rect">
            <a:avLst/>
          </a:prstGeom>
        </p:spPr>
      </p:pic>
      <p:sp>
        <p:nvSpPr>
          <p:cNvPr id="7" name="Text 3"/>
          <p:cNvSpPr/>
          <p:nvPr/>
        </p:nvSpPr>
        <p:spPr>
          <a:xfrm>
            <a:off x="1097280" y="1005840"/>
            <a:ext cx="4572000" cy="274320"/>
          </a:xfrm>
          <a:prstGeom prst="rect">
            <a:avLst/>
          </a:prstGeom>
          <a:noFill/>
          <a:ln/>
        </p:spPr>
        <p:txBody>
          <a:bodyPr wrap="square" lIns="0" tIns="0" rIns="0" bIns="0" rtlCol="0" anchor="ctr"/>
          <a:lstStyle/>
          <a:p>
            <a:pPr marL="0" indent="0">
              <a:buNone/>
            </a:pPr>
            <a:r>
              <a:rPr lang="en-US" sz="1000" dirty="0">
                <a:solidFill>
                  <a:srgbClr val="00A896"/>
                </a:solidFill>
                <a:latin typeface="Calibri" pitchFamily="34" charset="0"/>
                <a:ea typeface="Calibri" pitchFamily="34" charset="-122"/>
                <a:cs typeface="Calibri" pitchFamily="34" charset="-120"/>
              </a:rPr>
              <a:t>github.com/tariq-shaban/Automated-Psychometric-Scale-Development-Pipeline</a:t>
            </a:r>
            <a:endParaRPr lang="en-US" sz="1000" dirty="0"/>
          </a:p>
        </p:txBody>
      </p:sp>
      <p:sp>
        <p:nvSpPr>
          <p:cNvPr id="8" name="Text 4"/>
          <p:cNvSpPr/>
          <p:nvPr/>
        </p:nvSpPr>
        <p:spPr>
          <a:xfrm>
            <a:off x="731520" y="1554480"/>
            <a:ext cx="4572000" cy="274320"/>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Tariq Shaban — Inubilum Ltd</a:t>
            </a:r>
            <a:endParaRPr lang="en-US" sz="1300" dirty="0"/>
          </a:p>
        </p:txBody>
      </p:sp>
      <p:sp>
        <p:nvSpPr>
          <p:cNvPr id="9" name="Text 5"/>
          <p:cNvSpPr/>
          <p:nvPr/>
        </p:nvSpPr>
        <p:spPr>
          <a:xfrm>
            <a:off x="731520" y="1828800"/>
            <a:ext cx="4572000" cy="228600"/>
          </a:xfrm>
          <a:prstGeom prst="rect">
            <a:avLst/>
          </a:prstGeom>
          <a:noFill/>
          <a:ln/>
        </p:spPr>
        <p:txBody>
          <a:bodyPr wrap="square" lIns="0" tIns="0" rIns="0" bIns="0" rtlCol="0" anchor="ctr"/>
          <a:lstStyle/>
          <a:p>
            <a:pPr marL="0" indent="0">
              <a:buNone/>
            </a:pPr>
            <a:r>
              <a:rPr lang="en-US" sz="1000" dirty="0">
                <a:solidFill>
                  <a:srgbClr val="9AA5B1"/>
                </a:solidFill>
                <a:latin typeface="Calibri" pitchFamily="34" charset="0"/>
                <a:ea typeface="Calibri" pitchFamily="34" charset="-122"/>
                <a:cs typeface="Calibri" pitchFamily="34" charset="-120"/>
              </a:rPr>
              <a:t>tariq@inubilum.io  •  linkedin.com/in/tariq-shaban-0090ba2/</a:t>
            </a:r>
            <a:endParaRPr lang="en-US" sz="1000" dirty="0"/>
          </a:p>
        </p:txBody>
      </p:sp>
      <p:sp>
        <p:nvSpPr>
          <p:cNvPr id="10" name="Text 6"/>
          <p:cNvSpPr/>
          <p:nvPr/>
        </p:nvSpPr>
        <p:spPr>
          <a:xfrm>
            <a:off x="731520" y="2240280"/>
            <a:ext cx="4572000" cy="274320"/>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Dr. Philseok Lee — George Mason University</a:t>
            </a:r>
            <a:endParaRPr lang="en-US" sz="1300" dirty="0"/>
          </a:p>
        </p:txBody>
      </p:sp>
      <p:sp>
        <p:nvSpPr>
          <p:cNvPr id="11" name="Text 7"/>
          <p:cNvSpPr/>
          <p:nvPr/>
        </p:nvSpPr>
        <p:spPr>
          <a:xfrm>
            <a:off x="731520" y="2514600"/>
            <a:ext cx="4572000" cy="228600"/>
          </a:xfrm>
          <a:prstGeom prst="rect">
            <a:avLst/>
          </a:prstGeom>
          <a:noFill/>
          <a:ln/>
        </p:spPr>
        <p:txBody>
          <a:bodyPr wrap="square" lIns="0" tIns="0" rIns="0" bIns="0" rtlCol="0" anchor="ctr"/>
          <a:lstStyle/>
          <a:p>
            <a:pPr marL="0" indent="0">
              <a:buNone/>
            </a:pPr>
            <a:r>
              <a:rPr lang="en-US" sz="1000" dirty="0">
                <a:solidFill>
                  <a:srgbClr val="9AA5B1"/>
                </a:solidFill>
                <a:latin typeface="Calibri" pitchFamily="34" charset="0"/>
                <a:ea typeface="Calibri" pitchFamily="34" charset="-122"/>
                <a:cs typeface="Calibri" pitchFamily="34" charset="-120"/>
              </a:rPr>
              <a:t>plee27@gmu.edu</a:t>
            </a:r>
            <a:endParaRPr lang="en-US" sz="1000" dirty="0"/>
          </a:p>
        </p:txBody>
      </p:sp>
      <p:sp>
        <p:nvSpPr>
          <p:cNvPr id="12" name="Shape 8"/>
          <p:cNvSpPr/>
          <p:nvPr/>
        </p:nvSpPr>
        <p:spPr>
          <a:xfrm>
            <a:off x="548640" y="2926080"/>
            <a:ext cx="8046720" cy="36576"/>
          </a:xfrm>
          <a:prstGeom prst="rect">
            <a:avLst/>
          </a:prstGeom>
          <a:solidFill>
            <a:srgbClr val="028090"/>
          </a:solidFill>
          <a:ln/>
        </p:spPr>
        <p:txBody>
          <a:bodyPr/>
          <a:lstStyle/>
          <a:p>
            <a:endParaRPr lang="en-US"/>
          </a:p>
        </p:txBody>
      </p:sp>
      <p:sp>
        <p:nvSpPr>
          <p:cNvPr id="13" name="Text 9"/>
          <p:cNvSpPr/>
          <p:nvPr/>
        </p:nvSpPr>
        <p:spPr>
          <a:xfrm>
            <a:off x="731520" y="3108960"/>
            <a:ext cx="7315200" cy="274320"/>
          </a:xfrm>
          <a:prstGeom prst="rect">
            <a:avLst/>
          </a:prstGeom>
          <a:noFill/>
          <a:ln/>
        </p:spPr>
        <p:txBody>
          <a:bodyPr wrap="square" lIns="0" tIns="0" rIns="0" bIns="0" rtlCol="0" anchor="ctr"/>
          <a:lstStyle/>
          <a:p>
            <a:pPr marL="0" indent="0">
              <a:buNone/>
            </a:pPr>
            <a:r>
              <a:rPr lang="en-US" sz="1200" b="1" dirty="0">
                <a:solidFill>
                  <a:srgbClr val="00A896"/>
                </a:solidFill>
                <a:latin typeface="Trebuchet MS" pitchFamily="34" charset="0"/>
                <a:ea typeface="Trebuchet MS" pitchFamily="34" charset="-122"/>
                <a:cs typeface="Trebuchet MS" pitchFamily="34" charset="-120"/>
              </a:rPr>
              <a:t>Tariq's Other SIOP 2026 Sessions:</a:t>
            </a:r>
            <a:endParaRPr lang="en-US" sz="1200" dirty="0"/>
          </a:p>
        </p:txBody>
      </p:sp>
      <p:sp>
        <p:nvSpPr>
          <p:cNvPr id="14" name="Text 10"/>
          <p:cNvSpPr/>
          <p:nvPr/>
        </p:nvSpPr>
        <p:spPr>
          <a:xfrm>
            <a:off x="731520" y="3429000"/>
            <a:ext cx="914400" cy="365760"/>
          </a:xfrm>
          <a:prstGeom prst="rect">
            <a:avLst/>
          </a:prstGeom>
          <a:noFill/>
          <a:ln/>
        </p:spPr>
        <p:txBody>
          <a:bodyPr wrap="square" lIns="0" tIns="0" rIns="0" bIns="0" rtlCol="0" anchor="ctr"/>
          <a:lstStyle/>
          <a:p>
            <a:pPr marL="0" indent="0">
              <a:buNone/>
            </a:pPr>
            <a:r>
              <a:rPr lang="en-US" sz="900" b="1" dirty="0">
                <a:solidFill>
                  <a:srgbClr val="028090"/>
                </a:solidFill>
                <a:latin typeface="Trebuchet MS" pitchFamily="34" charset="0"/>
                <a:ea typeface="Trebuchet MS" pitchFamily="34" charset="-122"/>
                <a:cs typeface="Trebuchet MS" pitchFamily="34" charset="-120"/>
              </a:rPr>
              <a:t>Session 41</a:t>
            </a:r>
            <a:endParaRPr lang="en-US" sz="900" dirty="0"/>
          </a:p>
        </p:txBody>
      </p:sp>
      <p:sp>
        <p:nvSpPr>
          <p:cNvPr id="15" name="Text 11"/>
          <p:cNvSpPr/>
          <p:nvPr/>
        </p:nvSpPr>
        <p:spPr>
          <a:xfrm>
            <a:off x="1737360" y="3429000"/>
            <a:ext cx="4114800" cy="3657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Novel Applications of LLM in Organizational Measurement</a:t>
            </a:r>
            <a:endParaRPr lang="en-US" sz="1100" dirty="0"/>
          </a:p>
        </p:txBody>
      </p:sp>
      <p:sp>
        <p:nvSpPr>
          <p:cNvPr id="16" name="Text 12"/>
          <p:cNvSpPr/>
          <p:nvPr/>
        </p:nvSpPr>
        <p:spPr>
          <a:xfrm>
            <a:off x="5943600" y="3429000"/>
            <a:ext cx="2743200" cy="36576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Apr 30, 5:00–5:50 PM  •  R8</a:t>
            </a:r>
            <a:endParaRPr lang="en-US" sz="900" dirty="0"/>
          </a:p>
        </p:txBody>
      </p:sp>
      <p:sp>
        <p:nvSpPr>
          <p:cNvPr id="17" name="Text 13"/>
          <p:cNvSpPr/>
          <p:nvPr/>
        </p:nvSpPr>
        <p:spPr>
          <a:xfrm>
            <a:off x="731520" y="3931920"/>
            <a:ext cx="914400" cy="365760"/>
          </a:xfrm>
          <a:prstGeom prst="rect">
            <a:avLst/>
          </a:prstGeom>
          <a:noFill/>
          <a:ln/>
        </p:spPr>
        <p:txBody>
          <a:bodyPr wrap="square" lIns="0" tIns="0" rIns="0" bIns="0" rtlCol="0" anchor="ctr"/>
          <a:lstStyle/>
          <a:p>
            <a:pPr marL="0" indent="0">
              <a:buNone/>
            </a:pPr>
            <a:r>
              <a:rPr lang="en-US" sz="900" b="1" dirty="0">
                <a:solidFill>
                  <a:srgbClr val="028090"/>
                </a:solidFill>
                <a:latin typeface="Trebuchet MS" pitchFamily="34" charset="0"/>
                <a:ea typeface="Trebuchet MS" pitchFamily="34" charset="-122"/>
                <a:cs typeface="Trebuchet MS" pitchFamily="34" charset="-120"/>
              </a:rPr>
              <a:t>Session 848</a:t>
            </a:r>
            <a:endParaRPr lang="en-US" sz="900" dirty="0"/>
          </a:p>
        </p:txBody>
      </p:sp>
      <p:sp>
        <p:nvSpPr>
          <p:cNvPr id="18" name="Text 14"/>
          <p:cNvSpPr/>
          <p:nvPr/>
        </p:nvSpPr>
        <p:spPr>
          <a:xfrm>
            <a:off x="1737360" y="3931920"/>
            <a:ext cx="4114800" cy="3657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Protecting Assessment Integrity in the AI Era</a:t>
            </a:r>
            <a:endParaRPr lang="en-US" sz="1100" dirty="0"/>
          </a:p>
        </p:txBody>
      </p:sp>
      <p:sp>
        <p:nvSpPr>
          <p:cNvPr id="19" name="Text 15"/>
          <p:cNvSpPr/>
          <p:nvPr/>
        </p:nvSpPr>
        <p:spPr>
          <a:xfrm>
            <a:off x="5943600" y="3931920"/>
            <a:ext cx="2743200" cy="36576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May 2, 8:00–9:20 AM  •  R9</a:t>
            </a:r>
            <a:endParaRPr lang="en-US" sz="900" dirty="0"/>
          </a:p>
        </p:txBody>
      </p:sp>
      <p:sp>
        <p:nvSpPr>
          <p:cNvPr id="20" name="Text 16"/>
          <p:cNvSpPr/>
          <p:nvPr/>
        </p:nvSpPr>
        <p:spPr>
          <a:xfrm>
            <a:off x="731520" y="4434840"/>
            <a:ext cx="914400" cy="365760"/>
          </a:xfrm>
          <a:prstGeom prst="rect">
            <a:avLst/>
          </a:prstGeom>
          <a:noFill/>
          <a:ln/>
        </p:spPr>
        <p:txBody>
          <a:bodyPr wrap="square" lIns="0" tIns="0" rIns="0" bIns="0" rtlCol="0" anchor="ctr"/>
          <a:lstStyle/>
          <a:p>
            <a:pPr marL="0" indent="0">
              <a:buNone/>
            </a:pPr>
            <a:r>
              <a:rPr lang="en-US" sz="900" b="1" dirty="0">
                <a:solidFill>
                  <a:srgbClr val="028090"/>
                </a:solidFill>
                <a:latin typeface="Trebuchet MS" pitchFamily="34" charset="0"/>
                <a:ea typeface="Trebuchet MS" pitchFamily="34" charset="-122"/>
                <a:cs typeface="Trebuchet MS" pitchFamily="34" charset="-120"/>
              </a:rPr>
              <a:t>Session 961</a:t>
            </a:r>
            <a:endParaRPr lang="en-US" sz="900" dirty="0"/>
          </a:p>
        </p:txBody>
      </p:sp>
      <p:sp>
        <p:nvSpPr>
          <p:cNvPr id="21" name="Text 17"/>
          <p:cNvSpPr/>
          <p:nvPr/>
        </p:nvSpPr>
        <p:spPr>
          <a:xfrm>
            <a:off x="1737360" y="4434840"/>
            <a:ext cx="4114800" cy="36576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AI, Fairness, and the Future of Personality Testing</a:t>
            </a:r>
            <a:endParaRPr lang="en-US" sz="1100" dirty="0"/>
          </a:p>
        </p:txBody>
      </p:sp>
      <p:sp>
        <p:nvSpPr>
          <p:cNvPr id="22" name="Text 18"/>
          <p:cNvSpPr/>
          <p:nvPr/>
        </p:nvSpPr>
        <p:spPr>
          <a:xfrm>
            <a:off x="5943600" y="4434840"/>
            <a:ext cx="2743200" cy="36576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May 2, 3:00–3:50 PM  •  208/209/210</a:t>
            </a:r>
            <a:endParaRPr lang="en-US" sz="900" dirty="0"/>
          </a:p>
        </p:txBody>
      </p:sp>
      <p:pic>
        <p:nvPicPr>
          <p:cNvPr id="23" name="Picture 22">
            <a:extLst>
              <a:ext uri="{FF2B5EF4-FFF2-40B4-BE49-F238E27FC236}">
                <a16:creationId xmlns:a16="http://schemas.microsoft.com/office/drawing/2014/main" id="{5AC14ADF-0A89-A1AC-2F35-3298753B6D6D}"/>
              </a:ext>
            </a:extLst>
          </p:cNvPr>
          <p:cNvPicPr>
            <a:picLocks noChangeAspect="1"/>
          </p:cNvPicPr>
          <p:nvPr/>
        </p:nvPicPr>
        <p:blipFill>
          <a:blip r:embed="rId4">
            <a:duotone>
              <a:schemeClr val="accent1">
                <a:shade val="45000"/>
                <a:satMod val="135000"/>
              </a:schemeClr>
              <a:prstClr val="white"/>
            </a:duotone>
          </a:blip>
          <a:stretch>
            <a:fillRect/>
          </a:stretch>
        </p:blipFill>
        <p:spPr>
          <a:xfrm>
            <a:off x="6437247" y="299466"/>
            <a:ext cx="2111441" cy="211892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TotalTime>
  <Words>5561</Words>
  <Application>Microsoft Office PowerPoint</Application>
  <PresentationFormat>On-screen Show (16:9)</PresentationFormat>
  <Paragraphs>449</Paragraphs>
  <Slides>31</Slides>
  <Notes>31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AI-Driven Assessment Development: Automating Item Generation, Fairness, &amp; Validation</dc:title>
  <dc:subject>PptxGenJS Presentation</dc:subject>
  <dc:creator>Tariq Shaban &amp; Dr. Philseok Lee</dc:creator>
  <cp:lastModifiedBy>Tariq Shaban</cp:lastModifiedBy>
  <cp:revision>1</cp:revision>
  <dcterms:created xsi:type="dcterms:W3CDTF">2026-03-22T17:56:36Z</dcterms:created>
  <dcterms:modified xsi:type="dcterms:W3CDTF">2026-03-22T19:31:58Z</dcterms:modified>
</cp:coreProperties>
</file>